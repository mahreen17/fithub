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</p:sldIdLst>
  <p:sldSz cx="10058400" cy="7772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24" y="372"/>
      </p:cViewPr>
      <p:guideLst>
        <p:guide orient="horz" pos="2225"/>
        <p:guide pos="2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1" y="5286033"/>
            <a:ext cx="10066198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54380" y="1986282"/>
            <a:ext cx="8549640" cy="2073729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54380" y="4093155"/>
            <a:ext cx="8549640" cy="1359665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4141" y="5613400"/>
            <a:ext cx="10062541" cy="2167033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14" y="1201007"/>
            <a:ext cx="8549640" cy="207264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4984" y="3322607"/>
            <a:ext cx="5029200" cy="1648873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000348" y="3406202"/>
            <a:ext cx="201168" cy="25908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795290" y="3406202"/>
            <a:ext cx="201168" cy="25908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78839"/>
            <a:ext cx="4442460" cy="512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678839"/>
            <a:ext cx="4442460" cy="512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09456"/>
            <a:ext cx="9052560" cy="12954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6131560"/>
            <a:ext cx="4444207" cy="8636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109529" y="6131560"/>
            <a:ext cx="4445953" cy="8636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2920" y="1636867"/>
            <a:ext cx="4444207" cy="4467331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29" y="1636867"/>
            <a:ext cx="4445953" cy="4467331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5527040"/>
            <a:ext cx="8229954" cy="51816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861561" y="6069116"/>
            <a:ext cx="4372051" cy="103632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05841" y="310896"/>
            <a:ext cx="8227771" cy="518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9735" y="7262337"/>
            <a:ext cx="2112264" cy="414528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5355" y="6169189"/>
            <a:ext cx="7879080" cy="734663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1460" y="215297"/>
            <a:ext cx="9555480" cy="497433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18081" y="7262337"/>
            <a:ext cx="2585749" cy="413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1" y="5513805"/>
            <a:ext cx="8882975" cy="637695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49200" y="6737595"/>
            <a:ext cx="5434686" cy="104388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534290" y="6730879"/>
            <a:ext cx="4059496" cy="105791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646" y="6563421"/>
            <a:ext cx="3742546" cy="1224984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0159" y="6559437"/>
            <a:ext cx="3746060" cy="122896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9530523" y="5653566"/>
            <a:ext cx="201168" cy="25908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9325466" y="5653566"/>
            <a:ext cx="201168" cy="25908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678841"/>
            <a:ext cx="9052560" cy="497088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8414" y="311259"/>
            <a:ext cx="1955218" cy="6338462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11260"/>
            <a:ext cx="6957060" cy="633846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49200" y="6737595"/>
            <a:ext cx="5434686" cy="104388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34290" y="6730879"/>
            <a:ext cx="4059496" cy="105791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646" y="6563421"/>
            <a:ext cx="3742546" cy="1224984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0159" y="6559437"/>
            <a:ext cx="3746060" cy="122896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502920" y="311256"/>
            <a:ext cx="9052560" cy="12954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502920" y="1678839"/>
            <a:ext cx="9052560" cy="5129425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7399735" y="7262337"/>
            <a:ext cx="2112264" cy="414528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6/21/2024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818081" y="7262337"/>
            <a:ext cx="2585749" cy="413809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9511999" y="7262337"/>
            <a:ext cx="402336" cy="413809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18" Type="http://schemas.openxmlformats.org/officeDocument/2006/relationships/image" Target="../media/image19.emf"/><Relationship Id="rId26" Type="http://schemas.openxmlformats.org/officeDocument/2006/relationships/image" Target="../media/image27.emf"/><Relationship Id="rId3" Type="http://schemas.openxmlformats.org/officeDocument/2006/relationships/image" Target="../media/image4.emf"/><Relationship Id="rId21" Type="http://schemas.openxmlformats.org/officeDocument/2006/relationships/image" Target="../media/image22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17" Type="http://schemas.openxmlformats.org/officeDocument/2006/relationships/image" Target="../media/image18.emf"/><Relationship Id="rId25" Type="http://schemas.openxmlformats.org/officeDocument/2006/relationships/image" Target="../media/image26.emf"/><Relationship Id="rId33" Type="http://schemas.openxmlformats.org/officeDocument/2006/relationships/image" Target="../media/image34.emf"/><Relationship Id="rId2" Type="http://schemas.openxmlformats.org/officeDocument/2006/relationships/image" Target="../media/image3.emf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29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24" Type="http://schemas.openxmlformats.org/officeDocument/2006/relationships/image" Target="../media/image25.emf"/><Relationship Id="rId32" Type="http://schemas.openxmlformats.org/officeDocument/2006/relationships/image" Target="../media/image33.emf"/><Relationship Id="rId5" Type="http://schemas.openxmlformats.org/officeDocument/2006/relationships/image" Target="../media/image6.emf"/><Relationship Id="rId15" Type="http://schemas.openxmlformats.org/officeDocument/2006/relationships/image" Target="../media/image16.emf"/><Relationship Id="rId23" Type="http://schemas.openxmlformats.org/officeDocument/2006/relationships/image" Target="../media/image24.emf"/><Relationship Id="rId28" Type="http://schemas.openxmlformats.org/officeDocument/2006/relationships/image" Target="../media/image29.emf"/><Relationship Id="rId10" Type="http://schemas.openxmlformats.org/officeDocument/2006/relationships/image" Target="../media/image11.emf"/><Relationship Id="rId19" Type="http://schemas.openxmlformats.org/officeDocument/2006/relationships/image" Target="../media/image20.emf"/><Relationship Id="rId31" Type="http://schemas.openxmlformats.org/officeDocument/2006/relationships/image" Target="../media/image32.emf"/><Relationship Id="rId4" Type="http://schemas.openxmlformats.org/officeDocument/2006/relationships/image" Target="../media/image5.emf"/><Relationship Id="rId9" Type="http://schemas.openxmlformats.org/officeDocument/2006/relationships/image" Target="../media/image10.emf"/><Relationship Id="rId14" Type="http://schemas.openxmlformats.org/officeDocument/2006/relationships/image" Target="../media/image15.emf"/><Relationship Id="rId22" Type="http://schemas.openxmlformats.org/officeDocument/2006/relationships/image" Target="../media/image23.emf"/><Relationship Id="rId27" Type="http://schemas.openxmlformats.org/officeDocument/2006/relationships/image" Target="../media/image28.emf"/><Relationship Id="rId30" Type="http://schemas.openxmlformats.org/officeDocument/2006/relationships/image" Target="../media/image31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274" y="3447510"/>
            <a:ext cx="7011296" cy="899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marR="5080" indent="-370840">
              <a:lnSpc>
                <a:spcPct val="1435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IMAGE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PROCESSING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VISION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FOR LANE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1016104"/>
            <a:ext cx="7723766" cy="2494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605"/>
              </a:spcBef>
            </a:pPr>
            <a:r>
              <a:rPr sz="1200" spc="-5" dirty="0">
                <a:latin typeface="Times New Roman"/>
                <a:cs typeface="Times New Roman"/>
              </a:rPr>
              <a:t>There is always </a:t>
            </a:r>
            <a:r>
              <a:rPr sz="1200" dirty="0">
                <a:latin typeface="Times New Roman"/>
                <a:cs typeface="Times New Roman"/>
              </a:rPr>
              <a:t>a huge </a:t>
            </a:r>
            <a:r>
              <a:rPr sz="1200" spc="-5" dirty="0">
                <a:latin typeface="Times New Roman"/>
                <a:cs typeface="Times New Roman"/>
              </a:rPr>
              <a:t>demand </a:t>
            </a:r>
            <a:r>
              <a:rPr sz="1200" dirty="0">
                <a:latin typeface="Times New Roman"/>
                <a:cs typeface="Times New Roman"/>
              </a:rPr>
              <a:t>for the </a:t>
            </a:r>
            <a:r>
              <a:rPr sz="1200" spc="-5" dirty="0">
                <a:latin typeface="Times New Roman"/>
                <a:cs typeface="Times New Roman"/>
              </a:rPr>
              <a:t>development </a:t>
            </a:r>
            <a:r>
              <a:rPr sz="1200" dirty="0">
                <a:latin typeface="Times New Roman"/>
                <a:cs typeface="Times New Roman"/>
              </a:rPr>
              <a:t>of the self-driving </a:t>
            </a:r>
            <a:r>
              <a:rPr sz="1200" spc="-5" dirty="0">
                <a:latin typeface="Times New Roman"/>
                <a:cs typeface="Times New Roman"/>
              </a:rPr>
              <a:t>cars </a:t>
            </a:r>
            <a:r>
              <a:rPr sz="1200" dirty="0">
                <a:latin typeface="Times New Roman"/>
                <a:cs typeface="Times New Roman"/>
              </a:rPr>
              <a:t>since </a:t>
            </a:r>
            <a:r>
              <a:rPr sz="1200" spc="5" dirty="0">
                <a:latin typeface="Times New Roman"/>
                <a:cs typeface="Times New Roman"/>
              </a:rPr>
              <a:t>they </a:t>
            </a:r>
            <a:r>
              <a:rPr sz="1200" dirty="0">
                <a:latin typeface="Times New Roman"/>
                <a:cs typeface="Times New Roman"/>
              </a:rPr>
              <a:t>are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future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autonomous vehicles. </a:t>
            </a:r>
            <a:r>
              <a:rPr sz="1200" spc="-1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field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autonomous vehicles, problems </a:t>
            </a:r>
            <a:r>
              <a:rPr sz="1200" dirty="0">
                <a:latin typeface="Times New Roman"/>
                <a:cs typeface="Times New Roman"/>
              </a:rPr>
              <a:t>still </a:t>
            </a:r>
            <a:r>
              <a:rPr sz="1200" spc="-5" dirty="0">
                <a:latin typeface="Times New Roman"/>
                <a:cs typeface="Times New Roman"/>
              </a:rPr>
              <a:t>remains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unsolved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when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occurs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any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obstacle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driving.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Self-driving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cars,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 detection is considered </a:t>
            </a:r>
            <a:r>
              <a:rPr sz="1200" dirty="0">
                <a:latin typeface="Times New Roman"/>
                <a:cs typeface="Times New Roman"/>
              </a:rPr>
              <a:t>to be the most </a:t>
            </a:r>
            <a:r>
              <a:rPr sz="1200" spc="-5" dirty="0">
                <a:latin typeface="Times New Roman"/>
                <a:cs typeface="Times New Roman"/>
              </a:rPr>
              <a:t>important part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reducing </a:t>
            </a:r>
            <a:r>
              <a:rPr sz="1200" dirty="0">
                <a:latin typeface="Times New Roman"/>
                <a:cs typeface="Times New Roman"/>
              </a:rPr>
              <a:t>the number of </a:t>
            </a:r>
            <a:r>
              <a:rPr sz="1200" spc="-5" dirty="0">
                <a:latin typeface="Times New Roman"/>
                <a:cs typeface="Times New Roman"/>
              </a:rPr>
              <a:t>accidents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risks. </a:t>
            </a:r>
            <a:r>
              <a:rPr sz="1200" spc="-1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paper we have discovered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methodologies </a:t>
            </a:r>
            <a:r>
              <a:rPr sz="1200" dirty="0">
                <a:latin typeface="Times New Roman"/>
                <a:cs typeface="Times New Roman"/>
              </a:rPr>
              <a:t>existing in the lane </a:t>
            </a:r>
            <a:r>
              <a:rPr sz="1200" spc="-5" dirty="0">
                <a:latin typeface="Times New Roman"/>
                <a:cs typeface="Times New Roman"/>
              </a:rPr>
              <a:t>detection,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advantages and </a:t>
            </a:r>
            <a:r>
              <a:rPr sz="1200" dirty="0">
                <a:latin typeface="Times New Roman"/>
                <a:cs typeface="Times New Roman"/>
              </a:rPr>
              <a:t>disadvantages of models. We have </a:t>
            </a:r>
            <a:r>
              <a:rPr sz="1200" spc="-5" dirty="0">
                <a:latin typeface="Times New Roman"/>
                <a:cs typeface="Times New Roman"/>
              </a:rPr>
              <a:t>proposed </a:t>
            </a:r>
            <a:r>
              <a:rPr sz="1200" dirty="0">
                <a:latin typeface="Times New Roman"/>
                <a:cs typeface="Times New Roman"/>
              </a:rPr>
              <a:t>a model that </a:t>
            </a:r>
            <a:r>
              <a:rPr sz="1200" spc="-5" dirty="0">
                <a:latin typeface="Times New Roman"/>
                <a:cs typeface="Times New Roman"/>
              </a:rPr>
              <a:t>can detect </a:t>
            </a:r>
            <a:r>
              <a:rPr sz="1200" dirty="0">
                <a:latin typeface="Times New Roman"/>
                <a:cs typeface="Times New Roman"/>
              </a:rPr>
              <a:t>lane in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straight roads and </a:t>
            </a:r>
            <a:r>
              <a:rPr sz="1200" dirty="0">
                <a:latin typeface="Times New Roman"/>
                <a:cs typeface="Times New Roman"/>
              </a:rPr>
              <a:t>detect </a:t>
            </a:r>
            <a:r>
              <a:rPr sz="1200" spc="-5" dirty="0">
                <a:latin typeface="Times New Roman"/>
                <a:cs typeface="Times New Roman"/>
              </a:rPr>
              <a:t>vehicle </a:t>
            </a:r>
            <a:r>
              <a:rPr sz="1200" dirty="0">
                <a:latin typeface="Times New Roman"/>
                <a:cs typeface="Times New Roman"/>
              </a:rPr>
              <a:t>existing in the </a:t>
            </a:r>
            <a:r>
              <a:rPr sz="1200" spc="-5" dirty="0">
                <a:latin typeface="Times New Roman"/>
                <a:cs typeface="Times New Roman"/>
              </a:rPr>
              <a:t>lane. </a:t>
            </a:r>
            <a:r>
              <a:rPr sz="1200" dirty="0">
                <a:latin typeface="Times New Roman"/>
                <a:cs typeface="Times New Roman"/>
              </a:rPr>
              <a:t>We have </a:t>
            </a:r>
            <a:r>
              <a:rPr sz="1200" spc="-5" dirty="0">
                <a:latin typeface="Times New Roman"/>
                <a:cs typeface="Times New Roman"/>
              </a:rPr>
              <a:t>implemented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deep </a:t>
            </a:r>
            <a:r>
              <a:rPr sz="1200" dirty="0">
                <a:latin typeface="Times New Roman"/>
                <a:cs typeface="Times New Roman"/>
              </a:rPr>
              <a:t>learning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algorithm </a:t>
            </a:r>
            <a:r>
              <a:rPr sz="1200" dirty="0">
                <a:latin typeface="Times New Roman"/>
                <a:cs typeface="Times New Roman"/>
              </a:rPr>
              <a:t>for the </a:t>
            </a:r>
            <a:r>
              <a:rPr sz="1200" spc="-5" dirty="0">
                <a:latin typeface="Times New Roman"/>
                <a:cs typeface="Times New Roman"/>
              </a:rPr>
              <a:t>Vehicle Detection. </a:t>
            </a:r>
            <a:r>
              <a:rPr sz="1200" dirty="0">
                <a:latin typeface="Times New Roman"/>
                <a:cs typeface="Times New Roman"/>
              </a:rPr>
              <a:t>The proposed methodology has been successfully </a:t>
            </a:r>
            <a:r>
              <a:rPr sz="1200" spc="-5" dirty="0">
                <a:latin typeface="Times New Roman"/>
                <a:cs typeface="Times New Roman"/>
              </a:rPr>
              <a:t>applied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dataset,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results </a:t>
            </a:r>
            <a:r>
              <a:rPr sz="1200" dirty="0">
                <a:latin typeface="Times New Roman"/>
                <a:cs typeface="Times New Roman"/>
              </a:rPr>
              <a:t>are </a:t>
            </a:r>
            <a:r>
              <a:rPr sz="1200" spc="-5" dirty="0">
                <a:latin typeface="Times New Roman"/>
                <a:cs typeface="Times New Roman"/>
              </a:rPr>
              <a:t>recorded and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performance metrics </a:t>
            </a:r>
            <a:r>
              <a:rPr sz="1200" dirty="0">
                <a:latin typeface="Times New Roman"/>
                <a:cs typeface="Times New Roman"/>
              </a:rPr>
              <a:t>are tabulated. We have </a:t>
            </a:r>
            <a:r>
              <a:rPr sz="1200" spc="-5" dirty="0">
                <a:latin typeface="Times New Roman"/>
                <a:cs typeface="Times New Roman"/>
              </a:rPr>
              <a:t>also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discussed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future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Lane </a:t>
            </a:r>
            <a:r>
              <a:rPr sz="1200" dirty="0">
                <a:latin typeface="Times New Roman"/>
                <a:cs typeface="Times New Roman"/>
              </a:rPr>
              <a:t>detection.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590977"/>
            <a:ext cx="7728697" cy="6012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0" marR="2065020" indent="-635" algn="ctr">
              <a:lnSpc>
                <a:spcPct val="1438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CHAPTER </a:t>
            </a:r>
            <a:r>
              <a:rPr sz="1800" b="1" dirty="0">
                <a:latin typeface="Times New Roman"/>
                <a:cs typeface="Times New Roman"/>
              </a:rPr>
              <a:t>1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</a:t>
            </a:r>
            <a:r>
              <a:rPr sz="1800" b="1" spc="-15" dirty="0">
                <a:latin typeface="Times New Roman"/>
                <a:cs typeface="Times New Roman"/>
              </a:rPr>
              <a:t>N</a:t>
            </a:r>
            <a:r>
              <a:rPr sz="1800" b="1" spc="-5" dirty="0">
                <a:latin typeface="Times New Roman"/>
                <a:cs typeface="Times New Roman"/>
              </a:rPr>
              <a:t>TRODUCT</a:t>
            </a:r>
            <a:r>
              <a:rPr sz="1800" b="1" dirty="0">
                <a:latin typeface="Times New Roman"/>
                <a:cs typeface="Times New Roman"/>
              </a:rPr>
              <a:t>I</a:t>
            </a:r>
            <a:r>
              <a:rPr sz="1800" b="1" spc="-5" dirty="0">
                <a:latin typeface="Times New Roman"/>
                <a:cs typeface="Times New Roman"/>
              </a:rPr>
              <a:t>ON  </a:t>
            </a:r>
            <a:r>
              <a:rPr sz="1600" b="1" dirty="0">
                <a:latin typeface="Times New Roman"/>
                <a:cs typeface="Times New Roman"/>
              </a:rPr>
              <a:t>1.1GENERAL</a:t>
            </a:r>
            <a:endParaRPr sz="1600">
              <a:latin typeface="Times New Roman"/>
              <a:cs typeface="Times New Roman"/>
            </a:endParaRPr>
          </a:p>
          <a:p>
            <a:pPr marL="12700" marR="5080" indent="190500" algn="just">
              <a:lnSpc>
                <a:spcPct val="143800"/>
              </a:lnSpc>
              <a:spcBef>
                <a:spcPts val="225"/>
              </a:spcBef>
            </a:pPr>
            <a:r>
              <a:rPr sz="1200" spc="-5" dirty="0">
                <a:latin typeface="Times New Roman"/>
                <a:cs typeface="Times New Roman"/>
              </a:rPr>
              <a:t>Conferring </a:t>
            </a:r>
            <a:r>
              <a:rPr sz="1200" dirty="0">
                <a:latin typeface="Times New Roman"/>
                <a:cs typeface="Times New Roman"/>
              </a:rPr>
              <a:t>to information, in </a:t>
            </a:r>
            <a:r>
              <a:rPr sz="1200" spc="-5" dirty="0">
                <a:latin typeface="Times New Roman"/>
                <a:cs typeface="Times New Roman"/>
              </a:rPr>
              <a:t>Great Britain </a:t>
            </a:r>
            <a:r>
              <a:rPr sz="1200" dirty="0">
                <a:latin typeface="Times New Roman"/>
                <a:cs typeface="Times New Roman"/>
              </a:rPr>
              <a:t>about of 70% </a:t>
            </a:r>
            <a:r>
              <a:rPr sz="1200" spc="-5" dirty="0">
                <a:latin typeface="Times New Roman"/>
                <a:cs typeface="Times New Roman"/>
              </a:rPr>
              <a:t>all described road accidents are an </a:t>
            </a:r>
            <a:r>
              <a:rPr sz="1200" dirty="0">
                <a:latin typeface="Times New Roman"/>
                <a:cs typeface="Times New Roman"/>
              </a:rPr>
              <a:t> outcome of </a:t>
            </a:r>
            <a:r>
              <a:rPr sz="1200" spc="-5" dirty="0">
                <a:latin typeface="Times New Roman"/>
                <a:cs typeface="Times New Roman"/>
              </a:rPr>
              <a:t>driver fault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5" dirty="0">
                <a:latin typeface="Times New Roman"/>
                <a:cs typeface="Times New Roman"/>
              </a:rPr>
              <a:t>slow response period. </a:t>
            </a:r>
            <a:r>
              <a:rPr sz="1200" dirty="0">
                <a:latin typeface="Times New Roman"/>
                <a:cs typeface="Times New Roman"/>
              </a:rPr>
              <a:t>Very </a:t>
            </a:r>
            <a:r>
              <a:rPr sz="1200" spc="-5" dirty="0">
                <a:latin typeface="Times New Roman"/>
                <a:cs typeface="Times New Roman"/>
              </a:rPr>
              <a:t>recently, </a:t>
            </a:r>
            <a:r>
              <a:rPr sz="1200" spc="5" dirty="0">
                <a:latin typeface="Times New Roman"/>
                <a:cs typeface="Times New Roman"/>
              </a:rPr>
              <a:t>many </a:t>
            </a:r>
            <a:r>
              <a:rPr sz="1200" spc="-5" dirty="0">
                <a:latin typeface="Times New Roman"/>
                <a:cs typeface="Times New Roman"/>
              </a:rPr>
              <a:t>researchers are </a:t>
            </a:r>
            <a:r>
              <a:rPr sz="1200" dirty="0">
                <a:latin typeface="Times New Roman"/>
                <a:cs typeface="Times New Roman"/>
              </a:rPr>
              <a:t>working </a:t>
            </a:r>
            <a:r>
              <a:rPr sz="1200" spc="5" dirty="0">
                <a:latin typeface="Times New Roman"/>
                <a:cs typeface="Times New Roman"/>
              </a:rPr>
              <a:t>on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intelligent vehicles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reduce </a:t>
            </a:r>
            <a:r>
              <a:rPr sz="1200" dirty="0">
                <a:latin typeface="Times New Roman"/>
                <a:cs typeface="Times New Roman"/>
              </a:rPr>
              <a:t>the road accidents </a:t>
            </a:r>
            <a:r>
              <a:rPr sz="1200" spc="-5" dirty="0">
                <a:latin typeface="Times New Roman"/>
                <a:cs typeface="Times New Roman"/>
              </a:rPr>
              <a:t>and ensure safe driving. </a:t>
            </a:r>
            <a:r>
              <a:rPr sz="1200" dirty="0">
                <a:latin typeface="Times New Roman"/>
                <a:cs typeface="Times New Roman"/>
              </a:rPr>
              <a:t>With the </a:t>
            </a:r>
            <a:r>
              <a:rPr sz="1200" spc="-5" dirty="0">
                <a:latin typeface="Times New Roman"/>
                <a:cs typeface="Times New Roman"/>
              </a:rPr>
              <a:t>advent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technologies, numerous </a:t>
            </a:r>
            <a:r>
              <a:rPr sz="1200" dirty="0">
                <a:latin typeface="Times New Roman"/>
                <a:cs typeface="Times New Roman"/>
              </a:rPr>
              <a:t>techniques have been developed to notify the drivers </a:t>
            </a:r>
            <a:r>
              <a:rPr sz="1200" spc="-5" dirty="0">
                <a:latin typeface="Times New Roman"/>
                <a:cs typeface="Times New Roman"/>
              </a:rPr>
              <a:t>about conceivable </a:t>
            </a:r>
            <a:r>
              <a:rPr sz="1200" dirty="0">
                <a:latin typeface="Times New Roman"/>
                <a:cs typeface="Times New Roman"/>
              </a:rPr>
              <a:t> lane </a:t>
            </a:r>
            <a:r>
              <a:rPr sz="1200" spc="-5" dirty="0">
                <a:latin typeface="Times New Roman"/>
                <a:cs typeface="Times New Roman"/>
              </a:rPr>
              <a:t>departure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5" dirty="0">
                <a:latin typeface="Times New Roman"/>
                <a:cs typeface="Times New Roman"/>
              </a:rPr>
              <a:t>crash,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structure 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locations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additional automobiles </a:t>
            </a:r>
            <a:r>
              <a:rPr sz="1200" spc="15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lanes.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detection </a:t>
            </a:r>
            <a:r>
              <a:rPr sz="1200" dirty="0">
                <a:latin typeface="Times New Roman"/>
                <a:cs typeface="Times New Roman"/>
              </a:rPr>
              <a:t>on the road surface </a:t>
            </a:r>
            <a:r>
              <a:rPr sz="1200" spc="-5" dirty="0">
                <a:latin typeface="Times New Roman"/>
                <a:cs typeface="Times New Roman"/>
              </a:rPr>
              <a:t>has become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5" dirty="0">
                <a:latin typeface="Times New Roman"/>
                <a:cs typeface="Times New Roman"/>
              </a:rPr>
              <a:t>very </a:t>
            </a:r>
            <a:r>
              <a:rPr sz="1200" dirty="0">
                <a:latin typeface="Times New Roman"/>
                <a:cs typeface="Times New Roman"/>
              </a:rPr>
              <a:t>prominent </a:t>
            </a:r>
            <a:r>
              <a:rPr sz="1200" spc="-5" dirty="0">
                <a:latin typeface="Times New Roman"/>
                <a:cs typeface="Times New Roman"/>
              </a:rPr>
              <a:t>issue as </a:t>
            </a:r>
            <a:r>
              <a:rPr sz="120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provides </a:t>
            </a:r>
            <a:r>
              <a:rPr sz="1200" dirty="0">
                <a:latin typeface="Times New Roman"/>
                <a:cs typeface="Times New Roman"/>
              </a:rPr>
              <a:t> noteworthy </a:t>
            </a:r>
            <a:r>
              <a:rPr sz="1200" spc="-5" dirty="0">
                <a:latin typeface="Times New Roman"/>
                <a:cs typeface="Times New Roman"/>
              </a:rPr>
              <a:t>symbols </a:t>
            </a:r>
            <a:r>
              <a:rPr sz="1200" dirty="0">
                <a:latin typeface="Times New Roman"/>
                <a:cs typeface="Times New Roman"/>
              </a:rPr>
              <a:t>in the </a:t>
            </a:r>
            <a:r>
              <a:rPr sz="1200" spc="-5" dirty="0">
                <a:latin typeface="Times New Roman"/>
                <a:cs typeface="Times New Roman"/>
              </a:rPr>
              <a:t>ambient situation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intelligent vehicles. </a:t>
            </a:r>
            <a:r>
              <a:rPr sz="1200" spc="-15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challenging </a:t>
            </a:r>
            <a:r>
              <a:rPr sz="1200" dirty="0">
                <a:latin typeface="Times New Roman"/>
                <a:cs typeface="Times New Roman"/>
              </a:rPr>
              <a:t>task 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the input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become </a:t>
            </a:r>
            <a:r>
              <a:rPr sz="1200" spc="5" dirty="0">
                <a:latin typeface="Times New Roman"/>
                <a:cs typeface="Times New Roman"/>
              </a:rPr>
              <a:t>noisy </a:t>
            </a:r>
            <a:r>
              <a:rPr sz="1200" dirty="0">
                <a:latin typeface="Times New Roman"/>
                <a:cs typeface="Times New Roman"/>
              </a:rPr>
              <a:t>due to the </a:t>
            </a:r>
            <a:r>
              <a:rPr sz="1200" spc="-5" dirty="0">
                <a:latin typeface="Times New Roman"/>
                <a:cs typeface="Times New Roman"/>
              </a:rPr>
              <a:t>variation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environment. </a:t>
            </a: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 </a:t>
            </a:r>
            <a:r>
              <a:rPr sz="1200" spc="-5" dirty="0">
                <a:latin typeface="Times New Roman"/>
                <a:cs typeface="Times New Roman"/>
              </a:rPr>
              <a:t>recent years, </a:t>
            </a:r>
            <a:r>
              <a:rPr sz="1200" spc="5" dirty="0">
                <a:latin typeface="Times New Roman"/>
                <a:cs typeface="Times New Roman"/>
              </a:rPr>
              <a:t>many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researches associated </a:t>
            </a:r>
            <a:r>
              <a:rPr sz="1200" dirty="0">
                <a:latin typeface="Times New Roman"/>
                <a:cs typeface="Times New Roman"/>
              </a:rPr>
              <a:t>with lane </a:t>
            </a:r>
            <a:r>
              <a:rPr sz="1200" spc="-5" dirty="0">
                <a:latin typeface="Times New Roman"/>
                <a:cs typeface="Times New Roman"/>
              </a:rPr>
              <a:t>detection have been developed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use </a:t>
            </a:r>
            <a:r>
              <a:rPr sz="1200" dirty="0">
                <a:latin typeface="Times New Roman"/>
                <a:cs typeface="Times New Roman"/>
              </a:rPr>
              <a:t>of the sensors, </a:t>
            </a:r>
            <a:r>
              <a:rPr sz="1200" spc="-5" dirty="0">
                <a:latin typeface="Times New Roman"/>
                <a:cs typeface="Times New Roman"/>
              </a:rPr>
              <a:t>camera, lidar, </a:t>
            </a:r>
            <a:r>
              <a:rPr sz="1200" dirty="0">
                <a:latin typeface="Times New Roman"/>
                <a:cs typeface="Times New Roman"/>
              </a:rPr>
              <a:t>etc. Clanton </a:t>
            </a:r>
            <a:r>
              <a:rPr sz="1200" spc="-5" dirty="0">
                <a:latin typeface="Times New Roman"/>
                <a:cs typeface="Times New Roman"/>
              </a:rPr>
              <a:t>et al. </a:t>
            </a:r>
            <a:r>
              <a:rPr sz="1200" dirty="0">
                <a:latin typeface="Times New Roman"/>
                <a:cs typeface="Times New Roman"/>
              </a:rPr>
              <a:t>proposed a </a:t>
            </a:r>
            <a:r>
              <a:rPr sz="1200" spc="-5" dirty="0">
                <a:latin typeface="Times New Roman"/>
                <a:cs typeface="Times New Roman"/>
              </a:rPr>
              <a:t>technique </a:t>
            </a:r>
            <a:r>
              <a:rPr sz="1200" dirty="0">
                <a:latin typeface="Times New Roman"/>
                <a:cs typeface="Times New Roman"/>
              </a:rPr>
              <a:t>for multi-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sensor</a:t>
            </a:r>
            <a:r>
              <a:rPr sz="1200" dirty="0">
                <a:latin typeface="Times New Roman"/>
                <a:cs typeface="Times New Roman"/>
              </a:rPr>
              <a:t> lane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departure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warning</a:t>
            </a:r>
            <a:r>
              <a:rPr sz="1200" dirty="0">
                <a:latin typeface="Times New Roman"/>
                <a:cs typeface="Times New Roman"/>
              </a:rPr>
              <a:t> 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roadmap</a:t>
            </a:r>
            <a:r>
              <a:rPr sz="1200" dirty="0">
                <a:latin typeface="Times New Roman"/>
                <a:cs typeface="Times New Roman"/>
              </a:rPr>
              <a:t> with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GPS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receiver</a:t>
            </a:r>
            <a:r>
              <a:rPr sz="1200" dirty="0">
                <a:latin typeface="Times New Roman"/>
                <a:cs typeface="Times New Roman"/>
              </a:rPr>
              <a:t> 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surface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lane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authors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suggested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lidar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monocular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camera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able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detect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real-time </a:t>
            </a:r>
            <a:r>
              <a:rPr sz="1200" spc="-5" dirty="0">
                <a:latin typeface="Times New Roman"/>
                <a:cs typeface="Times New Roman"/>
              </a:rPr>
              <a:t>environment.</a:t>
            </a:r>
            <a:endParaRPr sz="1200">
              <a:latin typeface="Times New Roman"/>
              <a:cs typeface="Times New Roman"/>
            </a:endParaRPr>
          </a:p>
          <a:p>
            <a:pPr marL="12700" marR="7620" indent="19050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lidar </a:t>
            </a:r>
            <a:r>
              <a:rPr sz="1200" dirty="0">
                <a:latin typeface="Times New Roman"/>
                <a:cs typeface="Times New Roman"/>
              </a:rPr>
              <a:t>or sensors obtained the data </a:t>
            </a:r>
            <a:r>
              <a:rPr sz="1200" spc="5" dirty="0">
                <a:latin typeface="Times New Roman"/>
                <a:cs typeface="Times New Roman"/>
              </a:rPr>
              <a:t>directly </a:t>
            </a:r>
            <a:r>
              <a:rPr sz="1200" spc="-5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environment, </a:t>
            </a:r>
            <a:r>
              <a:rPr sz="1200" dirty="0">
                <a:latin typeface="Times New Roman"/>
                <a:cs typeface="Times New Roman"/>
              </a:rPr>
              <a:t>and the </a:t>
            </a:r>
            <a:r>
              <a:rPr sz="1200" spc="-5" dirty="0">
                <a:latin typeface="Times New Roman"/>
                <a:cs typeface="Times New Roman"/>
              </a:rPr>
              <a:t>devices </a:t>
            </a:r>
            <a:r>
              <a:rPr sz="1200" dirty="0">
                <a:latin typeface="Times New Roman"/>
                <a:cs typeface="Times New Roman"/>
              </a:rPr>
              <a:t>are not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dependent</a:t>
            </a:r>
            <a:r>
              <a:rPr sz="1200" dirty="0">
                <a:latin typeface="Times New Roman"/>
                <a:cs typeface="Times New Roman"/>
              </a:rPr>
              <a:t> 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weather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circumstances</a:t>
            </a:r>
            <a:r>
              <a:rPr sz="1200" dirty="0">
                <a:latin typeface="Times New Roman"/>
                <a:cs typeface="Times New Roman"/>
              </a:rPr>
              <a:t> which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benefits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techniques.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However,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resolution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GPS is </a:t>
            </a:r>
            <a:r>
              <a:rPr sz="1200" dirty="0">
                <a:latin typeface="Times New Roman"/>
                <a:cs typeface="Times New Roman"/>
              </a:rPr>
              <a:t>10- 15 m,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cost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lidar is </a:t>
            </a:r>
            <a:r>
              <a:rPr sz="1200" dirty="0">
                <a:latin typeface="Times New Roman"/>
                <a:cs typeface="Times New Roman"/>
              </a:rPr>
              <a:t>comparatively </a:t>
            </a:r>
            <a:r>
              <a:rPr sz="1200" spc="5" dirty="0">
                <a:latin typeface="Times New Roman"/>
                <a:cs typeface="Times New Roman"/>
              </a:rPr>
              <a:t>very </a:t>
            </a:r>
            <a:r>
              <a:rPr sz="1200" spc="-5" dirty="0">
                <a:latin typeface="Times New Roman"/>
                <a:cs typeface="Times New Roman"/>
              </a:rPr>
              <a:t>high,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are the significant </a:t>
            </a:r>
            <a:r>
              <a:rPr sz="1200" spc="-5" dirty="0">
                <a:latin typeface="Times New Roman"/>
                <a:cs typeface="Times New Roman"/>
              </a:rPr>
              <a:t>disadvantages </a:t>
            </a:r>
            <a:r>
              <a:rPr sz="1200" dirty="0">
                <a:latin typeface="Times New Roman"/>
                <a:cs typeface="Times New Roman"/>
              </a:rPr>
              <a:t>of the modalities. With the </a:t>
            </a:r>
            <a:r>
              <a:rPr sz="1200" spc="-5" dirty="0">
                <a:latin typeface="Times New Roman"/>
                <a:cs typeface="Times New Roman"/>
              </a:rPr>
              <a:t>rapid growth </a:t>
            </a:r>
            <a:r>
              <a:rPr sz="1200" dirty="0">
                <a:latin typeface="Times New Roman"/>
                <a:cs typeface="Times New Roman"/>
              </a:rPr>
              <a:t>of computer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vision-based technology,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camera has </a:t>
            </a:r>
            <a:r>
              <a:rPr sz="1200" dirty="0">
                <a:latin typeface="Times New Roman"/>
                <a:cs typeface="Times New Roman"/>
              </a:rPr>
              <a:t>become more popular that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capture </a:t>
            </a:r>
            <a:r>
              <a:rPr sz="1200" spc="5" dirty="0">
                <a:latin typeface="Times New Roman"/>
                <a:cs typeface="Times New Roman"/>
              </a:rPr>
              <a:t>any </a:t>
            </a:r>
            <a:r>
              <a:rPr sz="1200" spc="-5" dirty="0">
                <a:latin typeface="Times New Roman"/>
                <a:cs typeface="Times New Roman"/>
              </a:rPr>
              <a:t>situation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environment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5" dirty="0">
                <a:latin typeface="Times New Roman"/>
                <a:cs typeface="Times New Roman"/>
              </a:rPr>
              <a:t>any </a:t>
            </a:r>
            <a:r>
              <a:rPr sz="1200" spc="-5" dirty="0">
                <a:latin typeface="Times New Roman"/>
                <a:cs typeface="Times New Roman"/>
              </a:rPr>
              <a:t>direction. As </a:t>
            </a:r>
            <a:r>
              <a:rPr sz="1200" dirty="0">
                <a:latin typeface="Times New Roman"/>
                <a:cs typeface="Times New Roman"/>
              </a:rPr>
              <a:t>far </a:t>
            </a:r>
            <a:r>
              <a:rPr sz="1200" spc="-5" dirty="0">
                <a:latin typeface="Times New Roman"/>
                <a:cs typeface="Times New Roman"/>
              </a:rPr>
              <a:t>as,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researches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have </a:t>
            </a:r>
            <a:r>
              <a:rPr sz="1200" dirty="0">
                <a:latin typeface="Times New Roman"/>
                <a:cs typeface="Times New Roman"/>
              </a:rPr>
              <a:t>been done using </a:t>
            </a:r>
            <a:r>
              <a:rPr sz="1200" spc="5" dirty="0">
                <a:latin typeface="Times New Roman"/>
                <a:cs typeface="Times New Roman"/>
              </a:rPr>
              <a:t>vision-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based techniques, </a:t>
            </a:r>
            <a:r>
              <a:rPr sz="1200" dirty="0">
                <a:latin typeface="Times New Roman"/>
                <a:cs typeface="Times New Roman"/>
              </a:rPr>
              <a:t>the technique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achieved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 </a:t>
            </a:r>
            <a:r>
              <a:rPr sz="1200" spc="-5" dirty="0">
                <a:latin typeface="Times New Roman"/>
                <a:cs typeface="Times New Roman"/>
              </a:rPr>
              <a:t>outcomes </a:t>
            </a:r>
            <a:r>
              <a:rPr sz="1200" dirty="0">
                <a:latin typeface="Times New Roman"/>
                <a:cs typeface="Times New Roman"/>
              </a:rPr>
              <a:t>on the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Caltech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dataset. </a:t>
            </a:r>
            <a:r>
              <a:rPr sz="1200" dirty="0">
                <a:latin typeface="Times New Roman"/>
                <a:cs typeface="Times New Roman"/>
              </a:rPr>
              <a:t> They </a:t>
            </a:r>
            <a:r>
              <a:rPr sz="1200" spc="-5" dirty="0">
                <a:latin typeface="Times New Roman"/>
                <a:cs typeface="Times New Roman"/>
              </a:rPr>
              <a:t>introduced </a:t>
            </a:r>
            <a:r>
              <a:rPr sz="1200" dirty="0">
                <a:latin typeface="Times New Roman"/>
                <a:cs typeface="Times New Roman"/>
              </a:rPr>
              <a:t>mainly </a:t>
            </a:r>
            <a:r>
              <a:rPr sz="1200" spc="-5" dirty="0">
                <a:latin typeface="Times New Roman"/>
                <a:cs typeface="Times New Roman"/>
              </a:rPr>
              <a:t>three techniques </a:t>
            </a:r>
            <a:r>
              <a:rPr sz="1200" dirty="0">
                <a:latin typeface="Times New Roman"/>
                <a:cs typeface="Times New Roman"/>
              </a:rPr>
              <a:t>for lane </a:t>
            </a:r>
            <a:r>
              <a:rPr sz="1200" spc="-5" dirty="0">
                <a:latin typeface="Times New Roman"/>
                <a:cs typeface="Times New Roman"/>
              </a:rPr>
              <a:t>detection. These </a:t>
            </a:r>
            <a:r>
              <a:rPr sz="1200" dirty="0">
                <a:latin typeface="Times New Roman"/>
                <a:cs typeface="Times New Roman"/>
              </a:rPr>
              <a:t>are the inverse </a:t>
            </a:r>
            <a:r>
              <a:rPr sz="1200" spc="-5" dirty="0">
                <a:latin typeface="Times New Roman"/>
                <a:cs typeface="Times New Roman"/>
              </a:rPr>
              <a:t>perspective </a:t>
            </a:r>
            <a:r>
              <a:rPr sz="1200" dirty="0">
                <a:latin typeface="Times New Roman"/>
                <a:cs typeface="Times New Roman"/>
              </a:rPr>
              <a:t> mapping </a:t>
            </a:r>
            <a:r>
              <a:rPr sz="1200" spc="-5" dirty="0">
                <a:latin typeface="Times New Roman"/>
                <a:cs typeface="Times New Roman"/>
              </a:rPr>
              <a:t>(IPM)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eliminate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perspective effect, image </a:t>
            </a:r>
            <a:r>
              <a:rPr sz="1200" dirty="0">
                <a:latin typeface="Times New Roman"/>
                <a:cs typeface="Times New Roman"/>
              </a:rPr>
              <a:t>filtering that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eliminate </a:t>
            </a:r>
            <a:r>
              <a:rPr sz="1200" dirty="0">
                <a:latin typeface="Times New Roman"/>
                <a:cs typeface="Times New Roman"/>
              </a:rPr>
              <a:t>noise </a:t>
            </a:r>
            <a:r>
              <a:rPr sz="1200" spc="-5" dirty="0">
                <a:latin typeface="Times New Roman"/>
                <a:cs typeface="Times New Roman"/>
              </a:rPr>
              <a:t>through </a:t>
            </a:r>
            <a:r>
              <a:rPr sz="1200" dirty="0">
                <a:latin typeface="Times New Roman"/>
                <a:cs typeface="Times New Roman"/>
              </a:rPr>
              <a:t>candidate lane </a:t>
            </a:r>
            <a:r>
              <a:rPr sz="1200" spc="-5" dirty="0">
                <a:latin typeface="Times New Roman"/>
                <a:cs typeface="Times New Roman"/>
              </a:rPr>
              <a:t>generation, and </a:t>
            </a:r>
            <a:r>
              <a:rPr sz="1200" dirty="0">
                <a:latin typeface="Times New Roman"/>
                <a:cs typeface="Times New Roman"/>
              </a:rPr>
              <a:t>lane model fitting that </a:t>
            </a:r>
            <a:r>
              <a:rPr sz="1200" spc="-5" dirty="0">
                <a:latin typeface="Times New Roman"/>
                <a:cs typeface="Times New Roman"/>
              </a:rPr>
              <a:t>detects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lines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images.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Besides,</a:t>
            </a:r>
            <a:r>
              <a:rPr sz="1200" dirty="0">
                <a:latin typeface="Times New Roman"/>
                <a:cs typeface="Times New Roman"/>
              </a:rPr>
              <a:t> this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</a:t>
            </a:r>
            <a:r>
              <a:rPr sz="1200" dirty="0">
                <a:latin typeface="Times New Roman"/>
                <a:cs typeface="Times New Roman"/>
              </a:rPr>
              <a:t> concerns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fitting,</a:t>
            </a:r>
            <a:r>
              <a:rPr sz="1200" dirty="0">
                <a:latin typeface="Times New Roman"/>
                <a:cs typeface="Times New Roman"/>
              </a:rPr>
              <a:t> but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 efficiency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deserted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here.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24735"/>
            <a:ext cx="7726232" cy="4266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0" algn="just">
              <a:lnSpc>
                <a:spcPct val="1437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techniques </a:t>
            </a:r>
            <a:r>
              <a:rPr sz="1200" dirty="0">
                <a:latin typeface="Times New Roman"/>
                <a:cs typeface="Times New Roman"/>
              </a:rPr>
              <a:t>that have </a:t>
            </a:r>
            <a:r>
              <a:rPr sz="1200" spc="-5" dirty="0">
                <a:latin typeface="Times New Roman"/>
                <a:cs typeface="Times New Roman"/>
              </a:rPr>
              <a:t>been </a:t>
            </a:r>
            <a:r>
              <a:rPr sz="1200" dirty="0">
                <a:latin typeface="Times New Roman"/>
                <a:cs typeface="Times New Roman"/>
              </a:rPr>
              <a:t>already </a:t>
            </a:r>
            <a:r>
              <a:rPr sz="1200" spc="-5" dirty="0">
                <a:latin typeface="Times New Roman"/>
                <a:cs typeface="Times New Roman"/>
              </a:rPr>
              <a:t>proposed have </a:t>
            </a:r>
            <a:r>
              <a:rPr sz="1200" dirty="0">
                <a:latin typeface="Times New Roman"/>
                <a:cs typeface="Times New Roman"/>
              </a:rPr>
              <a:t>some </a:t>
            </a:r>
            <a:r>
              <a:rPr sz="1200" spc="-5" dirty="0">
                <a:latin typeface="Times New Roman"/>
                <a:cs typeface="Times New Roman"/>
              </a:rPr>
              <a:t>difficulties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lane in </a:t>
            </a:r>
            <a:r>
              <a:rPr sz="1200" spc="-5" dirty="0">
                <a:latin typeface="Times New Roman"/>
                <a:cs typeface="Times New Roman"/>
              </a:rPr>
              <a:t>case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lanes are </a:t>
            </a:r>
            <a:r>
              <a:rPr sz="1200" dirty="0">
                <a:latin typeface="Times New Roman"/>
                <a:cs typeface="Times New Roman"/>
              </a:rPr>
              <a:t>not fully visible. Some </a:t>
            </a:r>
            <a:r>
              <a:rPr sz="1200" spc="-5" dirty="0">
                <a:latin typeface="Times New Roman"/>
                <a:cs typeface="Times New Roman"/>
              </a:rPr>
              <a:t>systems </a:t>
            </a:r>
            <a:r>
              <a:rPr sz="1200" dirty="0">
                <a:latin typeface="Times New Roman"/>
                <a:cs typeface="Times New Roman"/>
              </a:rPr>
              <a:t>are developed </a:t>
            </a:r>
            <a:r>
              <a:rPr sz="1200" spc="-5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edge detection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reduced fewer accurate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lane-like noise because of the lens </a:t>
            </a:r>
            <a:r>
              <a:rPr sz="1200" spc="-5" dirty="0">
                <a:latin typeface="Times New Roman"/>
                <a:cs typeface="Times New Roman"/>
              </a:rPr>
              <a:t>flare consequence. </a:t>
            </a:r>
            <a:r>
              <a:rPr sz="1200" dirty="0">
                <a:latin typeface="Times New Roman"/>
                <a:cs typeface="Times New Roman"/>
              </a:rPr>
              <a:t>Moreover,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techniques </a:t>
            </a:r>
            <a:r>
              <a:rPr sz="1200" dirty="0">
                <a:latin typeface="Times New Roman"/>
                <a:cs typeface="Times New Roman"/>
              </a:rPr>
              <a:t>in, </a:t>
            </a:r>
            <a:r>
              <a:rPr sz="1200" spc="-5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color cues worked well although </a:t>
            </a:r>
            <a:r>
              <a:rPr sz="1200" dirty="0">
                <a:latin typeface="Times New Roman"/>
                <a:cs typeface="Times New Roman"/>
              </a:rPr>
              <a:t>the illumination </a:t>
            </a:r>
            <a:r>
              <a:rPr sz="1200" spc="-5" dirty="0">
                <a:latin typeface="Times New Roman"/>
                <a:cs typeface="Times New Roman"/>
              </a:rPr>
              <a:t>changes rapidly.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optical </a:t>
            </a:r>
            <a:r>
              <a:rPr sz="1200" dirty="0">
                <a:latin typeface="Times New Roman"/>
                <a:cs typeface="Times New Roman"/>
              </a:rPr>
              <a:t>flow [8]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solve the </a:t>
            </a:r>
            <a:r>
              <a:rPr sz="1200" spc="-5" dirty="0">
                <a:latin typeface="Times New Roman"/>
                <a:cs typeface="Times New Roman"/>
              </a:rPr>
              <a:t>problems that are occurred </a:t>
            </a:r>
            <a:r>
              <a:rPr sz="1200" dirty="0">
                <a:latin typeface="Times New Roman"/>
                <a:cs typeface="Times New Roman"/>
              </a:rPr>
              <a:t>in the preceding techniques, but it </a:t>
            </a:r>
            <a:r>
              <a:rPr sz="1200" spc="-5" dirty="0">
                <a:latin typeface="Times New Roman"/>
                <a:cs typeface="Times New Roman"/>
              </a:rPr>
              <a:t>needs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high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computational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power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cannot</a:t>
            </a:r>
            <a:r>
              <a:rPr sz="1200" dirty="0">
                <a:latin typeface="Times New Roman"/>
                <a:cs typeface="Times New Roman"/>
              </a:rPr>
              <a:t> promisingly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without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texture.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Furthermore, </a:t>
            </a:r>
            <a:r>
              <a:rPr sz="1200" dirty="0">
                <a:latin typeface="Times New Roman"/>
                <a:cs typeface="Times New Roman"/>
              </a:rPr>
              <a:t>some techniques </a:t>
            </a:r>
            <a:r>
              <a:rPr sz="1200" spc="-5" dirty="0">
                <a:latin typeface="Times New Roman"/>
                <a:cs typeface="Times New Roman"/>
              </a:rPr>
              <a:t>have been developed </a:t>
            </a:r>
            <a:r>
              <a:rPr sz="1200" dirty="0">
                <a:latin typeface="Times New Roman"/>
                <a:cs typeface="Times New Roman"/>
              </a:rPr>
              <a:t>using the </a:t>
            </a:r>
            <a:r>
              <a:rPr sz="1200" spc="-5" dirty="0">
                <a:latin typeface="Times New Roman"/>
                <a:cs typeface="Times New Roman"/>
              </a:rPr>
              <a:t>concept </a:t>
            </a:r>
            <a:r>
              <a:rPr sz="1200" dirty="0">
                <a:latin typeface="Times New Roman"/>
                <a:cs typeface="Times New Roman"/>
              </a:rPr>
              <a:t>of a vanishing point for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surfaces.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Gabor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filters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texture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orientation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[9]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lane. </a:t>
            </a:r>
            <a:r>
              <a:rPr sz="1200" spc="5" dirty="0">
                <a:latin typeface="Times New Roman"/>
                <a:cs typeface="Times New Roman"/>
              </a:rPr>
              <a:t>They </a:t>
            </a:r>
            <a:r>
              <a:rPr sz="1200" dirty="0">
                <a:latin typeface="Times New Roman"/>
                <a:cs typeface="Times New Roman"/>
              </a:rPr>
              <a:t>used an </a:t>
            </a:r>
            <a:r>
              <a:rPr sz="1200" spc="-5" dirty="0">
                <a:latin typeface="Times New Roman"/>
                <a:cs typeface="Times New Roman"/>
              </a:rPr>
              <a:t>adaptive </a:t>
            </a:r>
            <a:r>
              <a:rPr sz="1200" dirty="0">
                <a:latin typeface="Times New Roman"/>
                <a:cs typeface="Times New Roman"/>
              </a:rPr>
              <a:t>soft voting technique that </a:t>
            </a:r>
            <a:r>
              <a:rPr sz="1200" spc="-5" dirty="0">
                <a:latin typeface="Times New Roman"/>
                <a:cs typeface="Times New Roman"/>
              </a:rPr>
              <a:t>estimated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vanishing </a:t>
            </a:r>
            <a:r>
              <a:rPr sz="1200" dirty="0">
                <a:latin typeface="Times New Roman"/>
                <a:cs typeface="Times New Roman"/>
              </a:rPr>
              <a:t>point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demarcated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confidence</a:t>
            </a:r>
            <a:r>
              <a:rPr sz="1200" spc="-5" dirty="0">
                <a:latin typeface="Times New Roman"/>
                <a:cs typeface="Times New Roman"/>
              </a:rPr>
              <a:t> rank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of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texture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orientation.</a:t>
            </a:r>
            <a:endParaRPr sz="1200">
              <a:latin typeface="Times New Roman"/>
              <a:cs typeface="Times New Roman"/>
            </a:endParaRPr>
          </a:p>
          <a:p>
            <a:pPr marL="12700" marR="5080" indent="19050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measure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performance </a:t>
            </a:r>
            <a:r>
              <a:rPr sz="1200" dirty="0">
                <a:latin typeface="Times New Roman"/>
                <a:cs typeface="Times New Roman"/>
              </a:rPr>
              <a:t>of the lane </a:t>
            </a:r>
            <a:r>
              <a:rPr sz="1200" spc="-5" dirty="0">
                <a:latin typeface="Times New Roman"/>
                <a:cs typeface="Times New Roman"/>
              </a:rPr>
              <a:t>detection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5" dirty="0">
                <a:latin typeface="Times New Roman"/>
                <a:cs typeface="Times New Roman"/>
              </a:rPr>
              <a:t>structured and unstructured roads,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modality using a </a:t>
            </a:r>
            <a:r>
              <a:rPr sz="1200" spc="-5" dirty="0">
                <a:latin typeface="Times New Roman"/>
                <a:cs typeface="Times New Roman"/>
              </a:rPr>
              <a:t>vanishing </a:t>
            </a:r>
            <a:r>
              <a:rPr sz="1200" dirty="0">
                <a:latin typeface="Times New Roman"/>
                <a:cs typeface="Times New Roman"/>
              </a:rPr>
              <a:t>point estimation </a:t>
            </a:r>
            <a:r>
              <a:rPr sz="1200" spc="-5" dirty="0">
                <a:latin typeface="Times New Roman"/>
                <a:cs typeface="Times New Roman"/>
              </a:rPr>
              <a:t>have been introduced </a:t>
            </a:r>
            <a:r>
              <a:rPr sz="1200" dirty="0">
                <a:latin typeface="Times New Roman"/>
                <a:cs typeface="Times New Roman"/>
              </a:rPr>
              <a:t>in. </a:t>
            </a:r>
            <a:r>
              <a:rPr sz="1200" spc="-5" dirty="0">
                <a:latin typeface="Times New Roman"/>
                <a:cs typeface="Times New Roman"/>
              </a:rPr>
              <a:t>However, </a:t>
            </a:r>
            <a:r>
              <a:rPr sz="1200" dirty="0">
                <a:latin typeface="Times New Roman"/>
                <a:cs typeface="Times New Roman"/>
              </a:rPr>
              <a:t>with the change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location, </a:t>
            </a:r>
            <a:r>
              <a:rPr sz="1200" dirty="0">
                <a:latin typeface="Times New Roman"/>
                <a:cs typeface="Times New Roman"/>
              </a:rPr>
              <a:t>the vanishing point </a:t>
            </a:r>
            <a:r>
              <a:rPr sz="1200" spc="-5" dirty="0">
                <a:latin typeface="Times New Roman"/>
                <a:cs typeface="Times New Roman"/>
              </a:rPr>
              <a:t>cannot </a:t>
            </a:r>
            <a:r>
              <a:rPr sz="1200" spc="5" dirty="0">
                <a:latin typeface="Times New Roman"/>
                <a:cs typeface="Times New Roman"/>
              </a:rPr>
              <a:t>be </a:t>
            </a:r>
            <a:r>
              <a:rPr sz="1200" dirty="0">
                <a:latin typeface="Times New Roman"/>
                <a:cs typeface="Times New Roman"/>
              </a:rPr>
              <a:t>estimated accurately which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the major </a:t>
            </a:r>
            <a:r>
              <a:rPr sz="1200" spc="-5" dirty="0">
                <a:latin typeface="Times New Roman"/>
                <a:cs typeface="Times New Roman"/>
              </a:rPr>
              <a:t>drawbacks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paper,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introduced</a:t>
            </a:r>
            <a:r>
              <a:rPr sz="1200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computer</a:t>
            </a:r>
            <a:r>
              <a:rPr sz="1200" dirty="0">
                <a:latin typeface="Times New Roman"/>
                <a:cs typeface="Times New Roman"/>
              </a:rPr>
              <a:t> vision-based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techniques</a:t>
            </a:r>
            <a:r>
              <a:rPr sz="1200" dirty="0">
                <a:latin typeface="Times New Roman"/>
                <a:cs typeface="Times New Roman"/>
              </a:rPr>
              <a:t> 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 efficiently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lanes in </a:t>
            </a:r>
            <a:r>
              <a:rPr sz="1200" spc="5" dirty="0">
                <a:latin typeface="Times New Roman"/>
                <a:cs typeface="Times New Roman"/>
              </a:rPr>
              <a:t>any </a:t>
            </a:r>
            <a:r>
              <a:rPr sz="1200" spc="-5" dirty="0">
                <a:latin typeface="Times New Roman"/>
                <a:cs typeface="Times New Roman"/>
              </a:rPr>
              <a:t>ambient </a:t>
            </a:r>
            <a:r>
              <a:rPr sz="1200" dirty="0">
                <a:latin typeface="Times New Roman"/>
                <a:cs typeface="Times New Roman"/>
              </a:rPr>
              <a:t>environment. We </a:t>
            </a:r>
            <a:r>
              <a:rPr sz="1200" spc="-5" dirty="0">
                <a:latin typeface="Times New Roman"/>
                <a:cs typeface="Times New Roman"/>
              </a:rPr>
              <a:t>have </a:t>
            </a:r>
            <a:r>
              <a:rPr sz="1200" dirty="0">
                <a:latin typeface="Times New Roman"/>
                <a:cs typeface="Times New Roman"/>
              </a:rPr>
              <a:t>mainly used </a:t>
            </a:r>
            <a:r>
              <a:rPr sz="1200" spc="-5" dirty="0">
                <a:latin typeface="Times New Roman"/>
                <a:cs typeface="Times New Roman"/>
              </a:rPr>
              <a:t>gradient and HLS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 </a:t>
            </a:r>
            <a:r>
              <a:rPr sz="1200" dirty="0">
                <a:latin typeface="Times New Roman"/>
                <a:cs typeface="Times New Roman"/>
              </a:rPr>
              <a:t>for lane </a:t>
            </a:r>
            <a:r>
              <a:rPr sz="1200" spc="-5" dirty="0">
                <a:latin typeface="Times New Roman"/>
                <a:cs typeface="Times New Roman"/>
              </a:rPr>
              <a:t>detection. For proper mapping, perspective transform has been applied after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thresholding. </a:t>
            </a:r>
            <a:r>
              <a:rPr sz="1200" dirty="0">
                <a:latin typeface="Times New Roman"/>
                <a:cs typeface="Times New Roman"/>
              </a:rPr>
              <a:t>The remaining part of the paper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prepared </a:t>
            </a: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follows. Section II </a:t>
            </a:r>
            <a:r>
              <a:rPr sz="1200" spc="-5" dirty="0">
                <a:latin typeface="Times New Roman"/>
                <a:cs typeface="Times New Roman"/>
              </a:rPr>
              <a:t>presents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10" dirty="0">
                <a:latin typeface="Times New Roman"/>
                <a:cs typeface="Times New Roman"/>
              </a:rPr>
              <a:t>on- 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going as well as </a:t>
            </a:r>
            <a:r>
              <a:rPr sz="1200" dirty="0">
                <a:latin typeface="Times New Roman"/>
                <a:cs typeface="Times New Roman"/>
              </a:rPr>
              <a:t>previous </a:t>
            </a:r>
            <a:r>
              <a:rPr sz="1200" spc="-5" dirty="0">
                <a:latin typeface="Times New Roman"/>
                <a:cs typeface="Times New Roman"/>
              </a:rPr>
              <a:t>works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have been </a:t>
            </a:r>
            <a:r>
              <a:rPr sz="1200" dirty="0">
                <a:latin typeface="Times New Roman"/>
                <a:cs typeface="Times New Roman"/>
              </a:rPr>
              <a:t>continued in this </a:t>
            </a:r>
            <a:r>
              <a:rPr sz="1200" spc="-5" dirty="0">
                <a:latin typeface="Times New Roman"/>
                <a:cs typeface="Times New Roman"/>
              </a:rPr>
              <a:t>prominent area. </a:t>
            </a:r>
            <a:r>
              <a:rPr sz="1200" dirty="0">
                <a:latin typeface="Times New Roman"/>
                <a:cs typeface="Times New Roman"/>
              </a:rPr>
              <a:t>The proposed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detection technique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5" dirty="0">
                <a:latin typeface="Times New Roman"/>
                <a:cs typeface="Times New Roman"/>
              </a:rPr>
              <a:t>proper explanation is illustrated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Section </a:t>
            </a:r>
            <a:r>
              <a:rPr sz="1200" spc="-10" dirty="0">
                <a:latin typeface="Times New Roman"/>
                <a:cs typeface="Times New Roman"/>
              </a:rPr>
              <a:t>III.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experimental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</a:t>
            </a:r>
            <a:r>
              <a:rPr sz="1200" dirty="0">
                <a:latin typeface="Times New Roman"/>
                <a:cs typeface="Times New Roman"/>
              </a:rPr>
              <a:t> with input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output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Section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IV.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Section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finishes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paper.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02868"/>
            <a:ext cx="7726232" cy="3428696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400" b="1" dirty="0">
                <a:latin typeface="Times New Roman"/>
                <a:cs typeface="Times New Roman"/>
              </a:rPr>
              <a:t>1.2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OBJECTIVE</a:t>
            </a:r>
            <a:endParaRPr sz="14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9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aim </a:t>
            </a:r>
            <a:r>
              <a:rPr sz="1200" dirty="0">
                <a:latin typeface="Times New Roman"/>
                <a:cs typeface="Times New Roman"/>
              </a:rPr>
              <a:t>of this </a:t>
            </a:r>
            <a:r>
              <a:rPr sz="1200" spc="-5" dirty="0">
                <a:latin typeface="Times New Roman"/>
                <a:cs typeface="Times New Roman"/>
              </a:rPr>
              <a:t>paper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color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is estimated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a sliding </a:t>
            </a:r>
            <a:r>
              <a:rPr sz="1200" spc="-5" dirty="0">
                <a:latin typeface="Times New Roman"/>
                <a:cs typeface="Times New Roman"/>
              </a:rPr>
              <a:t>window search </a:t>
            </a:r>
            <a:r>
              <a:rPr sz="1200" dirty="0">
                <a:latin typeface="Times New Roman"/>
                <a:cs typeface="Times New Roman"/>
              </a:rPr>
              <a:t>technique that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visualizes the </a:t>
            </a:r>
            <a:r>
              <a:rPr sz="1200" spc="-5" dirty="0">
                <a:latin typeface="Times New Roman"/>
                <a:cs typeface="Times New Roman"/>
              </a:rPr>
              <a:t>lanes.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performance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the proposed </a:t>
            </a:r>
            <a:r>
              <a:rPr sz="1200" spc="-5" dirty="0">
                <a:latin typeface="Times New Roman"/>
                <a:cs typeface="Times New Roman"/>
              </a:rPr>
              <a:t>system is </a:t>
            </a:r>
            <a:r>
              <a:rPr sz="1200" dirty="0">
                <a:latin typeface="Times New Roman"/>
                <a:cs typeface="Times New Roman"/>
              </a:rPr>
              <a:t>evaluated on the KITTI </a:t>
            </a:r>
            <a:r>
              <a:rPr sz="1200" spc="-5" dirty="0">
                <a:latin typeface="Times New Roman"/>
                <a:cs typeface="Times New Roman"/>
              </a:rPr>
              <a:t>road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dataset. </a:t>
            </a:r>
            <a:r>
              <a:rPr sz="1200" dirty="0">
                <a:latin typeface="Times New Roman"/>
                <a:cs typeface="Times New Roman"/>
              </a:rPr>
              <a:t>The experimental </a:t>
            </a:r>
            <a:r>
              <a:rPr sz="1200" spc="-5" dirty="0">
                <a:latin typeface="Times New Roman"/>
                <a:cs typeface="Times New Roman"/>
              </a:rPr>
              <a:t>results show </a:t>
            </a:r>
            <a:r>
              <a:rPr sz="1200" dirty="0">
                <a:latin typeface="Times New Roman"/>
                <a:cs typeface="Times New Roman"/>
              </a:rPr>
              <a:t>that our </a:t>
            </a:r>
            <a:r>
              <a:rPr sz="1200" spc="-5" dirty="0">
                <a:latin typeface="Times New Roman"/>
                <a:cs typeface="Times New Roman"/>
              </a:rPr>
              <a:t>proposed </a:t>
            </a:r>
            <a:r>
              <a:rPr sz="1200" dirty="0">
                <a:latin typeface="Times New Roman"/>
                <a:cs typeface="Times New Roman"/>
              </a:rPr>
              <a:t>method </a:t>
            </a:r>
            <a:r>
              <a:rPr sz="1200" spc="-5" dirty="0">
                <a:latin typeface="Times New Roman"/>
                <a:cs typeface="Times New Roman"/>
              </a:rPr>
              <a:t>detects </a:t>
            </a:r>
            <a:r>
              <a:rPr sz="1200" dirty="0">
                <a:latin typeface="Times New Roman"/>
                <a:cs typeface="Times New Roman"/>
              </a:rPr>
              <a:t>the lane on the road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surface </a:t>
            </a:r>
            <a:r>
              <a:rPr sz="1200" dirty="0">
                <a:latin typeface="Times New Roman"/>
                <a:cs typeface="Times New Roman"/>
              </a:rPr>
              <a:t>accurately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several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brightness</a:t>
            </a:r>
            <a:r>
              <a:rPr sz="1200" dirty="0">
                <a:latin typeface="Times New Roman"/>
                <a:cs typeface="Times New Roman"/>
              </a:rPr>
              <a:t> conditions.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1.2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Existing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System: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detection starts from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markers </a:t>
            </a:r>
            <a:r>
              <a:rPr sz="1200" dirty="0">
                <a:latin typeface="Times New Roman"/>
                <a:cs typeface="Times New Roman"/>
              </a:rPr>
              <a:t>in a complex </a:t>
            </a:r>
            <a:r>
              <a:rPr sz="1200" spc="-5" dirty="0">
                <a:latin typeface="Times New Roman"/>
                <a:cs typeface="Times New Roman"/>
              </a:rPr>
              <a:t>environment and 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estimate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vehicle’s</a:t>
            </a:r>
            <a:r>
              <a:rPr sz="1200" dirty="0">
                <a:latin typeface="Times New Roman"/>
                <a:cs typeface="Times New Roman"/>
              </a:rPr>
              <a:t> position. </a:t>
            </a:r>
            <a:r>
              <a:rPr sz="1200" spc="-5" dirty="0">
                <a:latin typeface="Times New Roman"/>
                <a:cs typeface="Times New Roman"/>
              </a:rPr>
              <a:t>At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same</a:t>
            </a:r>
            <a:r>
              <a:rPr sz="1200" dirty="0">
                <a:latin typeface="Times New Roman"/>
                <a:cs typeface="Times New Roman"/>
              </a:rPr>
              <a:t> time, lane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major role in the lane </a:t>
            </a:r>
            <a:r>
              <a:rPr sz="1200" spc="-5" dirty="0">
                <a:latin typeface="Times New Roman"/>
                <a:cs typeface="Times New Roman"/>
              </a:rPr>
              <a:t>departure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warning system.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detection consists </a:t>
            </a:r>
            <a:r>
              <a:rPr sz="1200" dirty="0">
                <a:latin typeface="Times New Roman"/>
                <a:cs typeface="Times New Roman"/>
              </a:rPr>
              <a:t>of the localization of </a:t>
            </a:r>
            <a:r>
              <a:rPr sz="1200" spc="-5" dirty="0">
                <a:latin typeface="Times New Roman"/>
                <a:cs typeface="Times New Roman"/>
              </a:rPr>
              <a:t>certain </a:t>
            </a:r>
            <a:r>
              <a:rPr sz="1200" dirty="0">
                <a:latin typeface="Times New Roman"/>
                <a:cs typeface="Times New Roman"/>
              </a:rPr>
              <a:t>important </a:t>
            </a:r>
            <a:r>
              <a:rPr sz="1200" spc="-5" dirty="0">
                <a:latin typeface="Times New Roman"/>
                <a:cs typeface="Times New Roman"/>
              </a:rPr>
              <a:t>aspects </a:t>
            </a:r>
            <a:r>
              <a:rPr sz="1200" dirty="0">
                <a:latin typeface="Times New Roman"/>
                <a:cs typeface="Times New Roman"/>
              </a:rPr>
              <a:t>such </a:t>
            </a: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markings.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challenges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parked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vehicles,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lines </a:t>
            </a:r>
            <a:r>
              <a:rPr sz="1200" dirty="0">
                <a:latin typeface="Times New Roman"/>
                <a:cs typeface="Times New Roman"/>
              </a:rPr>
              <a:t>or no </a:t>
            </a:r>
            <a:r>
              <a:rPr sz="1200" spc="-5" dirty="0">
                <a:latin typeface="Times New Roman"/>
                <a:cs typeface="Times New Roman"/>
              </a:rPr>
              <a:t>lines at all, Shadows </a:t>
            </a:r>
            <a:r>
              <a:rPr sz="1200" dirty="0">
                <a:latin typeface="Times New Roman"/>
                <a:cs typeface="Times New Roman"/>
              </a:rPr>
              <a:t>that exists </a:t>
            </a:r>
            <a:r>
              <a:rPr sz="1200" spc="-5" dirty="0">
                <a:latin typeface="Times New Roman"/>
                <a:cs typeface="Times New Roman"/>
              </a:rPr>
              <a:t>because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trees, Improper parking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vehicles,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irregular </a:t>
            </a:r>
            <a:r>
              <a:rPr sz="1200" dirty="0">
                <a:latin typeface="Times New Roman"/>
                <a:cs typeface="Times New Roman"/>
              </a:rPr>
              <a:t>shape of lane, </a:t>
            </a:r>
            <a:r>
              <a:rPr sz="1200" spc="-5" dirty="0">
                <a:latin typeface="Times New Roman"/>
                <a:cs typeface="Times New Roman"/>
              </a:rPr>
              <a:t>merging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lanes, improper </a:t>
            </a:r>
            <a:r>
              <a:rPr sz="1200" spc="-5" dirty="0">
                <a:latin typeface="Times New Roman"/>
                <a:cs typeface="Times New Roman"/>
              </a:rPr>
              <a:t>pavement material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5" dirty="0">
                <a:latin typeface="Times New Roman"/>
                <a:cs typeface="Times New Roman"/>
              </a:rPr>
              <a:t>dissimilar slopes and </a:t>
            </a:r>
            <a:r>
              <a:rPr sz="1200" dirty="0">
                <a:latin typeface="Times New Roman"/>
                <a:cs typeface="Times New Roman"/>
              </a:rPr>
              <a:t> the unnecessary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humps in the</a:t>
            </a:r>
            <a:r>
              <a:rPr sz="1200" spc="-5" dirty="0">
                <a:latin typeface="Times New Roman"/>
                <a:cs typeface="Times New Roman"/>
              </a:rPr>
              <a:t> 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which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causes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problems</a:t>
            </a:r>
            <a:r>
              <a:rPr sz="1200" dirty="0">
                <a:latin typeface="Times New Roman"/>
                <a:cs typeface="Times New Roman"/>
              </a:rPr>
              <a:t> in lane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225653"/>
            <a:ext cx="3852433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indent="-22923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0375" algn="l"/>
                <a:tab pos="461009" algn="l"/>
              </a:tabLst>
            </a:pPr>
            <a:r>
              <a:rPr sz="1200" spc="-5" dirty="0">
                <a:latin typeface="Times New Roman"/>
                <a:cs typeface="Times New Roman"/>
              </a:rPr>
              <a:t>Unexplained functioning.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Times New Roman"/>
                <a:cs typeface="Times New Roman"/>
              </a:rPr>
              <a:t>Disadvantages: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duration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</a:t>
            </a:r>
            <a:r>
              <a:rPr sz="1200" spc="-5" dirty="0">
                <a:latin typeface="Times New Roman"/>
                <a:cs typeface="Times New Roman"/>
              </a:rPr>
              <a:t> 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unknown.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589607"/>
            <a:ext cx="7726232" cy="538506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600" b="1" spc="-5" dirty="0">
                <a:latin typeface="Times New Roman"/>
                <a:cs typeface="Times New Roman"/>
              </a:rPr>
              <a:t>LITERATURE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SURVEY: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400" b="1" spc="-5" dirty="0">
                <a:latin typeface="Times New Roman"/>
                <a:cs typeface="Times New Roman"/>
              </a:rPr>
              <a:t>Title: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Low</a:t>
            </a:r>
            <a:r>
              <a:rPr sz="1200" dirty="0">
                <a:latin typeface="Times New Roman"/>
                <a:cs typeface="Times New Roman"/>
              </a:rPr>
              <a:t> Cost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 for</a:t>
            </a:r>
            <a:r>
              <a:rPr sz="1200" spc="-5" dirty="0">
                <a:latin typeface="Times New Roman"/>
                <a:cs typeface="Times New Roman"/>
              </a:rPr>
              <a:t> 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Multisensor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Departure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uthor: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J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M.</a:t>
            </a:r>
            <a:r>
              <a:rPr sz="1200" dirty="0">
                <a:latin typeface="Times New Roman"/>
                <a:cs typeface="Times New Roman"/>
              </a:rPr>
              <a:t> Clanton,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25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H</a:t>
            </a:r>
            <a:r>
              <a:rPr sz="1200" dirty="0">
                <a:latin typeface="Times New Roman"/>
                <a:cs typeface="Times New Roman"/>
              </a:rPr>
              <a:t>od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l,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Year: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2009.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5"/>
              </a:spcBef>
            </a:pPr>
            <a:r>
              <a:rPr sz="1200" dirty="0">
                <a:latin typeface="Times New Roman"/>
                <a:cs typeface="Times New Roman"/>
              </a:rPr>
              <a:t>The responsibility of a </a:t>
            </a:r>
            <a:r>
              <a:rPr sz="1200" spc="-5" dirty="0">
                <a:latin typeface="Times New Roman"/>
                <a:cs typeface="Times New Roman"/>
              </a:rPr>
              <a:t>vision-based </a:t>
            </a:r>
            <a:r>
              <a:rPr sz="1200" dirty="0">
                <a:latin typeface="Times New Roman"/>
                <a:cs typeface="Times New Roman"/>
              </a:rPr>
              <a:t>lane departure </a:t>
            </a:r>
            <a:r>
              <a:rPr sz="1200" spc="-5" dirty="0">
                <a:latin typeface="Times New Roman"/>
                <a:cs typeface="Times New Roman"/>
              </a:rPr>
              <a:t>warning (LDW) system is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alert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driver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 unintended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departure. Because </a:t>
            </a:r>
            <a:r>
              <a:rPr sz="1200" dirty="0">
                <a:latin typeface="Times New Roman"/>
                <a:cs typeface="Times New Roman"/>
              </a:rPr>
              <a:t>these </a:t>
            </a:r>
            <a:r>
              <a:rPr sz="1200" spc="-5" dirty="0">
                <a:latin typeface="Times New Roman"/>
                <a:cs typeface="Times New Roman"/>
              </a:rPr>
              <a:t>systems </a:t>
            </a:r>
            <a:r>
              <a:rPr sz="1200" dirty="0">
                <a:latin typeface="Times New Roman"/>
                <a:cs typeface="Times New Roman"/>
              </a:rPr>
              <a:t>solely </a:t>
            </a:r>
            <a:r>
              <a:rPr sz="1200" spc="5" dirty="0">
                <a:latin typeface="Times New Roman"/>
                <a:cs typeface="Times New Roman"/>
              </a:rPr>
              <a:t>rely </a:t>
            </a:r>
            <a:r>
              <a:rPr sz="1200" dirty="0">
                <a:latin typeface="Times New Roman"/>
                <a:cs typeface="Times New Roman"/>
              </a:rPr>
              <a:t>on the vision </a:t>
            </a:r>
            <a:r>
              <a:rPr sz="1200" spc="-5" dirty="0">
                <a:latin typeface="Times New Roman"/>
                <a:cs typeface="Times New Roman"/>
              </a:rPr>
              <a:t>sensor's </a:t>
            </a:r>
            <a:r>
              <a:rPr sz="1200" spc="5" dirty="0">
                <a:latin typeface="Times New Roman"/>
                <a:cs typeface="Times New Roman"/>
              </a:rPr>
              <a:t>ability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markings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roadway, </a:t>
            </a:r>
            <a:r>
              <a:rPr sz="1200" dirty="0">
                <a:latin typeface="Times New Roman"/>
                <a:cs typeface="Times New Roman"/>
              </a:rPr>
              <a:t>these </a:t>
            </a:r>
            <a:r>
              <a:rPr sz="1200" spc="-5" dirty="0">
                <a:latin typeface="Times New Roman"/>
                <a:cs typeface="Times New Roman"/>
              </a:rPr>
              <a:t>systems </a:t>
            </a:r>
            <a:r>
              <a:rPr sz="1200" dirty="0">
                <a:latin typeface="Times New Roman"/>
                <a:cs typeface="Times New Roman"/>
              </a:rPr>
              <a:t>are extremely sensitive to the roadway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conditions. </a:t>
            </a:r>
            <a:r>
              <a:rPr sz="1200" dirty="0">
                <a:latin typeface="Times New Roman"/>
                <a:cs typeface="Times New Roman"/>
              </a:rPr>
              <a:t>When a </a:t>
            </a:r>
            <a:r>
              <a:rPr sz="1200" spc="-5" dirty="0">
                <a:latin typeface="Times New Roman"/>
                <a:cs typeface="Times New Roman"/>
              </a:rPr>
              <a:t>vehicle's </a:t>
            </a:r>
            <a:r>
              <a:rPr sz="1200" spc="-10" dirty="0">
                <a:latin typeface="Times New Roman"/>
                <a:cs typeface="Times New Roman"/>
              </a:rPr>
              <a:t>LDW </a:t>
            </a:r>
            <a:r>
              <a:rPr sz="1200" spc="-5" dirty="0">
                <a:latin typeface="Times New Roman"/>
                <a:cs typeface="Times New Roman"/>
              </a:rPr>
              <a:t>system fails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markers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roadway, </a:t>
            </a:r>
            <a:r>
              <a:rPr sz="120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loses its </a:t>
            </a:r>
            <a:r>
              <a:rPr sz="1200" dirty="0">
                <a:latin typeface="Times New Roman"/>
                <a:cs typeface="Times New Roman"/>
              </a:rPr>
              <a:t> ability to </a:t>
            </a:r>
            <a:r>
              <a:rPr sz="1200" spc="-5" dirty="0">
                <a:latin typeface="Times New Roman"/>
                <a:cs typeface="Times New Roman"/>
              </a:rPr>
              <a:t>alert </a:t>
            </a:r>
            <a:r>
              <a:rPr sz="1200" dirty="0">
                <a:latin typeface="Times New Roman"/>
                <a:cs typeface="Times New Roman"/>
              </a:rPr>
              <a:t>the driver of </a:t>
            </a:r>
            <a:r>
              <a:rPr sz="1200" spc="-5" dirty="0">
                <a:latin typeface="Times New Roman"/>
                <a:cs typeface="Times New Roman"/>
              </a:rPr>
              <a:t>an unintended </a:t>
            </a:r>
            <a:r>
              <a:rPr sz="1200" dirty="0">
                <a:latin typeface="Times New Roman"/>
                <a:cs typeface="Times New Roman"/>
              </a:rPr>
              <a:t>lane departure. The </a:t>
            </a:r>
            <a:r>
              <a:rPr sz="1200" spc="-5" dirty="0">
                <a:latin typeface="Times New Roman"/>
                <a:cs typeface="Times New Roman"/>
              </a:rPr>
              <a:t>goal </a:t>
            </a:r>
            <a:r>
              <a:rPr sz="1200" dirty="0">
                <a:latin typeface="Times New Roman"/>
                <a:cs typeface="Times New Roman"/>
              </a:rPr>
              <a:t>of this </a:t>
            </a:r>
            <a:r>
              <a:rPr sz="1200" spc="-5" dirty="0">
                <a:latin typeface="Times New Roman"/>
                <a:cs typeface="Times New Roman"/>
              </a:rPr>
              <a:t>research is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use GPS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combined </a:t>
            </a:r>
            <a:r>
              <a:rPr sz="1200" dirty="0">
                <a:latin typeface="Times New Roman"/>
                <a:cs typeface="Times New Roman"/>
              </a:rPr>
              <a:t>with inertial sensors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a high-accuracy map to </a:t>
            </a:r>
            <a:r>
              <a:rPr sz="1200" spc="-5" dirty="0">
                <a:latin typeface="Times New Roman"/>
                <a:cs typeface="Times New Roman"/>
              </a:rPr>
              <a:t>assist </a:t>
            </a:r>
            <a:r>
              <a:rPr sz="1200" dirty="0">
                <a:latin typeface="Times New Roman"/>
                <a:cs typeface="Times New Roman"/>
              </a:rPr>
              <a:t>a vision-based </a:t>
            </a:r>
            <a:r>
              <a:rPr sz="1200" spc="-10" dirty="0">
                <a:latin typeface="Times New Roman"/>
                <a:cs typeface="Times New Roman"/>
              </a:rPr>
              <a:t>LDW </a:t>
            </a:r>
            <a:r>
              <a:rPr sz="1200" spc="-5" dirty="0">
                <a:latin typeface="Times New Roman"/>
                <a:cs typeface="Times New Roman"/>
              </a:rPr>
              <a:t>system.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GPS navigation systems are available </a:t>
            </a:r>
            <a:r>
              <a:rPr sz="1200" dirty="0">
                <a:latin typeface="Times New Roman"/>
                <a:cs typeface="Times New Roman"/>
              </a:rPr>
              <a:t>in many automobiles, </a:t>
            </a:r>
            <a:r>
              <a:rPr sz="1200" spc="-5" dirty="0">
                <a:latin typeface="Times New Roman"/>
                <a:cs typeface="Times New Roman"/>
              </a:rPr>
              <a:t>along </a:t>
            </a:r>
            <a:r>
              <a:rPr sz="1200" dirty="0">
                <a:latin typeface="Times New Roman"/>
                <a:cs typeface="Times New Roman"/>
              </a:rPr>
              <a:t>with automotive-grade </a:t>
            </a:r>
            <a:r>
              <a:rPr sz="1200" spc="-5" dirty="0">
                <a:latin typeface="Times New Roman"/>
                <a:cs typeface="Times New Roman"/>
              </a:rPr>
              <a:t>inertial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sensors.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low </a:t>
            </a:r>
            <a:r>
              <a:rPr sz="1200" dirty="0">
                <a:latin typeface="Times New Roman"/>
                <a:cs typeface="Times New Roman"/>
              </a:rPr>
              <a:t>accuracy of a typical </a:t>
            </a:r>
            <a:r>
              <a:rPr sz="1200" spc="-5" dirty="0">
                <a:latin typeface="Times New Roman"/>
                <a:cs typeface="Times New Roman"/>
              </a:rPr>
              <a:t>GPS receiver </a:t>
            </a:r>
            <a:r>
              <a:rPr sz="1200" dirty="0">
                <a:latin typeface="Times New Roman"/>
                <a:cs typeface="Times New Roman"/>
              </a:rPr>
              <a:t>found in </a:t>
            </a:r>
            <a:r>
              <a:rPr sz="1200" spc="-5" dirty="0">
                <a:latin typeface="Times New Roman"/>
                <a:cs typeface="Times New Roman"/>
              </a:rPr>
              <a:t>an automotive navigation system is </a:t>
            </a:r>
            <a:r>
              <a:rPr sz="1200" dirty="0">
                <a:latin typeface="Times New Roman"/>
                <a:cs typeface="Times New Roman"/>
              </a:rPr>
              <a:t> largely </a:t>
            </a:r>
            <a:r>
              <a:rPr sz="1200" spc="-5" dirty="0">
                <a:latin typeface="Times New Roman"/>
                <a:cs typeface="Times New Roman"/>
              </a:rPr>
              <a:t>attributed </a:t>
            </a:r>
            <a:r>
              <a:rPr sz="1200" dirty="0">
                <a:latin typeface="Times New Roman"/>
                <a:cs typeface="Times New Roman"/>
              </a:rPr>
              <a:t>to a position </a:t>
            </a:r>
            <a:r>
              <a:rPr sz="1200" spc="-5" dirty="0">
                <a:latin typeface="Times New Roman"/>
                <a:cs typeface="Times New Roman"/>
              </a:rPr>
              <a:t>error.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error is </a:t>
            </a:r>
            <a:r>
              <a:rPr sz="1200" dirty="0">
                <a:latin typeface="Times New Roman"/>
                <a:cs typeface="Times New Roman"/>
              </a:rPr>
              <a:t>too </a:t>
            </a:r>
            <a:r>
              <a:rPr sz="1200" spc="-5" dirty="0">
                <a:latin typeface="Times New Roman"/>
                <a:cs typeface="Times New Roman"/>
              </a:rPr>
              <a:t>large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allow </a:t>
            </a:r>
            <a:r>
              <a:rPr sz="1200" dirty="0">
                <a:latin typeface="Times New Roman"/>
                <a:cs typeface="Times New Roman"/>
              </a:rPr>
              <a:t>the GPS </a:t>
            </a:r>
            <a:r>
              <a:rPr sz="1200" spc="-5" dirty="0">
                <a:latin typeface="Times New Roman"/>
                <a:cs typeface="Times New Roman"/>
              </a:rPr>
              <a:t>receiver </a:t>
            </a:r>
            <a:r>
              <a:rPr sz="1200" dirty="0">
                <a:latin typeface="Times New Roman"/>
                <a:cs typeface="Times New Roman"/>
              </a:rPr>
              <a:t>to locate 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vehicle </a:t>
            </a:r>
            <a:r>
              <a:rPr sz="1200" dirty="0">
                <a:latin typeface="Times New Roman"/>
                <a:cs typeface="Times New Roman"/>
              </a:rPr>
              <a:t>in a </a:t>
            </a:r>
            <a:r>
              <a:rPr sz="1200" spc="-5" dirty="0">
                <a:latin typeface="Times New Roman"/>
                <a:cs typeface="Times New Roman"/>
              </a:rPr>
              <a:t>particular </a:t>
            </a:r>
            <a:r>
              <a:rPr sz="1200" dirty="0">
                <a:latin typeface="Times New Roman"/>
                <a:cs typeface="Times New Roman"/>
              </a:rPr>
              <a:t>lane on a </a:t>
            </a:r>
            <a:r>
              <a:rPr sz="1200" spc="-5" dirty="0">
                <a:latin typeface="Times New Roman"/>
                <a:cs typeface="Times New Roman"/>
              </a:rPr>
              <a:t>roadway. A </a:t>
            </a:r>
            <a:r>
              <a:rPr sz="1200" dirty="0">
                <a:latin typeface="Times New Roman"/>
                <a:cs typeface="Times New Roman"/>
              </a:rPr>
              <a:t>method to </a:t>
            </a:r>
            <a:r>
              <a:rPr sz="1200" spc="-5" dirty="0">
                <a:latin typeface="Times New Roman"/>
                <a:cs typeface="Times New Roman"/>
              </a:rPr>
              <a:t>measure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error </a:t>
            </a:r>
            <a:r>
              <a:rPr sz="1200" dirty="0">
                <a:latin typeface="Times New Roman"/>
                <a:cs typeface="Times New Roman"/>
              </a:rPr>
              <a:t>using a </a:t>
            </a:r>
            <a:r>
              <a:rPr sz="1200" spc="-5" dirty="0">
                <a:latin typeface="Times New Roman"/>
                <a:cs typeface="Times New Roman"/>
              </a:rPr>
              <a:t>vision-based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LDW </a:t>
            </a:r>
            <a:r>
              <a:rPr sz="1200" spc="-5" dirty="0">
                <a:latin typeface="Times New Roman"/>
                <a:cs typeface="Times New Roman"/>
              </a:rPr>
              <a:t>system, together </a:t>
            </a:r>
            <a:r>
              <a:rPr sz="1200" dirty="0">
                <a:latin typeface="Times New Roman"/>
                <a:cs typeface="Times New Roman"/>
              </a:rPr>
              <a:t>with a high-accuracy map, </a:t>
            </a:r>
            <a:r>
              <a:rPr sz="1200" spc="-5" dirty="0">
                <a:latin typeface="Times New Roman"/>
                <a:cs typeface="Times New Roman"/>
              </a:rPr>
              <a:t>is presented </a:t>
            </a:r>
            <a:r>
              <a:rPr sz="1200" dirty="0">
                <a:latin typeface="Times New Roman"/>
                <a:cs typeface="Times New Roman"/>
              </a:rPr>
              <a:t>in this </a:t>
            </a:r>
            <a:r>
              <a:rPr sz="1200" spc="-5" dirty="0">
                <a:latin typeface="Times New Roman"/>
                <a:cs typeface="Times New Roman"/>
              </a:rPr>
              <a:t>paper. </a:t>
            </a:r>
            <a:r>
              <a:rPr sz="1200" dirty="0">
                <a:latin typeface="Times New Roman"/>
                <a:cs typeface="Times New Roman"/>
              </a:rPr>
              <a:t>With the </a:t>
            </a:r>
            <a:r>
              <a:rPr sz="1200" spc="-5" dirty="0">
                <a:latin typeface="Times New Roman"/>
                <a:cs typeface="Times New Roman"/>
              </a:rPr>
              <a:t>error </a:t>
            </a:r>
            <a:r>
              <a:rPr sz="1200" dirty="0">
                <a:latin typeface="Times New Roman"/>
                <a:cs typeface="Times New Roman"/>
              </a:rPr>
              <a:t> known, the accuracy of the </a:t>
            </a:r>
            <a:r>
              <a:rPr sz="1200" spc="-5" dirty="0">
                <a:latin typeface="Times New Roman"/>
                <a:cs typeface="Times New Roman"/>
              </a:rPr>
              <a:t>GPS receiver is increased </a:t>
            </a:r>
            <a:r>
              <a:rPr sz="1200" dirty="0">
                <a:latin typeface="Times New Roman"/>
                <a:cs typeface="Times New Roman"/>
              </a:rPr>
              <a:t>to a high-enough </a:t>
            </a:r>
            <a:r>
              <a:rPr sz="1200" spc="-5" dirty="0">
                <a:latin typeface="Times New Roman"/>
                <a:cs typeface="Times New Roman"/>
              </a:rPr>
              <a:t>level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localize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vehicle </a:t>
            </a:r>
            <a:r>
              <a:rPr sz="1200" dirty="0">
                <a:latin typeface="Times New Roman"/>
                <a:cs typeface="Times New Roman"/>
              </a:rPr>
              <a:t>on a </a:t>
            </a:r>
            <a:r>
              <a:rPr sz="1200" spc="-5" dirty="0">
                <a:latin typeface="Times New Roman"/>
                <a:cs typeface="Times New Roman"/>
              </a:rPr>
              <a:t>particular </a:t>
            </a:r>
            <a:r>
              <a:rPr sz="1200" dirty="0">
                <a:latin typeface="Times New Roman"/>
                <a:cs typeface="Times New Roman"/>
              </a:rPr>
              <a:t>lane. Next, a method fusing GPS/inertial navigation </a:t>
            </a:r>
            <a:r>
              <a:rPr sz="1200" spc="-5" dirty="0">
                <a:latin typeface="Times New Roman"/>
                <a:cs typeface="Times New Roman"/>
              </a:rPr>
              <a:t>sensor/vision and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high-accuracy </a:t>
            </a:r>
            <a:r>
              <a:rPr sz="1200" dirty="0">
                <a:latin typeface="Times New Roman"/>
                <a:cs typeface="Times New Roman"/>
              </a:rPr>
              <a:t>map for highway lane tracking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presented. </a:t>
            </a:r>
            <a:r>
              <a:rPr sz="1200" spc="-5" dirty="0">
                <a:latin typeface="Times New Roman"/>
                <a:cs typeface="Times New Roman"/>
              </a:rPr>
              <a:t>This method </a:t>
            </a:r>
            <a:r>
              <a:rPr sz="1200" dirty="0">
                <a:latin typeface="Times New Roman"/>
                <a:cs typeface="Times New Roman"/>
              </a:rPr>
              <a:t>provides a backup </a:t>
            </a:r>
            <a:r>
              <a:rPr sz="1200" spc="-5" dirty="0">
                <a:latin typeface="Times New Roman"/>
                <a:cs typeface="Times New Roman"/>
              </a:rPr>
              <a:t>lateral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offset measurement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spc="5" dirty="0">
                <a:latin typeface="Times New Roman"/>
                <a:cs typeface="Times New Roman"/>
              </a:rPr>
              <a:t>be </a:t>
            </a:r>
            <a:r>
              <a:rPr sz="1200" dirty="0">
                <a:latin typeface="Times New Roman"/>
                <a:cs typeface="Times New Roman"/>
              </a:rPr>
              <a:t>used for </a:t>
            </a:r>
            <a:r>
              <a:rPr sz="1200" spc="-10" dirty="0">
                <a:latin typeface="Times New Roman"/>
                <a:cs typeface="Times New Roman"/>
              </a:rPr>
              <a:t>LDW </a:t>
            </a:r>
            <a:r>
              <a:rPr sz="1200" dirty="0">
                <a:latin typeface="Times New Roman"/>
                <a:cs typeface="Times New Roman"/>
              </a:rPr>
              <a:t>when the </a:t>
            </a:r>
            <a:r>
              <a:rPr sz="1200" spc="-10" dirty="0">
                <a:latin typeface="Times New Roman"/>
                <a:cs typeface="Times New Roman"/>
              </a:rPr>
              <a:t>LDW </a:t>
            </a:r>
            <a:r>
              <a:rPr sz="1200" dirty="0">
                <a:latin typeface="Times New Roman"/>
                <a:cs typeface="Times New Roman"/>
              </a:rPr>
              <a:t>vision </a:t>
            </a:r>
            <a:r>
              <a:rPr sz="1200" spc="-5" dirty="0">
                <a:latin typeface="Times New Roman"/>
                <a:cs typeface="Times New Roman"/>
              </a:rPr>
              <a:t>system loses track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02868"/>
            <a:ext cx="7724588" cy="4458656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6350" algn="just">
              <a:lnSpc>
                <a:spcPct val="143300"/>
              </a:lnSpc>
              <a:spcBef>
                <a:spcPts val="225"/>
              </a:spcBef>
            </a:pPr>
            <a:r>
              <a:rPr sz="1400" b="1" spc="-5" dirty="0">
                <a:latin typeface="Times New Roman"/>
                <a:cs typeface="Times New Roman"/>
              </a:rPr>
              <a:t>Title: </a:t>
            </a:r>
            <a:r>
              <a:rPr sz="1200" spc="-5" dirty="0">
                <a:latin typeface="Times New Roman"/>
                <a:cs typeface="Times New Roman"/>
              </a:rPr>
              <a:t>A Sensor-Fusion Drivable-Region and Lane-Detection System </a:t>
            </a:r>
            <a:r>
              <a:rPr sz="1200" dirty="0">
                <a:latin typeface="Times New Roman"/>
                <a:cs typeface="Times New Roman"/>
              </a:rPr>
              <a:t>for Autonomous </a:t>
            </a:r>
            <a:r>
              <a:rPr sz="1200" spc="-5" dirty="0">
                <a:latin typeface="Times New Roman"/>
                <a:cs typeface="Times New Roman"/>
              </a:rPr>
              <a:t>Vehicle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Navigation</a:t>
            </a:r>
            <a:r>
              <a:rPr sz="1200" dirty="0">
                <a:latin typeface="Times New Roman"/>
                <a:cs typeface="Times New Roman"/>
              </a:rPr>
              <a:t> in </a:t>
            </a:r>
            <a:r>
              <a:rPr sz="1200" spc="-5" dirty="0">
                <a:latin typeface="Times New Roman"/>
                <a:cs typeface="Times New Roman"/>
              </a:rPr>
              <a:t>Challenging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Scenarios.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uthor: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Q.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i,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. Che</a:t>
            </a:r>
            <a:r>
              <a:rPr sz="1200" spc="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5" dirty="0">
                <a:latin typeface="Times New Roman"/>
                <a:cs typeface="Times New Roman"/>
              </a:rPr>
              <a:t>M.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i, S. 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aw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5" dirty="0">
                <a:latin typeface="Times New Roman"/>
                <a:cs typeface="Times New Roman"/>
              </a:rPr>
              <a:t>A.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Nü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dirty="0">
                <a:latin typeface="Times New Roman"/>
                <a:cs typeface="Times New Roman"/>
              </a:rPr>
              <a:t>hter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Year: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2014.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105"/>
              </a:spcBef>
            </a:pPr>
            <a:r>
              <a:rPr sz="1200" dirty="0">
                <a:latin typeface="Times New Roman"/>
                <a:cs typeface="Times New Roman"/>
              </a:rPr>
              <a:t>Autonomous </a:t>
            </a:r>
            <a:r>
              <a:rPr sz="1200" spc="-5" dirty="0">
                <a:latin typeface="Times New Roman"/>
                <a:cs typeface="Times New Roman"/>
              </a:rPr>
              <a:t>vehicle navigation is challenging </a:t>
            </a:r>
            <a:r>
              <a:rPr sz="1200" dirty="0">
                <a:latin typeface="Times New Roman"/>
                <a:cs typeface="Times New Roman"/>
              </a:rPr>
              <a:t>since various </a:t>
            </a:r>
            <a:r>
              <a:rPr sz="1200" spc="-5" dirty="0">
                <a:latin typeface="Times New Roman"/>
                <a:cs typeface="Times New Roman"/>
              </a:rPr>
              <a:t>types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road scenarios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real </a:t>
            </a:r>
            <a:r>
              <a:rPr sz="1200" dirty="0">
                <a:latin typeface="Times New Roman"/>
                <a:cs typeface="Times New Roman"/>
              </a:rPr>
              <a:t>urban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environments </a:t>
            </a:r>
            <a:r>
              <a:rPr sz="1200" dirty="0">
                <a:latin typeface="Times New Roman"/>
                <a:cs typeface="Times New Roman"/>
              </a:rPr>
              <a:t>have to </a:t>
            </a:r>
            <a:r>
              <a:rPr sz="1200" spc="5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considered, </a:t>
            </a:r>
            <a:r>
              <a:rPr sz="1200" dirty="0">
                <a:latin typeface="Times New Roman"/>
                <a:cs typeface="Times New Roman"/>
              </a:rPr>
              <a:t>particularly </a:t>
            </a:r>
            <a:r>
              <a:rPr sz="1200" spc="-5" dirty="0">
                <a:latin typeface="Times New Roman"/>
                <a:cs typeface="Times New Roman"/>
              </a:rPr>
              <a:t>when </a:t>
            </a:r>
            <a:r>
              <a:rPr sz="1200" spc="5" dirty="0">
                <a:latin typeface="Times New Roman"/>
                <a:cs typeface="Times New Roman"/>
              </a:rPr>
              <a:t>only </a:t>
            </a:r>
            <a:r>
              <a:rPr sz="1200" dirty="0">
                <a:latin typeface="Times New Roman"/>
                <a:cs typeface="Times New Roman"/>
              </a:rPr>
              <a:t>perception sensors are used, without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 </a:t>
            </a:r>
            <a:r>
              <a:rPr sz="1200" spc="-5" dirty="0">
                <a:latin typeface="Times New Roman"/>
                <a:cs typeface="Times New Roman"/>
              </a:rPr>
              <a:t>information. This paper presents </a:t>
            </a:r>
            <a:r>
              <a:rPr sz="1200" dirty="0">
                <a:latin typeface="Times New Roman"/>
                <a:cs typeface="Times New Roman"/>
              </a:rPr>
              <a:t>a novel real-time </a:t>
            </a:r>
            <a:r>
              <a:rPr sz="1200" spc="-5" dirty="0">
                <a:latin typeface="Times New Roman"/>
                <a:cs typeface="Times New Roman"/>
              </a:rPr>
              <a:t>optimal-drivable-region and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 system </a:t>
            </a:r>
            <a:r>
              <a:rPr sz="1200" dirty="0">
                <a:latin typeface="Times New Roman"/>
                <a:cs typeface="Times New Roman"/>
              </a:rPr>
              <a:t>for autonomous driving </a:t>
            </a:r>
            <a:r>
              <a:rPr sz="1200" spc="-5" dirty="0">
                <a:latin typeface="Times New Roman"/>
                <a:cs typeface="Times New Roman"/>
              </a:rPr>
              <a:t>based </a:t>
            </a:r>
            <a:r>
              <a:rPr sz="1200" dirty="0">
                <a:latin typeface="Times New Roman"/>
                <a:cs typeface="Times New Roman"/>
              </a:rPr>
              <a:t>on the fusion of </a:t>
            </a:r>
            <a:r>
              <a:rPr sz="1200" spc="-5" dirty="0">
                <a:latin typeface="Times New Roman"/>
                <a:cs typeface="Times New Roman"/>
              </a:rPr>
              <a:t>light detection and ranging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(LIDAR) and </a:t>
            </a:r>
            <a:r>
              <a:rPr sz="1200" dirty="0">
                <a:latin typeface="Times New Roman"/>
                <a:cs typeface="Times New Roman"/>
              </a:rPr>
              <a:t>vision data. </a:t>
            </a:r>
            <a:r>
              <a:rPr sz="1200" spc="-5" dirty="0">
                <a:latin typeface="Times New Roman"/>
                <a:cs typeface="Times New Roman"/>
              </a:rPr>
              <a:t>Our system uses </a:t>
            </a:r>
            <a:r>
              <a:rPr sz="1200" dirty="0">
                <a:latin typeface="Times New Roman"/>
                <a:cs typeface="Times New Roman"/>
              </a:rPr>
              <a:t>a multisensory scheme to cover the most </a:t>
            </a:r>
            <a:r>
              <a:rPr sz="1200" spc="-5" dirty="0">
                <a:latin typeface="Times New Roman"/>
                <a:cs typeface="Times New Roman"/>
              </a:rPr>
              <a:t>drivable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areas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front </a:t>
            </a:r>
            <a:r>
              <a:rPr sz="1200" dirty="0">
                <a:latin typeface="Times New Roman"/>
                <a:cs typeface="Times New Roman"/>
              </a:rPr>
              <a:t>of a vehicle. We </a:t>
            </a:r>
            <a:r>
              <a:rPr sz="1200" spc="-5" dirty="0">
                <a:latin typeface="Times New Roman"/>
                <a:cs typeface="Times New Roman"/>
              </a:rPr>
              <a:t>propose </a:t>
            </a:r>
            <a:r>
              <a:rPr sz="1200" dirty="0">
                <a:latin typeface="Times New Roman"/>
                <a:cs typeface="Times New Roman"/>
              </a:rPr>
              <a:t>a feature-level fusion method for the </a:t>
            </a:r>
            <a:r>
              <a:rPr sz="1200" spc="-10" dirty="0">
                <a:latin typeface="Times New Roman"/>
                <a:cs typeface="Times New Roman"/>
              </a:rPr>
              <a:t>LIDAR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vision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 and an </a:t>
            </a:r>
            <a:r>
              <a:rPr sz="1200" dirty="0">
                <a:latin typeface="Times New Roman"/>
                <a:cs typeface="Times New Roman"/>
              </a:rPr>
              <a:t>optimal </a:t>
            </a:r>
            <a:r>
              <a:rPr sz="1200" spc="-5" dirty="0">
                <a:latin typeface="Times New Roman"/>
                <a:cs typeface="Times New Roman"/>
              </a:rPr>
              <a:t>selection </a:t>
            </a:r>
            <a:r>
              <a:rPr sz="1200" dirty="0">
                <a:latin typeface="Times New Roman"/>
                <a:cs typeface="Times New Roman"/>
              </a:rPr>
              <a:t>strategy for </a:t>
            </a:r>
            <a:r>
              <a:rPr sz="1200" spc="-5" dirty="0">
                <a:latin typeface="Times New Roman"/>
                <a:cs typeface="Times New Roman"/>
              </a:rPr>
              <a:t>detecting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best </a:t>
            </a:r>
            <a:r>
              <a:rPr sz="1200" dirty="0">
                <a:latin typeface="Times New Roman"/>
                <a:cs typeface="Times New Roman"/>
              </a:rPr>
              <a:t>drivable </a:t>
            </a:r>
            <a:r>
              <a:rPr sz="1200" spc="-5" dirty="0">
                <a:latin typeface="Times New Roman"/>
                <a:cs typeface="Times New Roman"/>
              </a:rPr>
              <a:t>region. Then,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conditional </a:t>
            </a:r>
            <a:r>
              <a:rPr sz="1200" dirty="0">
                <a:latin typeface="Times New Roman"/>
                <a:cs typeface="Times New Roman"/>
              </a:rPr>
              <a:t> lane </a:t>
            </a:r>
            <a:r>
              <a:rPr sz="1200" spc="-5" dirty="0">
                <a:latin typeface="Times New Roman"/>
                <a:cs typeface="Times New Roman"/>
              </a:rPr>
              <a:t>detection algorithm is </a:t>
            </a:r>
            <a:r>
              <a:rPr sz="1200" dirty="0">
                <a:latin typeface="Times New Roman"/>
                <a:cs typeface="Times New Roman"/>
              </a:rPr>
              <a:t>selectively </a:t>
            </a:r>
            <a:r>
              <a:rPr sz="1200" spc="-5" dirty="0">
                <a:latin typeface="Times New Roman"/>
                <a:cs typeface="Times New Roman"/>
              </a:rPr>
              <a:t>executed </a:t>
            </a:r>
            <a:r>
              <a:rPr sz="1200" dirty="0">
                <a:latin typeface="Times New Roman"/>
                <a:cs typeface="Times New Roman"/>
              </a:rPr>
              <a:t>depending on the automatic </a:t>
            </a:r>
            <a:r>
              <a:rPr sz="1200" spc="-5" dirty="0">
                <a:latin typeface="Times New Roman"/>
                <a:cs typeface="Times New Roman"/>
              </a:rPr>
              <a:t>classification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optimal </a:t>
            </a:r>
            <a:r>
              <a:rPr sz="1200" spc="-5" dirty="0">
                <a:latin typeface="Times New Roman"/>
                <a:cs typeface="Times New Roman"/>
              </a:rPr>
              <a:t>drivable region. Our system </a:t>
            </a:r>
            <a:r>
              <a:rPr sz="1200" dirty="0">
                <a:latin typeface="Times New Roman"/>
                <a:cs typeface="Times New Roman"/>
              </a:rPr>
              <a:t>successfully </a:t>
            </a:r>
            <a:r>
              <a:rPr sz="1200" spc="-5" dirty="0">
                <a:latin typeface="Times New Roman"/>
                <a:cs typeface="Times New Roman"/>
              </a:rPr>
              <a:t>handles </a:t>
            </a:r>
            <a:r>
              <a:rPr sz="1200" dirty="0">
                <a:latin typeface="Times New Roman"/>
                <a:cs typeface="Times New Roman"/>
              </a:rPr>
              <a:t>both </a:t>
            </a:r>
            <a:r>
              <a:rPr sz="1200" spc="-5" dirty="0">
                <a:latin typeface="Times New Roman"/>
                <a:cs typeface="Times New Roman"/>
              </a:rPr>
              <a:t>structured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5" dirty="0">
                <a:latin typeface="Times New Roman"/>
                <a:cs typeface="Times New Roman"/>
              </a:rPr>
              <a:t>unstructured roads. 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results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several experiments are provided </a:t>
            </a:r>
            <a:r>
              <a:rPr sz="1200" spc="5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demonstrate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reliability, effectiveness, 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robustness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366"/>
            <a:ext cx="7727875" cy="30376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Title: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Real-time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lane</a:t>
            </a:r>
            <a:r>
              <a:rPr sz="1200" spc="-5" dirty="0">
                <a:latin typeface="Times New Roman"/>
                <a:cs typeface="Times New Roman"/>
              </a:rPr>
              <a:t> markers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urban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streets.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uthor: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l</a:t>
            </a:r>
            <a:r>
              <a:rPr sz="1200" dirty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Year: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2008.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900"/>
              </a:lnSpc>
              <a:spcBef>
                <a:spcPts val="1095"/>
              </a:spcBef>
            </a:pP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We</a:t>
            </a:r>
            <a:r>
              <a:rPr sz="12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present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</a:t>
            </a:r>
            <a:r>
              <a:rPr sz="12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robust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real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time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approach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</a:t>
            </a:r>
            <a:r>
              <a:rPr sz="12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marker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urban</a:t>
            </a:r>
            <a:r>
              <a:rPr sz="1200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streets.</a:t>
            </a:r>
            <a:r>
              <a:rPr sz="1200" spc="7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It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6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based </a:t>
            </a:r>
            <a:r>
              <a:rPr sz="1200" spc="-2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generating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 top view of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road, filtering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selective oriented Gaussian filters,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using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RANSAC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line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fitting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give initial guesses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 a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new and fast RANSAC algorithm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for fitting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Bezier Splines, which is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followed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by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 post-processing step.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Our algorithm can detect all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lanes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 still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images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street in various conditions, while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operating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at a rate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50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Hz and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achieving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comparable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results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to previous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techniques.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4010"/>
            <a:ext cx="7725410" cy="4367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Title: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Gradient-enhancing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conversion </a:t>
            </a:r>
            <a:r>
              <a:rPr sz="1200" spc="-5" dirty="0">
                <a:latin typeface="Times New Roman"/>
                <a:cs typeface="Times New Roman"/>
              </a:rPr>
              <a:t>for</a:t>
            </a:r>
            <a:r>
              <a:rPr sz="1200" dirty="0">
                <a:latin typeface="Times New Roman"/>
                <a:cs typeface="Times New Roman"/>
              </a:rPr>
              <a:t> illumination-robust lane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40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uthor: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oo, </a:t>
            </a:r>
            <a:r>
              <a:rPr sz="1200" spc="-5" dirty="0">
                <a:latin typeface="Times New Roman"/>
                <a:cs typeface="Times New Roman"/>
              </a:rPr>
              <a:t>U.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K.</a:t>
            </a:r>
            <a:r>
              <a:rPr sz="1200" dirty="0">
                <a:latin typeface="Times New Roman"/>
                <a:cs typeface="Times New Roman"/>
              </a:rPr>
              <a:t> Sohn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Year: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2013.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5"/>
              </a:spcBef>
            </a:pP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Lane detection is important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 many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advanced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driver-assistance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systems (ADAS). Vision-based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lane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algorithms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are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widely used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and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generally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use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gradient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information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as</a:t>
            </a:r>
            <a:r>
              <a:rPr sz="1200" spc="2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 lane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feature. However, gradient values between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lanes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and roads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vary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 illumination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change,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which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degrades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the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performance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of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systems.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this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paper,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we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propose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a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gradient- </a:t>
            </a:r>
            <a:r>
              <a:rPr sz="1200" spc="-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enhancing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conversion method for illumination-robust lane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detection. Our proposed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gradient-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enhancing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conversion method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produces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 new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gray-level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image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from an RGB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color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image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based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linear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discriminant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analysis.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converted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images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have</a:t>
            </a:r>
            <a:r>
              <a:rPr sz="1200" spc="1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large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gradients</a:t>
            </a:r>
            <a:r>
              <a:rPr sz="1200" spc="14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at</a:t>
            </a:r>
            <a:r>
              <a:rPr sz="1200" spc="13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</a:t>
            </a:r>
            <a:r>
              <a:rPr sz="1200" spc="1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boundaries. </a:t>
            </a:r>
            <a:r>
              <a:rPr sz="1200" spc="-29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deal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with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illumination changes,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gray-level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conversion vector is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dynamically updated.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 addition, we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propose a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novel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algorithm,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which uses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proposed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conversion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method,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adaptive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Canny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edge detector, Hough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transform,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and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LANE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model fitting method. We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performed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several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experiments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in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various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illumination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environments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and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confirmed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that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28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gradient is maximized at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boundaries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on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road.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 rate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proposed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lane 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algorithm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averages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96%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 and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is</a:t>
            </a:r>
            <a:r>
              <a:rPr sz="120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greater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than 93% in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very</a:t>
            </a:r>
            <a:r>
              <a:rPr sz="1200" spc="-2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poor</a:t>
            </a:r>
            <a:r>
              <a:rPr sz="1200" spc="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environments.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7725410" cy="3303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Title: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based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B-Spline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fitting.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uthor: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Calibri"/>
                <a:cs typeface="Calibri"/>
              </a:rPr>
              <a:t>J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5" dirty="0">
                <a:latin typeface="Times New Roman"/>
                <a:cs typeface="Times New Roman"/>
              </a:rPr>
              <a:t>J</a:t>
            </a: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5" dirty="0">
                <a:latin typeface="Times New Roman"/>
                <a:cs typeface="Times New Roman"/>
              </a:rPr>
              <a:t>K</a:t>
            </a:r>
            <a:r>
              <a:rPr sz="1200" spc="-20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m, </a:t>
            </a:r>
            <a:r>
              <a:rPr sz="1200" spc="-5" dirty="0">
                <a:latin typeface="Times New Roman"/>
                <a:cs typeface="Times New Roman"/>
              </a:rPr>
              <a:t>H.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in, and </a:t>
            </a:r>
            <a:r>
              <a:rPr sz="1200" spc="-5" dirty="0">
                <a:latin typeface="Times New Roman"/>
                <a:cs typeface="Times New Roman"/>
              </a:rPr>
              <a:t>Y.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Year: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2013.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5"/>
              </a:spcBef>
            </a:pP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 new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structure road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detection algorithm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based on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open uniform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B-spline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LANE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model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proposed. Firstly,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Canny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edge detection algorithm is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used 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extract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road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edge.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Then road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markings are gotten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from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edge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map 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by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least square method.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Lastly,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road model 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(B- </a:t>
            </a:r>
            <a:r>
              <a:rPr sz="1200" spc="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spline model)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fitted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after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central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points of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road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are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gotten from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lane markings. </a:t>
            </a:r>
            <a:r>
              <a:rPr sz="1200" spc="-10" dirty="0">
                <a:solidFill>
                  <a:srgbClr val="333333"/>
                </a:solidFill>
                <a:latin typeface="Times New Roman"/>
                <a:cs typeface="Times New Roman"/>
              </a:rPr>
              <a:t>In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 order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accurate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position of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road bend,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algorithm introduces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maximum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deviation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of position shift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(MDPS)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method 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search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control points.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 large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number of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experiments show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that 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algorithm is fast, stable, and flexible. </a:t>
            </a:r>
            <a:r>
              <a:rPr sz="1200" spc="-15" dirty="0">
                <a:solidFill>
                  <a:srgbClr val="333333"/>
                </a:solidFill>
                <a:latin typeface="Times New Roman"/>
                <a:cs typeface="Times New Roman"/>
              </a:rPr>
              <a:t>It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is able </a:t>
            </a:r>
            <a:r>
              <a:rPr sz="1200" spc="10" dirty="0">
                <a:solidFill>
                  <a:srgbClr val="333333"/>
                </a:solidFill>
                <a:latin typeface="Times New Roman"/>
                <a:cs typeface="Times New Roman"/>
              </a:rPr>
              <a:t>to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meet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requirements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of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intelligent </a:t>
            </a:r>
            <a:r>
              <a:rPr sz="120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Times New Roman"/>
                <a:cs typeface="Times New Roman"/>
              </a:rPr>
              <a:t>navigation.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341" y="3160684"/>
            <a:ext cx="197224" cy="1072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342" y="3379457"/>
            <a:ext cx="163531" cy="911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342" y="3581650"/>
            <a:ext cx="163531" cy="915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7300" y="923070"/>
            <a:ext cx="7727054" cy="3100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Proposed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340"/>
              </a:spcBef>
            </a:pP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this paper, </a:t>
            </a:r>
            <a:r>
              <a:rPr sz="1200" dirty="0">
                <a:latin typeface="Times New Roman"/>
                <a:cs typeface="Times New Roman"/>
              </a:rPr>
              <a:t>we </a:t>
            </a:r>
            <a:r>
              <a:rPr sz="1200" spc="-5" dirty="0">
                <a:latin typeface="Times New Roman"/>
                <a:cs typeface="Times New Roman"/>
              </a:rPr>
              <a:t>introduced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computer </a:t>
            </a:r>
            <a:r>
              <a:rPr sz="1200" dirty="0">
                <a:latin typeface="Times New Roman"/>
                <a:cs typeface="Times New Roman"/>
              </a:rPr>
              <a:t>vision-based </a:t>
            </a:r>
            <a:r>
              <a:rPr sz="1200" spc="-5" dirty="0">
                <a:latin typeface="Times New Roman"/>
                <a:cs typeface="Times New Roman"/>
              </a:rPr>
              <a:t>techniques </a:t>
            </a:r>
            <a:r>
              <a:rPr sz="1200" dirty="0">
                <a:latin typeface="Times New Roman"/>
                <a:cs typeface="Times New Roman"/>
              </a:rPr>
              <a:t>that can efficiently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lanes </a:t>
            </a:r>
            <a:r>
              <a:rPr sz="1200" dirty="0">
                <a:latin typeface="Times New Roman"/>
                <a:cs typeface="Times New Roman"/>
              </a:rPr>
              <a:t>in any </a:t>
            </a:r>
            <a:r>
              <a:rPr sz="1200" spc="-5" dirty="0">
                <a:latin typeface="Times New Roman"/>
                <a:cs typeface="Times New Roman"/>
              </a:rPr>
              <a:t>ambient </a:t>
            </a:r>
            <a:r>
              <a:rPr sz="1200" dirty="0">
                <a:latin typeface="Times New Roman"/>
                <a:cs typeface="Times New Roman"/>
              </a:rPr>
              <a:t>environment. We </a:t>
            </a:r>
            <a:r>
              <a:rPr sz="1200" spc="-5" dirty="0">
                <a:latin typeface="Times New Roman"/>
                <a:cs typeface="Times New Roman"/>
              </a:rPr>
              <a:t>have </a:t>
            </a:r>
            <a:r>
              <a:rPr sz="1200" dirty="0">
                <a:latin typeface="Times New Roman"/>
                <a:cs typeface="Times New Roman"/>
              </a:rPr>
              <a:t>mainly used </a:t>
            </a:r>
            <a:r>
              <a:rPr sz="1200" spc="-5" dirty="0">
                <a:latin typeface="Times New Roman"/>
                <a:cs typeface="Times New Roman"/>
              </a:rPr>
              <a:t>gradient and </a:t>
            </a:r>
            <a:r>
              <a:rPr sz="1200" dirty="0">
                <a:latin typeface="Times New Roman"/>
                <a:cs typeface="Times New Roman"/>
              </a:rPr>
              <a:t>HLS thresholding for lane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</a:t>
            </a:r>
            <a:r>
              <a:rPr sz="1200" dirty="0">
                <a:latin typeface="Times New Roman"/>
                <a:cs typeface="Times New Roman"/>
              </a:rPr>
              <a:t> proper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perspective</a:t>
            </a:r>
            <a:r>
              <a:rPr sz="1200" dirty="0">
                <a:latin typeface="Times New Roman"/>
                <a:cs typeface="Times New Roman"/>
              </a:rPr>
              <a:t> transform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been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after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thresholding.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4000"/>
              </a:lnSpc>
              <a:spcBef>
                <a:spcPts val="99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remaining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prepared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Section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II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on-going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 previous works </a:t>
            </a:r>
            <a:r>
              <a:rPr sz="1200" dirty="0">
                <a:latin typeface="Times New Roman"/>
                <a:cs typeface="Times New Roman"/>
              </a:rPr>
              <a:t>that have been </a:t>
            </a:r>
            <a:r>
              <a:rPr sz="1200" spc="-5" dirty="0">
                <a:latin typeface="Times New Roman"/>
                <a:cs typeface="Times New Roman"/>
              </a:rPr>
              <a:t>continued </a:t>
            </a:r>
            <a:r>
              <a:rPr sz="1200" dirty="0">
                <a:latin typeface="Times New Roman"/>
                <a:cs typeface="Times New Roman"/>
              </a:rPr>
              <a:t>in this prominent </a:t>
            </a:r>
            <a:r>
              <a:rPr sz="1200" spc="-5" dirty="0">
                <a:latin typeface="Times New Roman"/>
                <a:cs typeface="Times New Roman"/>
              </a:rPr>
              <a:t>area. </a:t>
            </a:r>
            <a:r>
              <a:rPr sz="1200" dirty="0">
                <a:latin typeface="Times New Roman"/>
                <a:cs typeface="Times New Roman"/>
              </a:rPr>
              <a:t>The proposed lane </a:t>
            </a:r>
            <a:r>
              <a:rPr sz="1200" spc="-5" dirty="0">
                <a:latin typeface="Times New Roman"/>
                <a:cs typeface="Times New Roman"/>
              </a:rPr>
              <a:t>detection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 </a:t>
            </a:r>
            <a:r>
              <a:rPr sz="1200" dirty="0">
                <a:latin typeface="Times New Roman"/>
                <a:cs typeface="Times New Roman"/>
              </a:rPr>
              <a:t>with proper explanation </a:t>
            </a:r>
            <a:r>
              <a:rPr sz="1200" spc="-5" dirty="0">
                <a:latin typeface="Times New Roman"/>
                <a:cs typeface="Times New Roman"/>
              </a:rPr>
              <a:t>is illustrated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Section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III.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experimental results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5" dirty="0">
                <a:latin typeface="Times New Roman"/>
                <a:cs typeface="Times New Roman"/>
              </a:rPr>
              <a:t> and</a:t>
            </a:r>
            <a:r>
              <a:rPr sz="1200" dirty="0">
                <a:latin typeface="Times New Roman"/>
                <a:cs typeface="Times New Roman"/>
              </a:rPr>
              <a:t> output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depicted in </a:t>
            </a:r>
            <a:r>
              <a:rPr sz="1200" spc="-5" dirty="0">
                <a:latin typeface="Times New Roman"/>
                <a:cs typeface="Times New Roman"/>
              </a:rPr>
              <a:t>Section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IV.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Times New Roman"/>
                <a:cs typeface="Times New Roman"/>
              </a:rPr>
              <a:t>ADVANTAGES</a:t>
            </a:r>
            <a:endParaRPr sz="1200">
              <a:latin typeface="Times New Roman"/>
              <a:cs typeface="Times New Roman"/>
            </a:endParaRPr>
          </a:p>
          <a:p>
            <a:pPr marL="241300" marR="2800350">
              <a:lnSpc>
                <a:spcPct val="143300"/>
              </a:lnSpc>
              <a:spcBef>
                <a:spcPts val="300"/>
              </a:spcBef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increases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contrast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eliminate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noise.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effective.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Less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Implement.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871961"/>
            <a:ext cx="5434330" cy="3202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9270" marR="5080" indent="580390">
              <a:lnSpc>
                <a:spcPct val="144400"/>
              </a:lnSpc>
              <a:spcBef>
                <a:spcPts val="100"/>
              </a:spcBef>
              <a:tabLst>
                <a:tab pos="3503929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CHAPTER	2 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PROJECT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DESCRIPTION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280670" lvl="1" indent="-26860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METHODOLOGIES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500">
              <a:latin typeface="Times New Roman"/>
              <a:cs typeface="Times New Roman"/>
            </a:endParaRPr>
          </a:p>
          <a:p>
            <a:pPr marL="352425" lvl="2" indent="-340360">
              <a:lnSpc>
                <a:spcPct val="100000"/>
              </a:lnSpc>
              <a:spcBef>
                <a:spcPts val="5"/>
              </a:spcBef>
              <a:buClr>
                <a:srgbClr val="221F1F"/>
              </a:buClr>
              <a:buAutoNum type="arabicPeriod"/>
              <a:tabLst>
                <a:tab pos="35306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MODULES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NAME: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65100" algn="l"/>
              </a:tabLst>
            </a:pPr>
            <a:r>
              <a:rPr sz="1200" spc="-5" dirty="0">
                <a:latin typeface="Times New Roman"/>
                <a:cs typeface="Times New Roman"/>
              </a:rPr>
              <a:t>Preprocessing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165100" algn="l"/>
              </a:tabLst>
            </a:pPr>
            <a:r>
              <a:rPr sz="1200" spc="-5" dirty="0">
                <a:latin typeface="Times New Roman"/>
                <a:cs typeface="Times New Roman"/>
              </a:rPr>
              <a:t>Cropped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165100" algn="l"/>
              </a:tabLst>
            </a:pPr>
            <a:r>
              <a:rPr sz="1200" spc="-5" dirty="0">
                <a:latin typeface="Times New Roman"/>
                <a:cs typeface="Times New Roman"/>
              </a:rPr>
              <a:t>Thresholding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165100" algn="l"/>
              </a:tabLst>
            </a:pPr>
            <a:r>
              <a:rPr sz="1200" spc="-5" dirty="0">
                <a:latin typeface="Times New Roman"/>
                <a:cs typeface="Times New Roman"/>
              </a:rPr>
              <a:t>Perspective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Transform</a:t>
            </a: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Sliding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Search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7723766" cy="29514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Preprocessing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45"/>
              </a:spcBef>
            </a:pPr>
            <a:r>
              <a:rPr sz="1200" spc="-5" dirty="0">
                <a:latin typeface="Times New Roman"/>
                <a:cs typeface="Times New Roman"/>
              </a:rPr>
              <a:t>Preprocessing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stage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significant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characteristic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lines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marking.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purpose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preprocessing is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increase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contrast, eliminate </a:t>
            </a:r>
            <a:r>
              <a:rPr sz="1200" dirty="0">
                <a:latin typeface="Times New Roman"/>
                <a:cs typeface="Times New Roman"/>
              </a:rPr>
              <a:t>the noise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generate an edge </a:t>
            </a:r>
            <a:r>
              <a:rPr sz="1200" dirty="0">
                <a:latin typeface="Times New Roman"/>
                <a:cs typeface="Times New Roman"/>
              </a:rPr>
              <a:t>image for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corresponding </a:t>
            </a:r>
            <a:r>
              <a:rPr sz="1200" dirty="0">
                <a:latin typeface="Times New Roman"/>
                <a:cs typeface="Times New Roman"/>
              </a:rPr>
              <a:t>input </a:t>
            </a:r>
            <a:r>
              <a:rPr sz="1200" spc="-5" dirty="0">
                <a:latin typeface="Times New Roman"/>
                <a:cs typeface="Times New Roman"/>
              </a:rPr>
              <a:t>image. </a:t>
            </a: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stage, </a:t>
            </a:r>
            <a:r>
              <a:rPr sz="1200" dirty="0">
                <a:latin typeface="Times New Roman"/>
                <a:cs typeface="Times New Roman"/>
              </a:rPr>
              <a:t>the images are undistorted </a:t>
            </a:r>
            <a:r>
              <a:rPr sz="1200" spc="-5" dirty="0">
                <a:latin typeface="Times New Roman"/>
                <a:cs typeface="Times New Roman"/>
              </a:rPr>
              <a:t>so </a:t>
            </a:r>
            <a:r>
              <a:rPr sz="1200" dirty="0">
                <a:latin typeface="Times New Roman"/>
                <a:cs typeface="Times New Roman"/>
              </a:rPr>
              <a:t>that it </a:t>
            </a:r>
            <a:r>
              <a:rPr sz="1200" spc="-5" dirty="0">
                <a:latin typeface="Times New Roman"/>
                <a:cs typeface="Times New Roman"/>
              </a:rPr>
              <a:t>will restore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straightness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lines, </a:t>
            </a:r>
            <a:r>
              <a:rPr sz="1200" dirty="0">
                <a:latin typeface="Times New Roman"/>
                <a:cs typeface="Times New Roman"/>
              </a:rPr>
              <a:t>helping to identify lane lines. The </a:t>
            </a:r>
            <a:r>
              <a:rPr sz="1200" spc="-5" dirty="0">
                <a:latin typeface="Times New Roman"/>
                <a:cs typeface="Times New Roman"/>
              </a:rPr>
              <a:t>variation between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distorted (original)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undistorted images is clear.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LANEd </a:t>
            </a:r>
            <a:r>
              <a:rPr sz="1200" dirty="0">
                <a:latin typeface="Times New Roman"/>
                <a:cs typeface="Times New Roman"/>
              </a:rPr>
              <a:t>lines are now </a:t>
            </a:r>
            <a:r>
              <a:rPr sz="1200" spc="-5" dirty="0">
                <a:latin typeface="Times New Roman"/>
                <a:cs typeface="Times New Roman"/>
              </a:rPr>
              <a:t>straight.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camera </a:t>
            </a:r>
            <a:r>
              <a:rPr sz="1200" dirty="0">
                <a:latin typeface="Times New Roman"/>
                <a:cs typeface="Times New Roman"/>
              </a:rPr>
              <a:t>matrix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distortion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coefficients</a:t>
            </a:r>
            <a:r>
              <a:rPr sz="1200" dirty="0">
                <a:latin typeface="Times New Roman"/>
                <a:cs typeface="Times New Roman"/>
              </a:rPr>
              <a:t> using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chessboard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calculated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OpenCV.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Here,</a:t>
            </a:r>
            <a:r>
              <a:rPr sz="1200" dirty="0">
                <a:latin typeface="Times New Roman"/>
                <a:cs typeface="Times New Roman"/>
              </a:rPr>
              <a:t> 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accomplished </a:t>
            </a:r>
            <a:r>
              <a:rPr sz="1200" spc="10" dirty="0">
                <a:latin typeface="Times New Roman"/>
                <a:cs typeface="Times New Roman"/>
              </a:rPr>
              <a:t>by </a:t>
            </a:r>
            <a:r>
              <a:rPr sz="1200" spc="-5" dirty="0">
                <a:latin typeface="Times New Roman"/>
                <a:cs typeface="Times New Roman"/>
              </a:rPr>
              <a:t>gaining </a:t>
            </a:r>
            <a:r>
              <a:rPr sz="1200" dirty="0">
                <a:latin typeface="Times New Roman"/>
                <a:cs typeface="Times New Roman"/>
              </a:rPr>
              <a:t>the inside </a:t>
            </a:r>
            <a:r>
              <a:rPr sz="1200" spc="-5" dirty="0">
                <a:latin typeface="Times New Roman"/>
                <a:cs typeface="Times New Roman"/>
              </a:rPr>
              <a:t>corners </a:t>
            </a:r>
            <a:r>
              <a:rPr sz="1200" dirty="0">
                <a:latin typeface="Times New Roman"/>
                <a:cs typeface="Times New Roman"/>
              </a:rPr>
              <a:t>within </a:t>
            </a:r>
            <a:r>
              <a:rPr sz="1200" spc="-5" dirty="0">
                <a:latin typeface="Times New Roman"/>
                <a:cs typeface="Times New Roman"/>
              </a:rPr>
              <a:t>an image and utilizing </a:t>
            </a:r>
            <a:r>
              <a:rPr sz="1200" dirty="0">
                <a:latin typeface="Times New Roman"/>
                <a:cs typeface="Times New Roman"/>
              </a:rPr>
              <a:t>that information 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undistort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image.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foregoing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concerns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coordinates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2D</a:t>
            </a:r>
            <a:r>
              <a:rPr sz="1200" dirty="0">
                <a:latin typeface="Times New Roman"/>
                <a:cs typeface="Times New Roman"/>
              </a:rPr>
              <a:t> mapping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contemporary </a:t>
            </a:r>
            <a:r>
              <a:rPr sz="1200" spc="-5" dirty="0">
                <a:latin typeface="Times New Roman"/>
                <a:cs typeface="Times New Roman"/>
              </a:rPr>
              <a:t>represents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real-world coordinates </a:t>
            </a:r>
            <a:r>
              <a:rPr sz="1200" dirty="0">
                <a:latin typeface="Times New Roman"/>
                <a:cs typeface="Times New Roman"/>
              </a:rPr>
              <a:t>of those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points in </a:t>
            </a:r>
            <a:r>
              <a:rPr sz="1200" spc="-5" dirty="0">
                <a:latin typeface="Times New Roman"/>
                <a:cs typeface="Times New Roman"/>
              </a:rPr>
              <a:t>3D space (with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z-axis, or </a:t>
            </a:r>
            <a:r>
              <a:rPr sz="1200" spc="-5" dirty="0">
                <a:latin typeface="Times New Roman"/>
                <a:cs typeface="Times New Roman"/>
              </a:rPr>
              <a:t>depth </a:t>
            </a:r>
            <a:r>
              <a:rPr sz="1200" dirty="0">
                <a:latin typeface="Times New Roman"/>
                <a:cs typeface="Times New Roman"/>
              </a:rPr>
              <a:t>= 0 for our </a:t>
            </a:r>
            <a:r>
              <a:rPr sz="1200" spc="-5" dirty="0">
                <a:latin typeface="Times New Roman"/>
                <a:cs typeface="Times New Roman"/>
              </a:rPr>
              <a:t>chessboard images). </a:t>
            </a:r>
            <a:r>
              <a:rPr sz="1200" dirty="0">
                <a:latin typeface="Times New Roman"/>
                <a:cs typeface="Times New Roman"/>
              </a:rPr>
              <a:t>Those </a:t>
            </a:r>
            <a:r>
              <a:rPr sz="1200" spc="-5" dirty="0">
                <a:latin typeface="Times New Roman"/>
                <a:cs typeface="Times New Roman"/>
              </a:rPr>
              <a:t>mappings facilitate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attain </a:t>
            </a:r>
            <a:r>
              <a:rPr sz="1200" dirty="0">
                <a:latin typeface="Times New Roman"/>
                <a:cs typeface="Times New Roman"/>
              </a:rPr>
              <a:t>out how 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accurately </a:t>
            </a:r>
            <a:r>
              <a:rPr sz="1200" spc="-5" dirty="0">
                <a:latin typeface="Times New Roman"/>
                <a:cs typeface="Times New Roman"/>
              </a:rPr>
              <a:t>eliminate distortion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images.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preprocessing </a:t>
            </a:r>
            <a:r>
              <a:rPr sz="1200" dirty="0">
                <a:latin typeface="Times New Roman"/>
                <a:cs typeface="Times New Roman"/>
              </a:rPr>
              <a:t>steps with input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for the lane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illustrated in </a:t>
            </a:r>
            <a:r>
              <a:rPr sz="1200" spc="-5" dirty="0">
                <a:latin typeface="Times New Roman"/>
                <a:cs typeface="Times New Roman"/>
              </a:rPr>
              <a:t>Fig.</a:t>
            </a:r>
            <a:r>
              <a:rPr sz="1200" dirty="0">
                <a:latin typeface="Times New Roman"/>
                <a:cs typeface="Times New Roman"/>
              </a:rPr>
              <a:t> 2.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Fig.</a:t>
            </a:r>
            <a:r>
              <a:rPr sz="1200" dirty="0">
                <a:latin typeface="Times New Roman"/>
                <a:cs typeface="Times New Roman"/>
              </a:rPr>
              <a:t> 2, it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seen that the </a:t>
            </a:r>
            <a:r>
              <a:rPr sz="1200" spc="-5" dirty="0">
                <a:latin typeface="Times New Roman"/>
                <a:cs typeface="Times New Roman"/>
              </a:rPr>
              <a:t>undistorted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brighter </a:t>
            </a:r>
            <a:r>
              <a:rPr sz="1200" spc="-5" dirty="0">
                <a:latin typeface="Times New Roman"/>
                <a:cs typeface="Times New Roman"/>
              </a:rPr>
              <a:t>than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original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it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noise </a:t>
            </a:r>
            <a:r>
              <a:rPr sz="1200" spc="-5" dirty="0">
                <a:latin typeface="Times New Roman"/>
                <a:cs typeface="Times New Roman"/>
              </a:rPr>
              <a:t>free.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7725410" cy="6117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8435" algn="just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91135" algn="l"/>
              </a:tabLst>
            </a:pPr>
            <a:r>
              <a:rPr sz="1400" b="1" dirty="0">
                <a:latin typeface="Times New Roman"/>
                <a:cs typeface="Times New Roman"/>
              </a:rPr>
              <a:t>Cropped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Image</a:t>
            </a:r>
            <a:endParaRPr sz="1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700"/>
              </a:lnSpc>
              <a:spcBef>
                <a:spcPts val="545"/>
              </a:spcBef>
            </a:pPr>
            <a:r>
              <a:rPr sz="1200" dirty="0">
                <a:latin typeface="Times New Roman"/>
                <a:cs typeface="Times New Roman"/>
              </a:rPr>
              <a:t>Cropping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procedure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eliminate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unwanted region </a:t>
            </a:r>
            <a:r>
              <a:rPr sz="1200" dirty="0">
                <a:latin typeface="Times New Roman"/>
                <a:cs typeface="Times New Roman"/>
              </a:rPr>
              <a:t>from a </a:t>
            </a:r>
            <a:r>
              <a:rPr sz="1200" spc="-5" dirty="0">
                <a:latin typeface="Times New Roman"/>
                <a:cs typeface="Times New Roman"/>
              </a:rPr>
              <a:t>particular image.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During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determination </a:t>
            </a:r>
            <a:r>
              <a:rPr sz="1200" dirty="0">
                <a:latin typeface="Times New Roman"/>
                <a:cs typeface="Times New Roman"/>
              </a:rPr>
              <a:t>of lane </a:t>
            </a:r>
            <a:r>
              <a:rPr sz="1200" spc="-5" dirty="0">
                <a:latin typeface="Times New Roman"/>
                <a:cs typeface="Times New Roman"/>
              </a:rPr>
              <a:t>lines, we </a:t>
            </a:r>
            <a:r>
              <a:rPr sz="1200" dirty="0">
                <a:latin typeface="Times New Roman"/>
                <a:cs typeface="Times New Roman"/>
              </a:rPr>
              <a:t>only need to </a:t>
            </a:r>
            <a:r>
              <a:rPr sz="1200" spc="-5" dirty="0">
                <a:latin typeface="Times New Roman"/>
                <a:cs typeface="Times New Roman"/>
              </a:rPr>
              <a:t>focus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regions where we </a:t>
            </a:r>
            <a:r>
              <a:rPr sz="1200" dirty="0">
                <a:latin typeface="Times New Roman"/>
                <a:cs typeface="Times New Roman"/>
              </a:rPr>
              <a:t>are likely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see </a:t>
            </a:r>
            <a:r>
              <a:rPr sz="1200" dirty="0">
                <a:latin typeface="Times New Roman"/>
                <a:cs typeface="Times New Roman"/>
              </a:rPr>
              <a:t>the lanes. </a:t>
            </a:r>
            <a:r>
              <a:rPr sz="1200" spc="-5" dirty="0">
                <a:latin typeface="Times New Roman"/>
                <a:cs typeface="Times New Roman"/>
              </a:rPr>
              <a:t>For this reason, </a:t>
            </a:r>
            <a:r>
              <a:rPr sz="1200" dirty="0">
                <a:latin typeface="Times New Roman"/>
                <a:cs typeface="Times New Roman"/>
              </a:rPr>
              <a:t>the cropping operation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spc="5" dirty="0">
                <a:latin typeface="Times New Roman"/>
                <a:cs typeface="Times New Roman"/>
              </a:rPr>
              <a:t>done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performing the </a:t>
            </a:r>
            <a:r>
              <a:rPr sz="1200" spc="-5" dirty="0">
                <a:latin typeface="Times New Roman"/>
                <a:cs typeface="Times New Roman"/>
              </a:rPr>
              <a:t>further </a:t>
            </a:r>
            <a:r>
              <a:rPr sz="1200" dirty="0">
                <a:latin typeface="Times New Roman"/>
                <a:cs typeface="Times New Roman"/>
              </a:rPr>
              <a:t>image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processing </a:t>
            </a:r>
            <a:r>
              <a:rPr sz="1200" spc="5" dirty="0">
                <a:latin typeface="Times New Roman"/>
                <a:cs typeface="Times New Roman"/>
              </a:rPr>
              <a:t>only </a:t>
            </a:r>
            <a:r>
              <a:rPr sz="1200" dirty="0">
                <a:latin typeface="Times New Roman"/>
                <a:cs typeface="Times New Roman"/>
              </a:rPr>
              <a:t>in the </a:t>
            </a:r>
            <a:r>
              <a:rPr sz="1200" spc="-5" dirty="0">
                <a:latin typeface="Times New Roman"/>
                <a:cs typeface="Times New Roman"/>
              </a:rPr>
              <a:t>particular areas </a:t>
            </a:r>
            <a:r>
              <a:rPr sz="1200" dirty="0">
                <a:latin typeface="Times New Roman"/>
                <a:cs typeface="Times New Roman"/>
              </a:rPr>
              <a:t>of the image. The </a:t>
            </a:r>
            <a:r>
              <a:rPr sz="1200" spc="-5" dirty="0">
                <a:latin typeface="Times New Roman"/>
                <a:cs typeface="Times New Roman"/>
              </a:rPr>
              <a:t>cropped </a:t>
            </a:r>
            <a:r>
              <a:rPr sz="1200" dirty="0">
                <a:latin typeface="Times New Roman"/>
                <a:cs typeface="Times New Roman"/>
              </a:rPr>
              <a:t>image to </a:t>
            </a:r>
            <a:r>
              <a:rPr sz="1200" spc="-5" dirty="0">
                <a:latin typeface="Times New Roman"/>
                <a:cs typeface="Times New Roman"/>
              </a:rPr>
              <a:t>focus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particular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region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lanes is illustrated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Fig. </a:t>
            </a:r>
            <a:r>
              <a:rPr sz="1200" dirty="0">
                <a:latin typeface="Times New Roman"/>
                <a:cs typeface="Times New Roman"/>
              </a:rPr>
              <a:t>3. We </a:t>
            </a:r>
            <a:r>
              <a:rPr sz="1200" spc="-5" dirty="0">
                <a:latin typeface="Times New Roman"/>
                <a:cs typeface="Times New Roman"/>
              </a:rPr>
              <a:t>have resized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smaller dimensions.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doing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image</a:t>
            </a:r>
            <a:r>
              <a:rPr sz="1200" spc="-5" dirty="0">
                <a:latin typeface="Times New Roman"/>
                <a:cs typeface="Times New Roman"/>
              </a:rPr>
              <a:t> 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faster.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90500" indent="-178435" algn="just">
              <a:lnSpc>
                <a:spcPct val="100000"/>
              </a:lnSpc>
              <a:buAutoNum type="arabicPeriod" startAt="3"/>
              <a:tabLst>
                <a:tab pos="1911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Thresholding</a:t>
            </a:r>
            <a:endParaRPr sz="1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900"/>
              </a:lnSpc>
              <a:spcBef>
                <a:spcPts val="530"/>
              </a:spcBef>
            </a:pPr>
            <a:r>
              <a:rPr sz="1200" spc="-5" dirty="0">
                <a:latin typeface="Times New Roman"/>
                <a:cs typeface="Times New Roman"/>
              </a:rPr>
              <a:t>Thresholding </a:t>
            </a:r>
            <a:r>
              <a:rPr sz="1200" dirty="0">
                <a:latin typeface="Times New Roman"/>
                <a:cs typeface="Times New Roman"/>
              </a:rPr>
              <a:t>[21]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generally used for </a:t>
            </a:r>
            <a:r>
              <a:rPr sz="1200" spc="-5" dirty="0">
                <a:latin typeface="Times New Roman"/>
                <a:cs typeface="Times New Roman"/>
              </a:rPr>
              <a:t>image segmentation. </a:t>
            </a:r>
            <a:r>
              <a:rPr sz="1200" dirty="0">
                <a:latin typeface="Times New Roman"/>
                <a:cs typeface="Times New Roman"/>
              </a:rPr>
              <a:t>This method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kind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 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separates </a:t>
            </a:r>
            <a:r>
              <a:rPr sz="1200" spc="-5" dirty="0">
                <a:latin typeface="Times New Roman"/>
                <a:cs typeface="Times New Roman"/>
              </a:rPr>
              <a:t>objects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by </a:t>
            </a:r>
            <a:r>
              <a:rPr sz="1200" spc="-5" dirty="0">
                <a:latin typeface="Times New Roman"/>
                <a:cs typeface="Times New Roman"/>
              </a:rPr>
              <a:t>altering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grayscale</a:t>
            </a:r>
            <a:r>
              <a:rPr sz="1200" dirty="0">
                <a:latin typeface="Times New Roman"/>
                <a:cs typeface="Times New Roman"/>
              </a:rPr>
              <a:t> images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 </a:t>
            </a:r>
            <a:r>
              <a:rPr sz="1200" spc="-5" dirty="0">
                <a:latin typeface="Times New Roman"/>
                <a:cs typeface="Times New Roman"/>
              </a:rPr>
              <a:t>images.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Image </a:t>
            </a:r>
            <a:r>
              <a:rPr sz="1200" spc="-5" dirty="0">
                <a:latin typeface="Times New Roman"/>
                <a:cs typeface="Times New Roman"/>
              </a:rPr>
              <a:t> thresholding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</a:t>
            </a:r>
            <a:r>
              <a:rPr sz="1200" dirty="0">
                <a:latin typeface="Times New Roman"/>
                <a:cs typeface="Times New Roman"/>
              </a:rPr>
              <a:t> 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appropriate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images</a:t>
            </a:r>
            <a:r>
              <a:rPr sz="1200" dirty="0">
                <a:latin typeface="Times New Roman"/>
                <a:cs typeface="Times New Roman"/>
              </a:rPr>
              <a:t> with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high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stages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contrast.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procedure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 be</a:t>
            </a:r>
            <a:r>
              <a:rPr sz="1200" spc="-5" dirty="0">
                <a:latin typeface="Times New Roman"/>
                <a:cs typeface="Times New Roman"/>
              </a:rPr>
              <a:t> stated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2032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 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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[,</a:t>
            </a:r>
            <a:r>
              <a:rPr sz="1200" spc="-5" dirty="0">
                <a:latin typeface="Times New Roman"/>
                <a:cs typeface="Times New Roman"/>
              </a:rPr>
              <a:t> (,), (,)]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1040"/>
              </a:spcBef>
            </a:pPr>
            <a:r>
              <a:rPr sz="1200" dirty="0">
                <a:latin typeface="Times New Roman"/>
                <a:cs typeface="Times New Roman"/>
              </a:rPr>
              <a:t>Where T </a:t>
            </a:r>
            <a:r>
              <a:rPr sz="1200" spc="-5" dirty="0">
                <a:latin typeface="Times New Roman"/>
                <a:cs typeface="Times New Roman"/>
              </a:rPr>
              <a:t>represents</a:t>
            </a:r>
            <a:r>
              <a:rPr sz="1200" dirty="0">
                <a:latin typeface="Times New Roman"/>
                <a:cs typeface="Times New Roman"/>
              </a:rPr>
              <a:t> the threshold </a:t>
            </a:r>
            <a:r>
              <a:rPr sz="1200" spc="-5" dirty="0">
                <a:latin typeface="Times New Roman"/>
                <a:cs typeface="Times New Roman"/>
              </a:rPr>
              <a:t>value, </a:t>
            </a:r>
            <a:r>
              <a:rPr sz="1200" dirty="0">
                <a:latin typeface="Times New Roman"/>
                <a:cs typeface="Times New Roman"/>
              </a:rPr>
              <a:t>the coordinates points of </a:t>
            </a:r>
            <a:r>
              <a:rPr sz="1200" spc="-5" dirty="0">
                <a:latin typeface="Times New Roman"/>
                <a:cs typeface="Times New Roman"/>
              </a:rPr>
              <a:t>threshold value are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(a, </a:t>
            </a:r>
            <a:r>
              <a:rPr sz="1200" dirty="0">
                <a:latin typeface="Times New Roman"/>
                <a:cs typeface="Times New Roman"/>
              </a:rPr>
              <a:t>b)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grayscale </a:t>
            </a:r>
            <a:r>
              <a:rPr sz="1200" dirty="0">
                <a:latin typeface="Times New Roman"/>
                <a:cs typeface="Times New Roman"/>
              </a:rPr>
              <a:t>image </a:t>
            </a:r>
            <a:r>
              <a:rPr sz="1200" spc="-5" dirty="0">
                <a:latin typeface="Times New Roman"/>
                <a:cs typeface="Times New Roman"/>
              </a:rPr>
              <a:t>pixels are </a:t>
            </a:r>
            <a:r>
              <a:rPr sz="1200" dirty="0">
                <a:latin typeface="Times New Roman"/>
                <a:cs typeface="Times New Roman"/>
              </a:rPr>
              <a:t>p </a:t>
            </a:r>
            <a:r>
              <a:rPr sz="1200" spc="-5" dirty="0">
                <a:latin typeface="Times New Roman"/>
                <a:cs typeface="Times New Roman"/>
              </a:rPr>
              <a:t>(a, b), </a:t>
            </a:r>
            <a:r>
              <a:rPr sz="1200" dirty="0">
                <a:latin typeface="Times New Roman"/>
                <a:cs typeface="Times New Roman"/>
              </a:rPr>
              <a:t>f </a:t>
            </a:r>
            <a:r>
              <a:rPr sz="1200" spc="-5" dirty="0">
                <a:latin typeface="Times New Roman"/>
                <a:cs typeface="Times New Roman"/>
              </a:rPr>
              <a:t>(a, b). </a:t>
            </a:r>
            <a:r>
              <a:rPr sz="1200" dirty="0">
                <a:latin typeface="Times New Roman"/>
                <a:cs typeface="Times New Roman"/>
              </a:rPr>
              <a:t>(i) </a:t>
            </a:r>
            <a:r>
              <a:rPr sz="1200" spc="-5" dirty="0">
                <a:latin typeface="Times New Roman"/>
                <a:cs typeface="Times New Roman"/>
              </a:rPr>
              <a:t>Gradient </a:t>
            </a:r>
            <a:r>
              <a:rPr sz="1200" dirty="0">
                <a:latin typeface="Times New Roman"/>
                <a:cs typeface="Times New Roman"/>
              </a:rPr>
              <a:t>Thresholding </a:t>
            </a:r>
            <a:r>
              <a:rPr sz="1200" spc="-5" dirty="0">
                <a:latin typeface="Times New Roman"/>
                <a:cs typeface="Times New Roman"/>
              </a:rPr>
              <a:t>Sobel 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kernel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gradient </a:t>
            </a:r>
            <a:r>
              <a:rPr sz="1200" dirty="0">
                <a:latin typeface="Times New Roman"/>
                <a:cs typeface="Times New Roman"/>
              </a:rPr>
              <a:t>thresholding [22] in both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x </a:t>
            </a:r>
            <a:r>
              <a:rPr sz="1200" spc="-5" dirty="0">
                <a:latin typeface="Times New Roman"/>
                <a:cs typeface="Times New Roman"/>
              </a:rPr>
              <a:t>and y-axis. </a:t>
            </a:r>
            <a:r>
              <a:rPr sz="1200" dirty="0">
                <a:latin typeface="Times New Roman"/>
                <a:cs typeface="Times New Roman"/>
              </a:rPr>
              <a:t>Since the lane </a:t>
            </a:r>
            <a:r>
              <a:rPr sz="1200" spc="-5" dirty="0">
                <a:latin typeface="Times New Roman"/>
                <a:cs typeface="Times New Roman"/>
              </a:rPr>
              <a:t>lines </a:t>
            </a:r>
            <a:r>
              <a:rPr sz="1200" dirty="0">
                <a:latin typeface="Times New Roman"/>
                <a:cs typeface="Times New Roman"/>
              </a:rPr>
              <a:t>are probably </a:t>
            </a:r>
            <a:r>
              <a:rPr sz="1200" spc="-5" dirty="0">
                <a:latin typeface="Times New Roman"/>
                <a:cs typeface="Times New Roman"/>
              </a:rPr>
              <a:t>going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5" dirty="0">
                <a:latin typeface="Times New Roman"/>
                <a:cs typeface="Times New Roman"/>
              </a:rPr>
              <a:t>be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vertical, </a:t>
            </a:r>
            <a:r>
              <a:rPr sz="1200" dirty="0">
                <a:latin typeface="Times New Roman"/>
                <a:cs typeface="Times New Roman"/>
              </a:rPr>
              <a:t>the more </a:t>
            </a:r>
            <a:r>
              <a:rPr sz="1200" spc="-5" dirty="0">
                <a:latin typeface="Times New Roman"/>
                <a:cs typeface="Times New Roman"/>
              </a:rPr>
              <a:t>weight </a:t>
            </a:r>
            <a:r>
              <a:rPr sz="1200" dirty="0">
                <a:latin typeface="Times New Roman"/>
                <a:cs typeface="Times New Roman"/>
              </a:rPr>
              <a:t>on the inclination in a </a:t>
            </a:r>
            <a:r>
              <a:rPr sz="1200" spc="-5" dirty="0">
                <a:latin typeface="Times New Roman"/>
                <a:cs typeface="Times New Roman"/>
              </a:rPr>
              <a:t>yaxis is given. For </a:t>
            </a:r>
            <a:r>
              <a:rPr sz="1200" spc="5" dirty="0">
                <a:latin typeface="Times New Roman"/>
                <a:cs typeface="Times New Roman"/>
              </a:rPr>
              <a:t>proper </a:t>
            </a:r>
            <a:r>
              <a:rPr sz="1200" spc="-5" dirty="0">
                <a:latin typeface="Times New Roman"/>
                <a:cs typeface="Times New Roman"/>
              </a:rPr>
              <a:t>scaling, total </a:t>
            </a:r>
            <a:r>
              <a:rPr sz="1200" dirty="0">
                <a:latin typeface="Times New Roman"/>
                <a:cs typeface="Times New Roman"/>
              </a:rPr>
              <a:t>slope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esteems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standardized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taken</a:t>
            </a:r>
            <a:r>
              <a:rPr sz="1200" dirty="0">
                <a:latin typeface="Times New Roman"/>
                <a:cs typeface="Times New Roman"/>
              </a:rPr>
              <a:t> into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consideration.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after</a:t>
            </a:r>
            <a:r>
              <a:rPr sz="1200" dirty="0">
                <a:latin typeface="Times New Roman"/>
                <a:cs typeface="Times New Roman"/>
              </a:rPr>
              <a:t> applying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gradient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illustrated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Fig.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(b).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(ii)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HLS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HLS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(Hue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Saturation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Lightness)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[23] </a:t>
            </a:r>
            <a:r>
              <a:rPr sz="1200" spc="-5" dirty="0">
                <a:latin typeface="Times New Roman"/>
                <a:cs typeface="Times New Roman"/>
              </a:rPr>
              <a:t>color channel 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handle cases </a:t>
            </a:r>
            <a:r>
              <a:rPr sz="1200" dirty="0">
                <a:latin typeface="Times New Roman"/>
                <a:cs typeface="Times New Roman"/>
              </a:rPr>
              <a:t>when the </a:t>
            </a:r>
            <a:r>
              <a:rPr sz="1200" spc="-5" dirty="0">
                <a:latin typeface="Times New Roman"/>
                <a:cs typeface="Times New Roman"/>
              </a:rPr>
              <a:t>road color is </a:t>
            </a:r>
            <a:r>
              <a:rPr sz="1200" dirty="0">
                <a:latin typeface="Times New Roman"/>
                <a:cs typeface="Times New Roman"/>
              </a:rPr>
              <a:t>too </a:t>
            </a:r>
            <a:r>
              <a:rPr sz="1200" spc="-5" dirty="0">
                <a:latin typeface="Times New Roman"/>
                <a:cs typeface="Times New Roman"/>
              </a:rPr>
              <a:t>bright </a:t>
            </a:r>
            <a:r>
              <a:rPr sz="1200" dirty="0">
                <a:latin typeface="Times New Roman"/>
                <a:cs typeface="Times New Roman"/>
              </a:rPr>
              <a:t>or too light. L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(lightness) channel </a:t>
            </a:r>
            <a:r>
              <a:rPr sz="1200" dirty="0">
                <a:latin typeface="Times New Roman"/>
                <a:cs typeface="Times New Roman"/>
              </a:rPr>
              <a:t>threshold </a:t>
            </a:r>
            <a:r>
              <a:rPr sz="1200" spc="-5" dirty="0">
                <a:latin typeface="Times New Roman"/>
                <a:cs typeface="Times New Roman"/>
              </a:rPr>
              <a:t>diminishes edges formed from shadows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the frame. S (saturation)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channel </a:t>
            </a:r>
            <a:r>
              <a:rPr sz="1200" dirty="0">
                <a:latin typeface="Times New Roman"/>
                <a:cs typeface="Times New Roman"/>
              </a:rPr>
              <a:t>threshold expands white or </a:t>
            </a:r>
            <a:r>
              <a:rPr sz="1200" spc="-5" dirty="0">
                <a:latin typeface="Times New Roman"/>
                <a:cs typeface="Times New Roman"/>
              </a:rPr>
              <a:t>yellow </a:t>
            </a:r>
            <a:r>
              <a:rPr sz="1200" dirty="0">
                <a:latin typeface="Times New Roman"/>
                <a:cs typeface="Times New Roman"/>
              </a:rPr>
              <a:t>lanes. </a:t>
            </a:r>
            <a:r>
              <a:rPr sz="1200" spc="-5" dirty="0">
                <a:latin typeface="Times New Roman"/>
                <a:cs typeface="Times New Roman"/>
              </a:rPr>
              <a:t>H </a:t>
            </a:r>
            <a:r>
              <a:rPr sz="1200" dirty="0">
                <a:latin typeface="Times New Roman"/>
                <a:cs typeface="Times New Roman"/>
              </a:rPr>
              <a:t>(hue) toward the line </a:t>
            </a:r>
            <a:r>
              <a:rPr sz="1200" spc="-5" dirty="0">
                <a:latin typeface="Times New Roman"/>
                <a:cs typeface="Times New Roman"/>
              </a:rPr>
              <a:t>colors. </a:t>
            </a:r>
            <a:r>
              <a:rPr sz="1200" dirty="0">
                <a:latin typeface="Times New Roman"/>
                <a:cs typeface="Times New Roman"/>
              </a:rPr>
              <a:t>The outcome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after </a:t>
            </a:r>
            <a:r>
              <a:rPr sz="1200" dirty="0">
                <a:latin typeface="Times New Roman"/>
                <a:cs typeface="Times New Roman"/>
              </a:rPr>
              <a:t>applying </a:t>
            </a:r>
            <a:r>
              <a:rPr sz="1200" spc="-5" dirty="0">
                <a:latin typeface="Times New Roman"/>
                <a:cs typeface="Times New Roman"/>
              </a:rPr>
              <a:t>HLS </a:t>
            </a:r>
            <a:r>
              <a:rPr sz="1200" dirty="0">
                <a:latin typeface="Times New Roman"/>
                <a:cs typeface="Times New Roman"/>
              </a:rPr>
              <a:t>thresholding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depicted in </a:t>
            </a:r>
            <a:r>
              <a:rPr sz="1200" spc="-5" dirty="0">
                <a:latin typeface="Times New Roman"/>
                <a:cs typeface="Times New Roman"/>
              </a:rPr>
              <a:t>Fig. </a:t>
            </a:r>
            <a:r>
              <a:rPr sz="1200" dirty="0">
                <a:latin typeface="Times New Roman"/>
                <a:cs typeface="Times New Roman"/>
              </a:rPr>
              <a:t>4(c). We have combined both of the </a:t>
            </a:r>
            <a:r>
              <a:rPr sz="1200" spc="-5" dirty="0">
                <a:latin typeface="Times New Roman"/>
                <a:cs typeface="Times New Roman"/>
              </a:rPr>
              <a:t>Gradient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HLS </a:t>
            </a:r>
            <a:r>
              <a:rPr sz="1200" spc="-5" dirty="0">
                <a:latin typeface="Times New Roman"/>
                <a:cs typeface="Times New Roman"/>
              </a:rPr>
              <a:t>(color) thresholding </a:t>
            </a:r>
            <a:r>
              <a:rPr sz="1200" dirty="0">
                <a:latin typeface="Times New Roman"/>
                <a:cs typeface="Times New Roman"/>
              </a:rPr>
              <a:t>into one for the </a:t>
            </a:r>
            <a:r>
              <a:rPr sz="1200" spc="-5" dirty="0">
                <a:latin typeface="Times New Roman"/>
                <a:cs typeface="Times New Roman"/>
              </a:rPr>
              <a:t>final thresholding </a:t>
            </a:r>
            <a:r>
              <a:rPr sz="1200" dirty="0">
                <a:latin typeface="Times New Roman"/>
                <a:cs typeface="Times New Roman"/>
              </a:rPr>
              <a:t>binary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improves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overall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process.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combining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Gradient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HLS </a:t>
            </a:r>
            <a:r>
              <a:rPr sz="1200" spc="-5" dirty="0">
                <a:latin typeface="Times New Roman"/>
                <a:cs typeface="Times New Roman"/>
              </a:rPr>
              <a:t> thresholding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demonstrated.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6"/>
            <a:ext cx="7727054" cy="43754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9113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Perspective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Transform</a:t>
            </a:r>
            <a:endParaRPr sz="14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600"/>
              </a:lnSpc>
              <a:spcBef>
                <a:spcPts val="1110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perspective </a:t>
            </a:r>
            <a:r>
              <a:rPr sz="1200" dirty="0">
                <a:latin typeface="Times New Roman"/>
                <a:cs typeface="Times New Roman"/>
              </a:rPr>
              <a:t>transformation [24]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convert </a:t>
            </a:r>
            <a:r>
              <a:rPr sz="1200" dirty="0">
                <a:latin typeface="Times New Roman"/>
                <a:cs typeface="Times New Roman"/>
              </a:rPr>
              <a:t>3d world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into a 2d image. While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undistorting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thresholding help to </a:t>
            </a:r>
            <a:r>
              <a:rPr sz="1200" spc="-5" dirty="0">
                <a:latin typeface="Times New Roman"/>
                <a:cs typeface="Times New Roman"/>
              </a:rPr>
              <a:t>cover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crucial information, we </a:t>
            </a:r>
            <a:r>
              <a:rPr sz="1200" dirty="0">
                <a:latin typeface="Times New Roman"/>
                <a:cs typeface="Times New Roman"/>
              </a:rPr>
              <a:t>can additionally divide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that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information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taking a drake </a:t>
            </a:r>
            <a:r>
              <a:rPr sz="1200" spc="-5" dirty="0">
                <a:latin typeface="Times New Roman"/>
                <a:cs typeface="Times New Roman"/>
              </a:rPr>
              <a:t>at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part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image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surface.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center in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around </a:t>
            </a:r>
            <a:r>
              <a:rPr sz="1200" dirty="0">
                <a:latin typeface="Times New Roman"/>
                <a:cs typeface="Times New Roman"/>
              </a:rPr>
              <a:t>the road </a:t>
            </a:r>
            <a:r>
              <a:rPr sz="1200" spc="-5" dirty="0">
                <a:latin typeface="Times New Roman"/>
                <a:cs typeface="Times New Roman"/>
              </a:rPr>
              <a:t>part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image, we </a:t>
            </a:r>
            <a:r>
              <a:rPr sz="1200" dirty="0">
                <a:latin typeface="Times New Roman"/>
                <a:cs typeface="Times New Roman"/>
              </a:rPr>
              <a:t>move our point of view to a </a:t>
            </a:r>
            <a:r>
              <a:rPr sz="1200" spc="-5" dirty="0">
                <a:latin typeface="Times New Roman"/>
                <a:cs typeface="Times New Roman"/>
              </a:rPr>
              <a:t>best </a:t>
            </a:r>
            <a:r>
              <a:rPr sz="1200" dirty="0">
                <a:latin typeface="Times New Roman"/>
                <a:cs typeface="Times New Roman"/>
              </a:rPr>
              <a:t>down </a:t>
            </a:r>
            <a:r>
              <a:rPr sz="1200" spc="-5" dirty="0">
                <a:latin typeface="Times New Roman"/>
                <a:cs typeface="Times New Roman"/>
              </a:rPr>
              <a:t>perspective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street. </a:t>
            </a:r>
            <a:r>
              <a:rPr sz="1200" dirty="0">
                <a:latin typeface="Times New Roman"/>
                <a:cs typeface="Times New Roman"/>
              </a:rPr>
              <a:t>While </a:t>
            </a:r>
            <a:r>
              <a:rPr sz="1200" spc="-5" dirty="0">
                <a:latin typeface="Times New Roman"/>
                <a:cs typeface="Times New Roman"/>
              </a:rPr>
              <a:t>we </a:t>
            </a:r>
            <a:r>
              <a:rPr sz="1200" dirty="0">
                <a:latin typeface="Times New Roman"/>
                <a:cs typeface="Times New Roman"/>
              </a:rPr>
              <a:t>don’t obtain </a:t>
            </a:r>
            <a:r>
              <a:rPr sz="1200" spc="5" dirty="0">
                <a:latin typeface="Times New Roman"/>
                <a:cs typeface="Times New Roman"/>
              </a:rPr>
              <a:t>any </a:t>
            </a:r>
            <a:r>
              <a:rPr sz="1200" dirty="0">
                <a:latin typeface="Times New Roman"/>
                <a:cs typeface="Times New Roman"/>
              </a:rPr>
              <a:t>more information </a:t>
            </a:r>
            <a:r>
              <a:rPr sz="1200" spc="-5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step, </a:t>
            </a:r>
            <a:r>
              <a:rPr sz="1200" spc="5" dirty="0">
                <a:latin typeface="Times New Roman"/>
                <a:cs typeface="Times New Roman"/>
              </a:rPr>
              <a:t>it’s </a:t>
            </a:r>
            <a:r>
              <a:rPr sz="1200" dirty="0">
                <a:latin typeface="Times New Roman"/>
                <a:cs typeface="Times New Roman"/>
              </a:rPr>
              <a:t>enormously </a:t>
            </a:r>
            <a:r>
              <a:rPr sz="1200" spc="-5" dirty="0">
                <a:latin typeface="Times New Roman"/>
                <a:cs typeface="Times New Roman"/>
              </a:rPr>
              <a:t>easier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isolate</a:t>
            </a:r>
            <a:r>
              <a:rPr sz="1200" dirty="0">
                <a:latin typeface="Times New Roman"/>
                <a:cs typeface="Times New Roman"/>
              </a:rPr>
              <a:t> lane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lines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measure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things</a:t>
            </a:r>
            <a:r>
              <a:rPr sz="1200" dirty="0">
                <a:latin typeface="Times New Roman"/>
                <a:cs typeface="Times New Roman"/>
              </a:rPr>
              <a:t> like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curvature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this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perspective.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Perspective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Transform </a:t>
            </a:r>
            <a:r>
              <a:rPr sz="1200" dirty="0">
                <a:latin typeface="Times New Roman"/>
                <a:cs typeface="Times New Roman"/>
              </a:rPr>
              <a:t>of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combined </a:t>
            </a:r>
            <a:r>
              <a:rPr sz="1200" spc="-5" dirty="0">
                <a:latin typeface="Times New Roman"/>
                <a:cs typeface="Times New Roman"/>
              </a:rPr>
              <a:t>thresholding.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90500" indent="-178435">
              <a:lnSpc>
                <a:spcPct val="100000"/>
              </a:lnSpc>
              <a:buSzPct val="116666"/>
              <a:buAutoNum type="arabicPeriod" startAt="5"/>
              <a:tabLst>
                <a:tab pos="191135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Sliding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Window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Search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1105"/>
              </a:spcBef>
            </a:pP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lines</a:t>
            </a:r>
            <a:r>
              <a:rPr sz="1200" dirty="0">
                <a:latin typeface="Times New Roman"/>
                <a:cs typeface="Times New Roman"/>
              </a:rPr>
              <a:t> already detected in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earlier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frame,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information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used in a sliding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window, </a:t>
            </a:r>
            <a:r>
              <a:rPr sz="1200" spc="-5" dirty="0">
                <a:latin typeface="Times New Roman"/>
                <a:cs typeface="Times New Roman"/>
              </a:rPr>
              <a:t>placed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around </a:t>
            </a:r>
            <a:r>
              <a:rPr sz="1200" dirty="0">
                <a:latin typeface="Times New Roman"/>
                <a:cs typeface="Times New Roman"/>
              </a:rPr>
              <a:t>the line </a:t>
            </a:r>
            <a:r>
              <a:rPr sz="1200" spc="-5" dirty="0">
                <a:latin typeface="Times New Roman"/>
                <a:cs typeface="Times New Roman"/>
              </a:rPr>
              <a:t>centers,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detect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track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lines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 bottom to the top of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image. </a:t>
            </a:r>
            <a:r>
              <a:rPr sz="1200" dirty="0">
                <a:latin typeface="Times New Roman"/>
                <a:cs typeface="Times New Roman"/>
              </a:rPr>
              <a:t>The result of the sliding </a:t>
            </a:r>
            <a:r>
              <a:rPr sz="1200" spc="-5" dirty="0">
                <a:latin typeface="Times New Roman"/>
                <a:cs typeface="Times New Roman"/>
              </a:rPr>
              <a:t>window search is </a:t>
            </a:r>
            <a:r>
              <a:rPr sz="1200" dirty="0">
                <a:latin typeface="Times New Roman"/>
                <a:cs typeface="Times New Roman"/>
              </a:rPr>
              <a:t>demonstrated.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permits us </a:t>
            </a:r>
            <a:r>
              <a:rPr sz="1200" dirty="0">
                <a:latin typeface="Times New Roman"/>
                <a:cs typeface="Times New Roman"/>
              </a:rPr>
              <a:t>to do 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highly </a:t>
            </a:r>
            <a:r>
              <a:rPr sz="1200" spc="-5" dirty="0">
                <a:latin typeface="Times New Roman"/>
                <a:cs typeface="Times New Roman"/>
              </a:rPr>
              <a:t>qualified search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5" dirty="0">
                <a:latin typeface="Times New Roman"/>
                <a:cs typeface="Times New Roman"/>
              </a:rPr>
              <a:t>saves </a:t>
            </a:r>
            <a:r>
              <a:rPr sz="1200" dirty="0">
                <a:latin typeface="Times New Roman"/>
                <a:cs typeface="Times New Roman"/>
              </a:rPr>
              <a:t>a lot of </a:t>
            </a:r>
            <a:r>
              <a:rPr sz="1200" spc="-5" dirty="0">
                <a:latin typeface="Times New Roman"/>
                <a:cs typeface="Times New Roman"/>
              </a:rPr>
              <a:t>processing </a:t>
            </a:r>
            <a:r>
              <a:rPr sz="1200" dirty="0">
                <a:latin typeface="Times New Roman"/>
                <a:cs typeface="Times New Roman"/>
              </a:rPr>
              <a:t>time. To </a:t>
            </a:r>
            <a:r>
              <a:rPr sz="1200" spc="-5" dirty="0">
                <a:latin typeface="Times New Roman"/>
                <a:cs typeface="Times New Roman"/>
              </a:rPr>
              <a:t>recognize </a:t>
            </a:r>
            <a:r>
              <a:rPr sz="1200" dirty="0">
                <a:latin typeface="Times New Roman"/>
                <a:cs typeface="Times New Roman"/>
              </a:rPr>
              <a:t>left </a:t>
            </a:r>
            <a:r>
              <a:rPr sz="1200" spc="-5" dirty="0">
                <a:latin typeface="Times New Roman"/>
                <a:cs typeface="Times New Roman"/>
              </a:rPr>
              <a:t>and right </a:t>
            </a:r>
            <a:r>
              <a:rPr sz="1200" dirty="0">
                <a:latin typeface="Times New Roman"/>
                <a:cs typeface="Times New Roman"/>
              </a:rPr>
              <a:t>lane line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pixels,</a:t>
            </a:r>
            <a:r>
              <a:rPr sz="1200" spc="-5" dirty="0">
                <a:latin typeface="Times New Roman"/>
                <a:cs typeface="Times New Roman"/>
              </a:rPr>
              <a:t> their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pixel positions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used,</a:t>
            </a:r>
            <a:r>
              <a:rPr sz="1200" dirty="0">
                <a:latin typeface="Times New Roman"/>
                <a:cs typeface="Times New Roman"/>
              </a:rPr>
              <a:t> to fit 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second-order polynomial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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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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</a:t>
            </a:r>
            <a:endParaRPr sz="1200">
              <a:latin typeface="Symbol"/>
              <a:cs typeface="Symbol"/>
            </a:endParaRPr>
          </a:p>
          <a:p>
            <a:pPr marL="12700" marR="8890" algn="just">
              <a:lnSpc>
                <a:spcPct val="143300"/>
              </a:lnSpc>
              <a:spcBef>
                <a:spcPts val="1045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f(y) is </a:t>
            </a:r>
            <a:r>
              <a:rPr sz="1200" dirty="0">
                <a:latin typeface="Times New Roman"/>
                <a:cs typeface="Times New Roman"/>
              </a:rPr>
              <a:t>used, </a:t>
            </a:r>
            <a:r>
              <a:rPr sz="1200" spc="-5" dirty="0">
                <a:latin typeface="Times New Roman"/>
                <a:cs typeface="Times New Roman"/>
              </a:rPr>
              <a:t>rather </a:t>
            </a:r>
            <a:r>
              <a:rPr sz="1200" dirty="0">
                <a:latin typeface="Times New Roman"/>
                <a:cs typeface="Times New Roman"/>
              </a:rPr>
              <a:t>than f(x) </a:t>
            </a:r>
            <a:r>
              <a:rPr sz="1200" spc="-5" dirty="0">
                <a:latin typeface="Times New Roman"/>
                <a:cs typeface="Times New Roman"/>
              </a:rPr>
              <a:t>because </a:t>
            </a:r>
            <a:r>
              <a:rPr sz="1200" dirty="0">
                <a:latin typeface="Times New Roman"/>
                <a:cs typeface="Times New Roman"/>
              </a:rPr>
              <a:t>the lane </a:t>
            </a:r>
            <a:r>
              <a:rPr sz="1200" spc="-5" dirty="0">
                <a:latin typeface="Times New Roman"/>
                <a:cs typeface="Times New Roman"/>
              </a:rPr>
              <a:t>lines </a:t>
            </a:r>
            <a:r>
              <a:rPr sz="1200" dirty="0">
                <a:latin typeface="Times New Roman"/>
                <a:cs typeface="Times New Roman"/>
              </a:rPr>
              <a:t>in the </a:t>
            </a:r>
            <a:r>
              <a:rPr sz="1200" spc="-5" dirty="0">
                <a:latin typeface="Times New Roman"/>
                <a:cs typeface="Times New Roman"/>
              </a:rPr>
              <a:t>warped image </a:t>
            </a:r>
            <a:r>
              <a:rPr sz="1200" dirty="0">
                <a:latin typeface="Times New Roman"/>
                <a:cs typeface="Times New Roman"/>
              </a:rPr>
              <a:t>are approximately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vertical</a:t>
            </a:r>
            <a:r>
              <a:rPr sz="1200" dirty="0">
                <a:latin typeface="Times New Roman"/>
                <a:cs typeface="Times New Roman"/>
              </a:rPr>
              <a:t> and </a:t>
            </a:r>
            <a:r>
              <a:rPr sz="1200" spc="5" dirty="0">
                <a:latin typeface="Times New Roman"/>
                <a:cs typeface="Times New Roman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value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 one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values.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7728697" cy="3644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Times New Roman"/>
                <a:cs typeface="Times New Roman"/>
              </a:rPr>
              <a:t>REQUIREMENTS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280670" lvl="1" indent="-268605">
              <a:lnSpc>
                <a:spcPct val="100000"/>
              </a:lnSpc>
              <a:buAutoNum type="arabicPeriod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GENERAL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110"/>
              </a:spcBef>
            </a:pPr>
            <a:r>
              <a:rPr sz="1200" dirty="0">
                <a:latin typeface="Times New Roman"/>
                <a:cs typeface="Times New Roman"/>
              </a:rPr>
              <a:t>We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see from the </a:t>
            </a:r>
            <a:r>
              <a:rPr sz="1200" spc="-5" dirty="0">
                <a:latin typeface="Times New Roman"/>
                <a:cs typeface="Times New Roman"/>
              </a:rPr>
              <a:t>results </a:t>
            </a:r>
            <a:r>
              <a:rPr sz="1200" dirty="0">
                <a:latin typeface="Times New Roman"/>
                <a:cs typeface="Times New Roman"/>
              </a:rPr>
              <a:t>that on </a:t>
            </a:r>
            <a:r>
              <a:rPr sz="1200" spc="-5" dirty="0">
                <a:latin typeface="Times New Roman"/>
                <a:cs typeface="Times New Roman"/>
              </a:rPr>
              <a:t>each </a:t>
            </a:r>
            <a:r>
              <a:rPr sz="1200" dirty="0">
                <a:latin typeface="Times New Roman"/>
                <a:cs typeface="Times New Roman"/>
              </a:rPr>
              <a:t>database, the </a:t>
            </a:r>
            <a:r>
              <a:rPr sz="1200" spc="-5" dirty="0">
                <a:latin typeface="Times New Roman"/>
                <a:cs typeface="Times New Roman"/>
              </a:rPr>
              <a:t>error </a:t>
            </a:r>
            <a:r>
              <a:rPr sz="1200" dirty="0">
                <a:latin typeface="Times New Roman"/>
                <a:cs typeface="Times New Roman"/>
              </a:rPr>
              <a:t>rates </a:t>
            </a:r>
            <a:r>
              <a:rPr sz="1200" spc="-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very </a:t>
            </a:r>
            <a:r>
              <a:rPr sz="1200" spc="-5" dirty="0">
                <a:latin typeface="Times New Roman"/>
                <a:cs typeface="Times New Roman"/>
              </a:rPr>
              <a:t>low </a:t>
            </a:r>
            <a:r>
              <a:rPr sz="1200" dirty="0">
                <a:latin typeface="Times New Roman"/>
                <a:cs typeface="Times New Roman"/>
              </a:rPr>
              <a:t>due to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discriminatory </a:t>
            </a:r>
            <a:r>
              <a:rPr sz="1200" spc="-5" dirty="0">
                <a:latin typeface="Times New Roman"/>
                <a:cs typeface="Times New Roman"/>
              </a:rPr>
              <a:t>power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features and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regression capabilities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classifiers. </a:t>
            </a:r>
            <a:r>
              <a:rPr sz="1200" dirty="0">
                <a:latin typeface="Times New Roman"/>
                <a:cs typeface="Times New Roman"/>
              </a:rPr>
              <a:t>Comparing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highest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accuracies</a:t>
            </a:r>
            <a:r>
              <a:rPr sz="1200" dirty="0">
                <a:latin typeface="Times New Roman"/>
                <a:cs typeface="Times New Roman"/>
              </a:rPr>
              <a:t> (corresponding to the </a:t>
            </a:r>
            <a:r>
              <a:rPr sz="1200" spc="-5" dirty="0">
                <a:latin typeface="Times New Roman"/>
                <a:cs typeface="Times New Roman"/>
              </a:rPr>
              <a:t>lowest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error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rates)</a:t>
            </a:r>
            <a:r>
              <a:rPr sz="1200" dirty="0">
                <a:latin typeface="Times New Roman"/>
                <a:cs typeface="Times New Roman"/>
              </a:rPr>
              <a:t> to those of </a:t>
            </a:r>
            <a:r>
              <a:rPr sz="1200" spc="-5" dirty="0">
                <a:latin typeface="Times New Roman"/>
                <a:cs typeface="Times New Roman"/>
              </a:rPr>
              <a:t>previous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works,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 are </a:t>
            </a:r>
            <a:r>
              <a:rPr sz="1200" spc="5" dirty="0">
                <a:latin typeface="Times New Roman"/>
                <a:cs typeface="Times New Roman"/>
              </a:rPr>
              <a:t>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competitive.</a:t>
            </a:r>
            <a:endParaRPr sz="1200">
              <a:latin typeface="Times New Roman"/>
              <a:cs typeface="Times New Roman"/>
            </a:endParaRPr>
          </a:p>
          <a:p>
            <a:pPr marL="280670" lvl="1" indent="-268605">
              <a:lnSpc>
                <a:spcPct val="100000"/>
              </a:lnSpc>
              <a:spcBef>
                <a:spcPts val="640"/>
              </a:spcBef>
              <a:buAutoNum type="arabicPeriod" startAt="2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HARDWARE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REQUIREMENTS</a:t>
            </a:r>
            <a:endParaRPr sz="1400">
              <a:latin typeface="Times New Roman"/>
              <a:cs typeface="Times New Roman"/>
            </a:endParaRPr>
          </a:p>
          <a:p>
            <a:pPr marL="12700" marR="10160" indent="531495" algn="just">
              <a:lnSpc>
                <a:spcPct val="143800"/>
              </a:lnSpc>
              <a:spcBef>
                <a:spcPts val="405"/>
              </a:spcBef>
            </a:pPr>
            <a:r>
              <a:rPr sz="1400" spc="-5" dirty="0">
                <a:latin typeface="Times New Roman"/>
                <a:cs typeface="Times New Roman"/>
              </a:rPr>
              <a:t>The hardware requirements may </a:t>
            </a:r>
            <a:r>
              <a:rPr sz="1400" dirty="0">
                <a:latin typeface="Times New Roman"/>
                <a:cs typeface="Times New Roman"/>
              </a:rPr>
              <a:t>serve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the basis for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contract for the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implementation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system </a:t>
            </a:r>
            <a:r>
              <a:rPr sz="140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should </a:t>
            </a:r>
            <a:r>
              <a:rPr sz="1400" dirty="0">
                <a:latin typeface="Times New Roman"/>
                <a:cs typeface="Times New Roman"/>
              </a:rPr>
              <a:t>therefore be a </a:t>
            </a:r>
            <a:r>
              <a:rPr sz="1400" spc="-5" dirty="0">
                <a:latin typeface="Times New Roman"/>
                <a:cs typeface="Times New Roman"/>
              </a:rPr>
              <a:t>complete and consistent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specification </a:t>
            </a:r>
            <a:r>
              <a:rPr sz="1400" dirty="0">
                <a:latin typeface="Times New Roman"/>
                <a:cs typeface="Times New Roman"/>
              </a:rPr>
              <a:t>of </a:t>
            </a:r>
            <a:r>
              <a:rPr sz="1400" spc="-5" dirty="0">
                <a:latin typeface="Times New Roman"/>
                <a:cs typeface="Times New Roman"/>
              </a:rPr>
              <a:t>the whole system. They </a:t>
            </a:r>
            <a:r>
              <a:rPr sz="1400" dirty="0">
                <a:latin typeface="Times New Roman"/>
                <a:cs typeface="Times New Roman"/>
              </a:rPr>
              <a:t>are </a:t>
            </a:r>
            <a:r>
              <a:rPr sz="1400" spc="-5" dirty="0">
                <a:latin typeface="Times New Roman"/>
                <a:cs typeface="Times New Roman"/>
              </a:rPr>
              <a:t>used </a:t>
            </a:r>
            <a:r>
              <a:rPr sz="1400" dirty="0">
                <a:latin typeface="Times New Roman"/>
                <a:cs typeface="Times New Roman"/>
              </a:rPr>
              <a:t>by </a:t>
            </a:r>
            <a:r>
              <a:rPr sz="1400" spc="-5" dirty="0">
                <a:latin typeface="Times New Roman"/>
                <a:cs typeface="Times New Roman"/>
              </a:rPr>
              <a:t>software engineers </a:t>
            </a:r>
            <a:r>
              <a:rPr sz="1400" spc="-10" dirty="0">
                <a:latin typeface="Times New Roman"/>
                <a:cs typeface="Times New Roman"/>
              </a:rPr>
              <a:t>as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starting point </a:t>
            </a:r>
            <a:r>
              <a:rPr sz="140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system </a:t>
            </a:r>
            <a:r>
              <a:rPr sz="1400" spc="-5" dirty="0">
                <a:latin typeface="Times New Roman"/>
                <a:cs typeface="Times New Roman"/>
              </a:rPr>
              <a:t>design. </a:t>
            </a: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should what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system </a:t>
            </a:r>
            <a:r>
              <a:rPr sz="1400" dirty="0">
                <a:latin typeface="Times New Roman"/>
                <a:cs typeface="Times New Roman"/>
              </a:rPr>
              <a:t>do </a:t>
            </a:r>
            <a:r>
              <a:rPr sz="1400" spc="-5" dirty="0">
                <a:latin typeface="Times New Roman"/>
                <a:cs typeface="Times New Roman"/>
              </a:rPr>
              <a:t>and not how it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should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be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implemented.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308089"/>
            <a:ext cx="1309893" cy="83676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805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PROCESSOR</a:t>
            </a:r>
            <a:endParaRPr sz="1200">
              <a:latin typeface="Times New Roman"/>
              <a:cs typeface="Times New Roman"/>
            </a:endParaRPr>
          </a:p>
          <a:p>
            <a:pPr marL="125095" indent="-113030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RAM</a:t>
            </a:r>
            <a:endParaRPr sz="1200">
              <a:latin typeface="Times New Roman"/>
              <a:cs typeface="Times New Roman"/>
            </a:endParaRPr>
          </a:p>
          <a:p>
            <a:pPr marL="125095" indent="-11303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HARD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4411" y="4308089"/>
            <a:ext cx="87929" cy="83676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6081" y="4308089"/>
            <a:ext cx="1937721" cy="837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2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DUAL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DUOS.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4GB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250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7300" y="5304369"/>
            <a:ext cx="7728697" cy="14329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3.3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SOFTWARE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REQUIREMENTS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1110"/>
              </a:spcBef>
            </a:pP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software requirements document is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specification </a:t>
            </a:r>
            <a:r>
              <a:rPr sz="1200" dirty="0">
                <a:latin typeface="Times New Roman"/>
                <a:cs typeface="Times New Roman"/>
              </a:rPr>
              <a:t>of the </a:t>
            </a:r>
            <a:r>
              <a:rPr sz="1200" spc="-5" dirty="0">
                <a:latin typeface="Times New Roman"/>
                <a:cs typeface="Times New Roman"/>
              </a:rPr>
              <a:t>system. </a:t>
            </a:r>
            <a:r>
              <a:rPr sz="1200" spc="-10" dirty="0">
                <a:latin typeface="Times New Roman"/>
                <a:cs typeface="Times New Roman"/>
              </a:rPr>
              <a:t>It </a:t>
            </a:r>
            <a:r>
              <a:rPr sz="1200" spc="5" dirty="0">
                <a:latin typeface="Times New Roman"/>
                <a:cs typeface="Times New Roman"/>
              </a:rPr>
              <a:t>should </a:t>
            </a:r>
            <a:r>
              <a:rPr sz="1200" dirty="0">
                <a:latin typeface="Times New Roman"/>
                <a:cs typeface="Times New Roman"/>
              </a:rPr>
              <a:t>include both a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definition and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specification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requirements. </a:t>
            </a:r>
            <a:r>
              <a:rPr sz="1200" spc="-1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set </a:t>
            </a:r>
            <a:r>
              <a:rPr sz="1200" dirty="0">
                <a:latin typeface="Times New Roman"/>
                <a:cs typeface="Times New Roman"/>
              </a:rPr>
              <a:t>of what the </a:t>
            </a:r>
            <a:r>
              <a:rPr sz="1200" spc="-5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should do </a:t>
            </a:r>
            <a:r>
              <a:rPr sz="1200" spc="-5" dirty="0">
                <a:latin typeface="Times New Roman"/>
                <a:cs typeface="Times New Roman"/>
              </a:rPr>
              <a:t>rather </a:t>
            </a:r>
            <a:r>
              <a:rPr sz="1200" dirty="0">
                <a:latin typeface="Times New Roman"/>
                <a:cs typeface="Times New Roman"/>
              </a:rPr>
              <a:t>than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requirements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provide</a:t>
            </a:r>
            <a:r>
              <a:rPr sz="1200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basis</a:t>
            </a:r>
            <a:r>
              <a:rPr sz="1200" dirty="0">
                <a:latin typeface="Times New Roman"/>
                <a:cs typeface="Times New Roman"/>
              </a:rPr>
              <a:t> 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creating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requirements </a:t>
            </a:r>
            <a:r>
              <a:rPr sz="1200" dirty="0">
                <a:latin typeface="Times New Roman"/>
                <a:cs typeface="Times New Roman"/>
              </a:rPr>
              <a:t>specification.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useful in estimating </a:t>
            </a:r>
            <a:r>
              <a:rPr sz="1200" spc="-5" dirty="0">
                <a:latin typeface="Times New Roman"/>
                <a:cs typeface="Times New Roman"/>
              </a:rPr>
              <a:t>cost, </a:t>
            </a:r>
            <a:r>
              <a:rPr sz="1200" dirty="0">
                <a:latin typeface="Times New Roman"/>
                <a:cs typeface="Times New Roman"/>
              </a:rPr>
              <a:t>planning team </a:t>
            </a:r>
            <a:r>
              <a:rPr sz="1200" spc="-5" dirty="0">
                <a:latin typeface="Times New Roman"/>
                <a:cs typeface="Times New Roman"/>
              </a:rPr>
              <a:t>activities, performing </a:t>
            </a:r>
            <a:r>
              <a:rPr sz="1200" dirty="0">
                <a:latin typeface="Times New Roman"/>
                <a:cs typeface="Times New Roman"/>
              </a:rPr>
              <a:t> tasks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tracking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tracking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team’s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progress</a:t>
            </a:r>
            <a:r>
              <a:rPr sz="1200" dirty="0">
                <a:latin typeface="Times New Roman"/>
                <a:cs typeface="Times New Roman"/>
              </a:rPr>
              <a:t> throughout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development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activity.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34411" y="694413"/>
            <a:ext cx="879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6081" y="694413"/>
            <a:ext cx="134440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7/8/10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4411" y="957222"/>
            <a:ext cx="879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299" y="694413"/>
            <a:ext cx="2488304" cy="1213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Operating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125095" indent="-113030">
              <a:lnSpc>
                <a:spcPct val="100000"/>
              </a:lnSpc>
              <a:spcBef>
                <a:spcPts val="1235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Platform</a:t>
            </a:r>
            <a:endParaRPr sz="1200">
              <a:latin typeface="Times New Roman"/>
              <a:cs typeface="Times New Roman"/>
            </a:endParaRPr>
          </a:p>
          <a:p>
            <a:pPr marL="125095" indent="-113030">
              <a:lnSpc>
                <a:spcPct val="100000"/>
              </a:lnSpc>
              <a:spcBef>
                <a:spcPts val="1225"/>
              </a:spcBef>
              <a:buFont typeface="Symbol"/>
              <a:buChar char=""/>
              <a:tabLst>
                <a:tab pos="125730" algn="l"/>
                <a:tab pos="1867535" algn="l"/>
              </a:tabLst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ro</a:t>
            </a:r>
            <a:r>
              <a:rPr sz="1200" spc="-20" dirty="0">
                <a:latin typeface="Times New Roman"/>
                <a:cs typeface="Times New Roman"/>
              </a:rPr>
              <a:t>g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mming </a:t>
            </a:r>
            <a:r>
              <a:rPr sz="1200" spc="-15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5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e	:</a:t>
            </a:r>
            <a:endParaRPr sz="1200">
              <a:latin typeface="Times New Roman"/>
              <a:cs typeface="Times New Roman"/>
            </a:endParaRPr>
          </a:p>
          <a:p>
            <a:pPr marL="125095" indent="-113030">
              <a:lnSpc>
                <a:spcPct val="100000"/>
              </a:lnSpc>
              <a:spcBef>
                <a:spcPts val="1235"/>
              </a:spcBef>
              <a:buFont typeface="Symbol"/>
              <a:buChar char=""/>
              <a:tabLst>
                <a:tab pos="125730" algn="l"/>
              </a:tabLst>
            </a:pPr>
            <a:r>
              <a:rPr sz="1200" spc="-5" dirty="0">
                <a:latin typeface="Times New Roman"/>
                <a:cs typeface="Times New Roman"/>
              </a:rPr>
              <a:t>Front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6081" y="957222"/>
            <a:ext cx="68781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7498" y="1218657"/>
            <a:ext cx="5892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40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thon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4411" y="1481271"/>
            <a:ext cx="879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6081" y="1481271"/>
            <a:ext cx="68781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7299" y="2239669"/>
            <a:ext cx="7729519" cy="3737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lvl="1" indent="-26860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FUNCTIONAL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REQUIREMENTS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115"/>
              </a:spcBef>
            </a:pPr>
            <a:r>
              <a:rPr sz="1200" spc="-5" dirty="0">
                <a:latin typeface="Times New Roman"/>
                <a:cs typeface="Times New Roman"/>
              </a:rPr>
              <a:t>A functional requirement defines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function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a software-system or </a:t>
            </a:r>
            <a:r>
              <a:rPr sz="1200" spc="-5" dirty="0">
                <a:latin typeface="Times New Roman"/>
                <a:cs typeface="Times New Roman"/>
              </a:rPr>
              <a:t>its </a:t>
            </a:r>
            <a:r>
              <a:rPr sz="1200" dirty="0">
                <a:latin typeface="Times New Roman"/>
                <a:cs typeface="Times New Roman"/>
              </a:rPr>
              <a:t>component. </a:t>
            </a:r>
            <a:r>
              <a:rPr sz="1200" spc="-5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function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described as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set </a:t>
            </a:r>
            <a:r>
              <a:rPr sz="1200" dirty="0">
                <a:latin typeface="Times New Roman"/>
                <a:cs typeface="Times New Roman"/>
              </a:rPr>
              <a:t>of inputs, the </a:t>
            </a:r>
            <a:r>
              <a:rPr sz="1200" spc="-5" dirty="0">
                <a:latin typeface="Times New Roman"/>
                <a:cs typeface="Times New Roman"/>
              </a:rPr>
              <a:t>behavior, Firstly,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system is </a:t>
            </a:r>
            <a:r>
              <a:rPr sz="1200" dirty="0">
                <a:latin typeface="Times New Roman"/>
                <a:cs typeface="Times New Roman"/>
              </a:rPr>
              <a:t>the first that </a:t>
            </a:r>
            <a:r>
              <a:rPr sz="1200" spc="-5" dirty="0">
                <a:latin typeface="Times New Roman"/>
                <a:cs typeface="Times New Roman"/>
              </a:rPr>
              <a:t>achieves </a:t>
            </a:r>
            <a:r>
              <a:rPr sz="1200" dirty="0">
                <a:latin typeface="Times New Roman"/>
                <a:cs typeface="Times New Roman"/>
              </a:rPr>
              <a:t>the standard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notion of </a:t>
            </a:r>
            <a:r>
              <a:rPr sz="1200" spc="-5" dirty="0">
                <a:latin typeface="Times New Roman"/>
                <a:cs typeface="Times New Roman"/>
              </a:rPr>
              <a:t>semantic </a:t>
            </a:r>
            <a:r>
              <a:rPr sz="1200" dirty="0">
                <a:latin typeface="Times New Roman"/>
                <a:cs typeface="Times New Roman"/>
              </a:rPr>
              <a:t>security for data confidentiality in </a:t>
            </a:r>
            <a:r>
              <a:rPr sz="1200" spc="-5" dirty="0">
                <a:latin typeface="Times New Roman"/>
                <a:cs typeface="Times New Roman"/>
              </a:rPr>
              <a:t>attribute-based </a:t>
            </a:r>
            <a:r>
              <a:rPr sz="1200" dirty="0">
                <a:latin typeface="Times New Roman"/>
                <a:cs typeface="Times New Roman"/>
              </a:rPr>
              <a:t>deduplication </a:t>
            </a:r>
            <a:r>
              <a:rPr sz="1200" spc="-5" dirty="0">
                <a:latin typeface="Times New Roman"/>
                <a:cs typeface="Times New Roman"/>
              </a:rPr>
              <a:t>systems </a:t>
            </a:r>
            <a:r>
              <a:rPr sz="1200" spc="10" dirty="0">
                <a:latin typeface="Times New Roman"/>
                <a:cs typeface="Times New Roman"/>
              </a:rPr>
              <a:t>by 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resorting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hybrid cloud </a:t>
            </a:r>
            <a:r>
              <a:rPr sz="1200" spc="-5" dirty="0">
                <a:latin typeface="Times New Roman"/>
                <a:cs typeface="Times New Roman"/>
              </a:rPr>
              <a:t>architecture.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280670" lvl="1" indent="-268605">
              <a:lnSpc>
                <a:spcPct val="100000"/>
              </a:lnSpc>
              <a:buAutoNum type="arabicPeriod" startAt="5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NON-FUNCTIONAL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REQUIREMENTS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200" b="1" spc="-5" dirty="0">
                <a:latin typeface="Times New Roman"/>
                <a:cs typeface="Times New Roman"/>
              </a:rPr>
              <a:t>EFFICIENCY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600"/>
              </a:lnSpc>
              <a:spcBef>
                <a:spcPts val="980"/>
              </a:spcBef>
            </a:pPr>
            <a:r>
              <a:rPr sz="1200" spc="-5" dirty="0">
                <a:latin typeface="Times New Roman"/>
                <a:cs typeface="Times New Roman"/>
              </a:rPr>
              <a:t>Our </a:t>
            </a:r>
            <a:r>
              <a:rPr sz="1200" dirty="0">
                <a:latin typeface="Times New Roman"/>
                <a:cs typeface="Times New Roman"/>
              </a:rPr>
              <a:t>multi-modal </a:t>
            </a:r>
            <a:r>
              <a:rPr sz="1200" spc="-5" dirty="0">
                <a:latin typeface="Times New Roman"/>
                <a:cs typeface="Times New Roman"/>
              </a:rPr>
              <a:t>event tracking and </a:t>
            </a:r>
            <a:r>
              <a:rPr sz="1200" dirty="0">
                <a:latin typeface="Times New Roman"/>
                <a:cs typeface="Times New Roman"/>
              </a:rPr>
              <a:t>evolution </a:t>
            </a:r>
            <a:r>
              <a:rPr sz="1200" spc="-5" dirty="0">
                <a:latin typeface="Times New Roman"/>
                <a:cs typeface="Times New Roman"/>
              </a:rPr>
              <a:t>framework is suitable </a:t>
            </a:r>
            <a:r>
              <a:rPr sz="1200" dirty="0">
                <a:latin typeface="Times New Roman"/>
                <a:cs typeface="Times New Roman"/>
              </a:rPr>
              <a:t>for multimedia </a:t>
            </a:r>
            <a:r>
              <a:rPr sz="1200" spc="-5" dirty="0">
                <a:latin typeface="Times New Roman"/>
                <a:cs typeface="Times New Roman"/>
              </a:rPr>
              <a:t>documents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various </a:t>
            </a:r>
            <a:r>
              <a:rPr sz="1200" spc="-5" dirty="0">
                <a:latin typeface="Times New Roman"/>
                <a:cs typeface="Times New Roman"/>
              </a:rPr>
              <a:t>social </a:t>
            </a:r>
            <a:r>
              <a:rPr sz="1200" dirty="0">
                <a:latin typeface="Times New Roman"/>
                <a:cs typeface="Times New Roman"/>
              </a:rPr>
              <a:t>media </a:t>
            </a:r>
            <a:r>
              <a:rPr sz="1200" spc="-5" dirty="0">
                <a:latin typeface="Times New Roman"/>
                <a:cs typeface="Times New Roman"/>
              </a:rPr>
              <a:t>platforms, which can </a:t>
            </a:r>
            <a:r>
              <a:rPr sz="1200" dirty="0">
                <a:latin typeface="Times New Roman"/>
                <a:cs typeface="Times New Roman"/>
              </a:rPr>
              <a:t>not only effectively </a:t>
            </a:r>
            <a:r>
              <a:rPr sz="1200" spc="-5" dirty="0">
                <a:latin typeface="Times New Roman"/>
                <a:cs typeface="Times New Roman"/>
              </a:rPr>
              <a:t>capture </a:t>
            </a:r>
            <a:r>
              <a:rPr sz="1200" dirty="0">
                <a:latin typeface="Times New Roman"/>
                <a:cs typeface="Times New Roman"/>
              </a:rPr>
              <a:t>their multi-modal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topics, </a:t>
            </a:r>
            <a:r>
              <a:rPr sz="1200" dirty="0">
                <a:latin typeface="Times New Roman"/>
                <a:cs typeface="Times New Roman"/>
              </a:rPr>
              <a:t>but </a:t>
            </a:r>
            <a:r>
              <a:rPr sz="1200" spc="-5" dirty="0">
                <a:latin typeface="Times New Roman"/>
                <a:cs typeface="Times New Roman"/>
              </a:rPr>
              <a:t>also </a:t>
            </a:r>
            <a:r>
              <a:rPr sz="1200" dirty="0">
                <a:latin typeface="Times New Roman"/>
                <a:cs typeface="Times New Roman"/>
              </a:rPr>
              <a:t>obtain the evolutionary </a:t>
            </a:r>
            <a:r>
              <a:rPr sz="1200" spc="-5" dirty="0">
                <a:latin typeface="Times New Roman"/>
                <a:cs typeface="Times New Roman"/>
              </a:rPr>
              <a:t>trends</a:t>
            </a:r>
            <a:r>
              <a:rPr sz="1200" dirty="0">
                <a:latin typeface="Times New Roman"/>
                <a:cs typeface="Times New Roman"/>
              </a:rPr>
              <a:t> of </a:t>
            </a:r>
            <a:r>
              <a:rPr sz="1200" spc="-5" dirty="0">
                <a:latin typeface="Times New Roman"/>
                <a:cs typeface="Times New Roman"/>
              </a:rPr>
              <a:t>social events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generate effective </a:t>
            </a:r>
            <a:r>
              <a:rPr sz="1200" dirty="0">
                <a:latin typeface="Times New Roman"/>
                <a:cs typeface="Times New Roman"/>
              </a:rPr>
              <a:t>event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summary details </a:t>
            </a:r>
            <a:r>
              <a:rPr sz="1200" spc="-5" dirty="0">
                <a:latin typeface="Times New Roman"/>
                <a:cs typeface="Times New Roman"/>
              </a:rPr>
              <a:t>over </a:t>
            </a:r>
            <a:r>
              <a:rPr sz="1200" dirty="0">
                <a:latin typeface="Times New Roman"/>
                <a:cs typeface="Times New Roman"/>
              </a:rPr>
              <a:t>time.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Our proposed </a:t>
            </a:r>
            <a:r>
              <a:rPr sz="1200" dirty="0">
                <a:latin typeface="Times New Roman"/>
                <a:cs typeface="Times New Roman"/>
              </a:rPr>
              <a:t>mmETM model </a:t>
            </a:r>
            <a:r>
              <a:rPr sz="1200" spc="-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exploit </a:t>
            </a: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multi-modal </a:t>
            </a:r>
            <a:r>
              <a:rPr sz="1200" spc="-5" dirty="0">
                <a:latin typeface="Times New Roman"/>
                <a:cs typeface="Times New Roman"/>
              </a:rPr>
              <a:t>property </a:t>
            </a:r>
            <a:r>
              <a:rPr sz="1200" dirty="0">
                <a:latin typeface="Times New Roman"/>
                <a:cs typeface="Times New Roman"/>
              </a:rPr>
              <a:t> of </a:t>
            </a:r>
            <a:r>
              <a:rPr sz="1200" spc="-5" dirty="0">
                <a:latin typeface="Times New Roman"/>
                <a:cs typeface="Times New Roman"/>
              </a:rPr>
              <a:t>social event, which </a:t>
            </a:r>
            <a:r>
              <a:rPr sz="1200" dirty="0">
                <a:latin typeface="Times New Roman"/>
                <a:cs typeface="Times New Roman"/>
              </a:rPr>
              <a:t>can effectively model social media documents including long text with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related </a:t>
            </a:r>
            <a:r>
              <a:rPr sz="1200" dirty="0">
                <a:latin typeface="Times New Roman"/>
                <a:cs typeface="Times New Roman"/>
              </a:rPr>
              <a:t>images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learn the </a:t>
            </a:r>
            <a:r>
              <a:rPr sz="1200" spc="-5" dirty="0">
                <a:latin typeface="Times New Roman"/>
                <a:cs typeface="Times New Roman"/>
              </a:rPr>
              <a:t>correlations </a:t>
            </a:r>
            <a:r>
              <a:rPr sz="1200" dirty="0">
                <a:latin typeface="Times New Roman"/>
                <a:cs typeface="Times New Roman"/>
              </a:rPr>
              <a:t>between textual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visual modalities to </a:t>
            </a:r>
            <a:r>
              <a:rPr sz="1200" spc="-5" dirty="0">
                <a:latin typeface="Times New Roman"/>
                <a:cs typeface="Times New Roman"/>
              </a:rPr>
              <a:t>separate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visual-representative</a:t>
            </a:r>
            <a:r>
              <a:rPr sz="1200" dirty="0">
                <a:latin typeface="Times New Roman"/>
                <a:cs typeface="Times New Roman"/>
              </a:rPr>
              <a:t> topics 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non-visual-representative</a:t>
            </a:r>
            <a:r>
              <a:rPr sz="1200" dirty="0">
                <a:latin typeface="Times New Roman"/>
                <a:cs typeface="Times New Roman"/>
              </a:rPr>
              <a:t> topics.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1911" y="1021992"/>
            <a:ext cx="2636221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DESIGN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1694422"/>
            <a:ext cx="7724588" cy="1389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4.1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GENERAL</a:t>
            </a:r>
            <a:endParaRPr sz="12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600"/>
              </a:lnSpc>
              <a:spcBef>
                <a:spcPts val="980"/>
              </a:spcBef>
            </a:pPr>
            <a:r>
              <a:rPr sz="1200" spc="-5" dirty="0">
                <a:latin typeface="Times New Roman"/>
                <a:cs typeface="Times New Roman"/>
              </a:rPr>
              <a:t>Design Engineering </a:t>
            </a:r>
            <a:r>
              <a:rPr sz="1200" dirty="0">
                <a:latin typeface="Times New Roman"/>
                <a:cs typeface="Times New Roman"/>
              </a:rPr>
              <a:t>deals with the </a:t>
            </a:r>
            <a:r>
              <a:rPr sz="1200" spc="-5" dirty="0">
                <a:latin typeface="Times New Roman"/>
                <a:cs typeface="Times New Roman"/>
              </a:rPr>
              <a:t>various </a:t>
            </a:r>
            <a:r>
              <a:rPr sz="1200" dirty="0">
                <a:latin typeface="Times New Roman"/>
                <a:cs typeface="Times New Roman"/>
              </a:rPr>
              <a:t>UML </a:t>
            </a:r>
            <a:r>
              <a:rPr sz="1200" spc="-5" dirty="0">
                <a:latin typeface="Times New Roman"/>
                <a:cs typeface="Times New Roman"/>
              </a:rPr>
              <a:t>[Unified </a:t>
            </a:r>
            <a:r>
              <a:rPr sz="1200" dirty="0">
                <a:latin typeface="Times New Roman"/>
                <a:cs typeface="Times New Roman"/>
              </a:rPr>
              <a:t>Modelling </a:t>
            </a:r>
            <a:r>
              <a:rPr sz="1200" spc="-5" dirty="0">
                <a:latin typeface="Times New Roman"/>
                <a:cs typeface="Times New Roman"/>
              </a:rPr>
              <a:t>language] diagrams </a:t>
            </a:r>
            <a:r>
              <a:rPr sz="1200" dirty="0">
                <a:latin typeface="Times New Roman"/>
                <a:cs typeface="Times New Roman"/>
              </a:rPr>
              <a:t> for the </a:t>
            </a:r>
            <a:r>
              <a:rPr sz="1200" spc="-5" dirty="0">
                <a:latin typeface="Times New Roman"/>
                <a:cs typeface="Times New Roman"/>
              </a:rPr>
              <a:t>implementation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project. Design 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meaningful engineering representation </a:t>
            </a:r>
            <a:r>
              <a:rPr sz="1200" dirty="0">
                <a:latin typeface="Times New Roman"/>
                <a:cs typeface="Times New Roman"/>
              </a:rPr>
              <a:t>of a thing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to be built. </a:t>
            </a:r>
            <a:r>
              <a:rPr sz="1200" spc="-5" dirty="0">
                <a:latin typeface="Times New Roman"/>
                <a:cs typeface="Times New Roman"/>
              </a:rPr>
              <a:t>Software design 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process through </a:t>
            </a:r>
            <a:r>
              <a:rPr sz="1200" dirty="0">
                <a:latin typeface="Times New Roman"/>
                <a:cs typeface="Times New Roman"/>
              </a:rPr>
              <a:t>which the </a:t>
            </a:r>
            <a:r>
              <a:rPr sz="1200" spc="-5" dirty="0">
                <a:latin typeface="Times New Roman"/>
                <a:cs typeface="Times New Roman"/>
              </a:rPr>
              <a:t>requirements are translated </a:t>
            </a:r>
            <a:r>
              <a:rPr sz="1200" dirty="0">
                <a:latin typeface="Times New Roman"/>
                <a:cs typeface="Times New Roman"/>
              </a:rPr>
              <a:t>into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representation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Design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place</a:t>
            </a:r>
            <a:r>
              <a:rPr sz="1200" dirty="0">
                <a:latin typeface="Times New Roman"/>
                <a:cs typeface="Times New Roman"/>
              </a:rPr>
              <a:t> where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rendered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engineering.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2876998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lvl="1" indent="-26860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UML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DIAGRAMS</a:t>
            </a:r>
            <a:endParaRPr sz="1400">
              <a:latin typeface="Times New Roman"/>
              <a:cs typeface="Times New Roman"/>
            </a:endParaRPr>
          </a:p>
          <a:p>
            <a:pPr marL="412750" lvl="2" indent="-40068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413384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USE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CASE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4875709"/>
            <a:ext cx="7722123" cy="10907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30"/>
              </a:spcBef>
            </a:pPr>
            <a:r>
              <a:rPr sz="1200" dirty="0">
                <a:latin typeface="Times New Roman"/>
                <a:cs typeface="Times New Roman"/>
              </a:rPr>
              <a:t>The main purpose of a </a:t>
            </a:r>
            <a:r>
              <a:rPr sz="1200" spc="-5" dirty="0">
                <a:latin typeface="Times New Roman"/>
                <a:cs typeface="Times New Roman"/>
              </a:rPr>
              <a:t>use </a:t>
            </a:r>
            <a:r>
              <a:rPr sz="1200" dirty="0">
                <a:latin typeface="Times New Roman"/>
                <a:cs typeface="Times New Roman"/>
              </a:rPr>
              <a:t>case </a:t>
            </a:r>
            <a:r>
              <a:rPr sz="1200" spc="-5" dirty="0">
                <a:latin typeface="Times New Roman"/>
                <a:cs typeface="Times New Roman"/>
              </a:rPr>
              <a:t>diagram is </a:t>
            </a:r>
            <a:r>
              <a:rPr sz="1200" dirty="0">
                <a:latin typeface="Times New Roman"/>
                <a:cs typeface="Times New Roman"/>
              </a:rPr>
              <a:t>to show </a:t>
            </a:r>
            <a:r>
              <a:rPr sz="1200" spc="-5" dirty="0">
                <a:latin typeface="Times New Roman"/>
                <a:cs typeface="Times New Roman"/>
              </a:rPr>
              <a:t>what system </a:t>
            </a:r>
            <a:r>
              <a:rPr sz="1200" dirty="0">
                <a:latin typeface="Times New Roman"/>
                <a:cs typeface="Times New Roman"/>
              </a:rPr>
              <a:t>functions </a:t>
            </a:r>
            <a:r>
              <a:rPr sz="1200" spc="-5" dirty="0">
                <a:latin typeface="Times New Roman"/>
                <a:cs typeface="Times New Roman"/>
              </a:rPr>
              <a:t>are performed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which actor.</a:t>
            </a:r>
            <a:r>
              <a:rPr sz="1200" dirty="0">
                <a:latin typeface="Times New Roman"/>
                <a:cs typeface="Times New Roman"/>
              </a:rPr>
              <a:t> Roles of the </a:t>
            </a:r>
            <a:r>
              <a:rPr sz="1200" spc="-5" dirty="0">
                <a:latin typeface="Times New Roman"/>
                <a:cs typeface="Times New Roman"/>
              </a:rPr>
              <a:t>actors </a:t>
            </a:r>
            <a:r>
              <a:rPr sz="1200" dirty="0">
                <a:latin typeface="Times New Roman"/>
                <a:cs typeface="Times New Roman"/>
              </a:rPr>
              <a:t>in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can be depicted. The above </a:t>
            </a:r>
            <a:r>
              <a:rPr sz="1200" spc="-5" dirty="0">
                <a:latin typeface="Times New Roman"/>
                <a:cs typeface="Times New Roman"/>
              </a:rPr>
              <a:t>diagram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consists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actor. </a:t>
            </a:r>
            <a:r>
              <a:rPr sz="1200" spc="-5" dirty="0">
                <a:latin typeface="Times New Roman"/>
                <a:cs typeface="Times New Roman"/>
              </a:rPr>
              <a:t>Each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will</a:t>
            </a:r>
            <a:r>
              <a:rPr sz="1200" dirty="0">
                <a:latin typeface="Times New Roman"/>
                <a:cs typeface="Times New Roman"/>
              </a:rPr>
              <a:t> play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certain</a:t>
            </a:r>
            <a:r>
              <a:rPr sz="1200" dirty="0">
                <a:latin typeface="Times New Roman"/>
                <a:cs typeface="Times New Roman"/>
              </a:rPr>
              <a:t> role to achieve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concept.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743200" y="1371600"/>
            <a:ext cx="4572000" cy="3676650"/>
            <a:chOff x="1728" y="864"/>
            <a:chExt cx="2880" cy="231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28" y="864"/>
              <a:ext cx="2880" cy="2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1980" y="1801"/>
              <a:ext cx="111" cy="147"/>
              <a:chOff x="1980" y="1801"/>
              <a:chExt cx="111" cy="147"/>
            </a:xfrm>
          </p:grpSpPr>
          <p:sp>
            <p:nvSpPr>
              <p:cNvPr id="49" name="Oval 5"/>
              <p:cNvSpPr>
                <a:spLocks noChangeArrowheads="1"/>
              </p:cNvSpPr>
              <p:nvPr/>
            </p:nvSpPr>
            <p:spPr bwMode="auto">
              <a:xfrm>
                <a:off x="2010" y="1801"/>
                <a:ext cx="52" cy="50"/>
              </a:xfrm>
              <a:prstGeom prst="ellipse">
                <a:avLst/>
              </a:prstGeom>
              <a:noFill/>
              <a:ln w="1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Line 6"/>
              <p:cNvSpPr>
                <a:spLocks noChangeShapeType="1"/>
              </p:cNvSpPr>
              <p:nvPr/>
            </p:nvSpPr>
            <p:spPr bwMode="auto">
              <a:xfrm>
                <a:off x="2035" y="1850"/>
                <a:ext cx="0" cy="45"/>
              </a:xfrm>
              <a:prstGeom prst="line">
                <a:avLst/>
              </a:prstGeom>
              <a:noFill/>
              <a:ln w="1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Line 7"/>
              <p:cNvSpPr>
                <a:spLocks noChangeShapeType="1"/>
              </p:cNvSpPr>
              <p:nvPr/>
            </p:nvSpPr>
            <p:spPr bwMode="auto">
              <a:xfrm>
                <a:off x="1995" y="1862"/>
                <a:ext cx="80" cy="0"/>
              </a:xfrm>
              <a:prstGeom prst="line">
                <a:avLst/>
              </a:prstGeom>
              <a:noFill/>
              <a:ln w="1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Freeform 8"/>
              <p:cNvSpPr>
                <a:spLocks/>
              </p:cNvSpPr>
              <p:nvPr/>
            </p:nvSpPr>
            <p:spPr bwMode="auto">
              <a:xfrm>
                <a:off x="1980" y="1895"/>
                <a:ext cx="111" cy="53"/>
              </a:xfrm>
              <a:custGeom>
                <a:avLst/>
                <a:gdLst>
                  <a:gd name="T0" fmla="*/ 0 w 108"/>
                  <a:gd name="T1" fmla="*/ 54 h 54"/>
                  <a:gd name="T2" fmla="*/ 54 w 108"/>
                  <a:gd name="T3" fmla="*/ 0 h 54"/>
                  <a:gd name="T4" fmla="*/ 108 w 108"/>
                  <a:gd name="T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8" h="54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w="1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1942" y="2021"/>
              <a:ext cx="243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2897" y="969"/>
              <a:ext cx="206" cy="104"/>
            </a:xfrm>
            <a:prstGeom prst="ellipse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2888" y="1137"/>
              <a:ext cx="444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  video(mp4)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V="1">
              <a:off x="2463" y="1223"/>
              <a:ext cx="348" cy="302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2790" y="1223"/>
              <a:ext cx="21" cy="41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 flipH="1">
              <a:off x="2766" y="1223"/>
              <a:ext cx="45" cy="15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2117" y="1525"/>
              <a:ext cx="346" cy="303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4" name="Group 21"/>
            <p:cNvGrpSpPr>
              <a:grpSpLocks/>
            </p:cNvGrpSpPr>
            <p:nvPr/>
          </p:nvGrpSpPr>
          <p:grpSpPr bwMode="auto">
            <a:xfrm>
              <a:off x="3967" y="1767"/>
              <a:ext cx="150" cy="202"/>
              <a:chOff x="3967" y="1767"/>
              <a:chExt cx="150" cy="202"/>
            </a:xfrm>
          </p:grpSpPr>
          <p:sp>
            <p:nvSpPr>
              <p:cNvPr id="44" name="Oval 17"/>
              <p:cNvSpPr>
                <a:spLocks noChangeArrowheads="1"/>
              </p:cNvSpPr>
              <p:nvPr/>
            </p:nvSpPr>
            <p:spPr bwMode="auto">
              <a:xfrm>
                <a:off x="4009" y="1767"/>
                <a:ext cx="69" cy="68"/>
              </a:xfrm>
              <a:prstGeom prst="ellipse">
                <a:avLst/>
              </a:prstGeom>
              <a:noFill/>
              <a:ln w="2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Line 18"/>
              <p:cNvSpPr>
                <a:spLocks noChangeShapeType="1"/>
              </p:cNvSpPr>
              <p:nvPr/>
            </p:nvSpPr>
            <p:spPr bwMode="auto">
              <a:xfrm>
                <a:off x="4042" y="1833"/>
                <a:ext cx="0" cy="63"/>
              </a:xfrm>
              <a:prstGeom prst="line">
                <a:avLst/>
              </a:prstGeom>
              <a:noFill/>
              <a:ln w="2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Line 19"/>
              <p:cNvSpPr>
                <a:spLocks noChangeShapeType="1"/>
              </p:cNvSpPr>
              <p:nvPr/>
            </p:nvSpPr>
            <p:spPr bwMode="auto">
              <a:xfrm>
                <a:off x="3988" y="1851"/>
                <a:ext cx="108" cy="0"/>
              </a:xfrm>
              <a:prstGeom prst="line">
                <a:avLst/>
              </a:prstGeom>
              <a:noFill/>
              <a:ln w="2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Freeform 20"/>
              <p:cNvSpPr>
                <a:spLocks/>
              </p:cNvSpPr>
              <p:nvPr/>
            </p:nvSpPr>
            <p:spPr bwMode="auto">
              <a:xfrm>
                <a:off x="3967" y="1896"/>
                <a:ext cx="150" cy="73"/>
              </a:xfrm>
              <a:custGeom>
                <a:avLst/>
                <a:gdLst>
                  <a:gd name="T0" fmla="*/ 0 w 108"/>
                  <a:gd name="T1" fmla="*/ 54 h 54"/>
                  <a:gd name="T2" fmla="*/ 54 w 108"/>
                  <a:gd name="T3" fmla="*/ 0 h 54"/>
                  <a:gd name="T4" fmla="*/ 108 w 108"/>
                  <a:gd name="T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8" h="54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w="2">
                <a:solidFill>
                  <a:srgbClr val="9900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5" name="Rectangle 22"/>
            <p:cNvSpPr>
              <a:spLocks noChangeArrowheads="1"/>
            </p:cNvSpPr>
            <p:nvPr/>
          </p:nvSpPr>
          <p:spPr bwMode="auto">
            <a:xfrm>
              <a:off x="4016" y="2058"/>
              <a:ext cx="115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23"/>
            <p:cNvSpPr>
              <a:spLocks noChangeArrowheads="1"/>
            </p:cNvSpPr>
            <p:nvPr/>
          </p:nvSpPr>
          <p:spPr bwMode="auto">
            <a:xfrm>
              <a:off x="2897" y="2629"/>
              <a:ext cx="206" cy="105"/>
            </a:xfrm>
            <a:prstGeom prst="ellipse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2800" y="2797"/>
              <a:ext cx="485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Cleaned Data Display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 flipV="1">
              <a:off x="3535" y="1961"/>
              <a:ext cx="428" cy="333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 flipH="1">
              <a:off x="3940" y="1961"/>
              <a:ext cx="23" cy="40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 flipH="1">
              <a:off x="3918" y="1961"/>
              <a:ext cx="45" cy="1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Line 28"/>
            <p:cNvSpPr>
              <a:spLocks noChangeShapeType="1"/>
            </p:cNvSpPr>
            <p:nvPr/>
          </p:nvSpPr>
          <p:spPr bwMode="auto">
            <a:xfrm flipH="1">
              <a:off x="3104" y="2294"/>
              <a:ext cx="431" cy="333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Oval 29"/>
            <p:cNvSpPr>
              <a:spLocks noChangeArrowheads="1"/>
            </p:cNvSpPr>
            <p:nvPr/>
          </p:nvSpPr>
          <p:spPr bwMode="auto">
            <a:xfrm>
              <a:off x="2897" y="1379"/>
              <a:ext cx="206" cy="105"/>
            </a:xfrm>
            <a:prstGeom prst="ellipse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30"/>
            <p:cNvSpPr>
              <a:spLocks noChangeArrowheads="1"/>
            </p:cNvSpPr>
            <p:nvPr/>
          </p:nvSpPr>
          <p:spPr bwMode="auto">
            <a:xfrm>
              <a:off x="2876" y="1547"/>
              <a:ext cx="329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3026" y="1299"/>
              <a:ext cx="0" cy="7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V="1">
              <a:off x="3026" y="133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33"/>
            <p:cNvSpPr>
              <a:spLocks noChangeShapeType="1"/>
            </p:cNvSpPr>
            <p:nvPr/>
          </p:nvSpPr>
          <p:spPr bwMode="auto">
            <a:xfrm flipH="1" flipV="1">
              <a:off x="3008" y="133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 flipV="1">
              <a:off x="3026" y="1223"/>
              <a:ext cx="0" cy="76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Oval 35"/>
            <p:cNvSpPr>
              <a:spLocks noChangeArrowheads="1"/>
            </p:cNvSpPr>
            <p:nvPr/>
          </p:nvSpPr>
          <p:spPr bwMode="auto">
            <a:xfrm>
              <a:off x="2897" y="1790"/>
              <a:ext cx="206" cy="104"/>
            </a:xfrm>
            <a:prstGeom prst="ellipse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2852" y="1958"/>
              <a:ext cx="461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</a:t>
              </a:r>
              <a:r>
                <a:rPr kumimoji="0" lang="en-US" sz="6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Vision+PIL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>
              <a:off x="3026" y="1709"/>
              <a:ext cx="0" cy="7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Line 38"/>
            <p:cNvSpPr>
              <a:spLocks noChangeShapeType="1"/>
            </p:cNvSpPr>
            <p:nvPr/>
          </p:nvSpPr>
          <p:spPr bwMode="auto">
            <a:xfrm flipV="1">
              <a:off x="3026" y="174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39"/>
            <p:cNvSpPr>
              <a:spLocks noChangeShapeType="1"/>
            </p:cNvSpPr>
            <p:nvPr/>
          </p:nvSpPr>
          <p:spPr bwMode="auto">
            <a:xfrm flipH="1" flipV="1">
              <a:off x="3008" y="174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40"/>
            <p:cNvSpPr>
              <a:spLocks noChangeShapeType="1"/>
            </p:cNvSpPr>
            <p:nvPr/>
          </p:nvSpPr>
          <p:spPr bwMode="auto">
            <a:xfrm flipV="1">
              <a:off x="3026" y="1634"/>
              <a:ext cx="0" cy="75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Oval 41"/>
            <p:cNvSpPr>
              <a:spLocks noChangeArrowheads="1"/>
            </p:cNvSpPr>
            <p:nvPr/>
          </p:nvSpPr>
          <p:spPr bwMode="auto">
            <a:xfrm>
              <a:off x="2897" y="2200"/>
              <a:ext cx="206" cy="105"/>
            </a:xfrm>
            <a:prstGeom prst="ellipse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42"/>
            <p:cNvSpPr>
              <a:spLocks noChangeArrowheads="1"/>
            </p:cNvSpPr>
            <p:nvPr/>
          </p:nvSpPr>
          <p:spPr bwMode="auto">
            <a:xfrm>
              <a:off x="2902" y="2368"/>
              <a:ext cx="271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Line 43"/>
            <p:cNvSpPr>
              <a:spLocks noChangeShapeType="1"/>
            </p:cNvSpPr>
            <p:nvPr/>
          </p:nvSpPr>
          <p:spPr bwMode="auto">
            <a:xfrm>
              <a:off x="3026" y="2540"/>
              <a:ext cx="0" cy="86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44"/>
            <p:cNvSpPr>
              <a:spLocks noChangeShapeType="1"/>
            </p:cNvSpPr>
            <p:nvPr/>
          </p:nvSpPr>
          <p:spPr bwMode="auto">
            <a:xfrm flipV="1">
              <a:off x="3026" y="258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 flipH="1" flipV="1">
              <a:off x="3008" y="2584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 flipV="1">
              <a:off x="3026" y="2455"/>
              <a:ext cx="0" cy="85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Line 47"/>
            <p:cNvSpPr>
              <a:spLocks noChangeShapeType="1"/>
            </p:cNvSpPr>
            <p:nvPr/>
          </p:nvSpPr>
          <p:spPr bwMode="auto">
            <a:xfrm>
              <a:off x="3026" y="2053"/>
              <a:ext cx="0" cy="144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Line 48"/>
            <p:cNvSpPr>
              <a:spLocks noChangeShapeType="1"/>
            </p:cNvSpPr>
            <p:nvPr/>
          </p:nvSpPr>
          <p:spPr bwMode="auto">
            <a:xfrm flipV="1">
              <a:off x="3026" y="2155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49"/>
            <p:cNvSpPr>
              <a:spLocks noChangeShapeType="1"/>
            </p:cNvSpPr>
            <p:nvPr/>
          </p:nvSpPr>
          <p:spPr bwMode="auto">
            <a:xfrm flipH="1" flipV="1">
              <a:off x="3008" y="2155"/>
              <a:ext cx="18" cy="42"/>
            </a:xfrm>
            <a:prstGeom prst="line">
              <a:avLst/>
            </a:prstGeom>
            <a:noFill/>
            <a:ln w="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365"/>
            <a:ext cx="24981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4.2.2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CLASS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106713"/>
            <a:ext cx="7719658" cy="9018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0"/>
              </a:spcBef>
            </a:pP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this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diagram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represents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classes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attributes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linked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together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perform </a:t>
            </a:r>
            <a:r>
              <a:rPr sz="1200" dirty="0">
                <a:latin typeface="Times New Roman"/>
                <a:cs typeface="Times New Roman"/>
              </a:rPr>
              <a:t>the verification with </a:t>
            </a:r>
            <a:r>
              <a:rPr sz="1200" spc="-5" dirty="0">
                <a:latin typeface="Times New Roman"/>
                <a:cs typeface="Times New Roman"/>
              </a:rPr>
              <a:t>security. From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above diagram </a:t>
            </a:r>
            <a:r>
              <a:rPr sz="1200" dirty="0">
                <a:latin typeface="Times New Roman"/>
                <a:cs typeface="Times New Roman"/>
              </a:rPr>
              <a:t>shown the various </a:t>
            </a:r>
            <a:r>
              <a:rPr sz="1200" spc="-5" dirty="0">
                <a:latin typeface="Times New Roman"/>
                <a:cs typeface="Times New Roman"/>
              </a:rPr>
              <a:t>classes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involved </a:t>
            </a:r>
            <a:r>
              <a:rPr sz="1200" dirty="0">
                <a:latin typeface="Times New Roman"/>
                <a:cs typeface="Times New Roman"/>
              </a:rPr>
              <a:t>in our </a:t>
            </a:r>
            <a:r>
              <a:rPr sz="1200" spc="-5" dirty="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514600" y="914400"/>
            <a:ext cx="5257800" cy="3235325"/>
            <a:chOff x="1584" y="576"/>
            <a:chExt cx="3134" cy="2038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84" y="576"/>
              <a:ext cx="3134" cy="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731" y="665"/>
              <a:ext cx="519" cy="332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883" y="678"/>
              <a:ext cx="25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31" y="734"/>
              <a:ext cx="519" cy="26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731" y="809"/>
              <a:ext cx="519" cy="188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740"/>
              <a:ext cx="5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740"/>
              <a:ext cx="5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740"/>
              <a:ext cx="5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792" y="740"/>
              <a:ext cx="14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webcam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842"/>
              <a:ext cx="51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8" name="Picture 1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842"/>
              <a:ext cx="51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9" name="Picture 1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" y="842"/>
              <a:ext cx="51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1792" y="842"/>
              <a:ext cx="10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read()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>
              <a:off x="2660" y="669"/>
              <a:ext cx="487" cy="324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>
              <a:off x="2815" y="682"/>
              <a:ext cx="197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2660" y="737"/>
              <a:ext cx="487" cy="256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2660" y="813"/>
              <a:ext cx="487" cy="180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045" name="Picture 2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74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6" name="Picture 2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74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7" name="Picture 2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74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2721" y="743"/>
              <a:ext cx="10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49" name="Picture 25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845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0" name="Picture 2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845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1" name="Picture 27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" y="845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2721" y="845"/>
              <a:ext cx="126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input()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3596" y="650"/>
              <a:ext cx="440" cy="363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Rectangle 30"/>
            <p:cNvSpPr>
              <a:spLocks noChangeArrowheads="1"/>
            </p:cNvSpPr>
            <p:nvPr/>
          </p:nvSpPr>
          <p:spPr bwMode="auto">
            <a:xfrm>
              <a:off x="3723" y="662"/>
              <a:ext cx="26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Video analysis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3596" y="717"/>
              <a:ext cx="440" cy="296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32"/>
            <p:cNvSpPr>
              <a:spLocks noChangeArrowheads="1"/>
            </p:cNvSpPr>
            <p:nvPr/>
          </p:nvSpPr>
          <p:spPr bwMode="auto">
            <a:xfrm>
              <a:off x="3596" y="793"/>
              <a:ext cx="440" cy="220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057" name="Picture 33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2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8" name="Picture 34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2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9" name="Picture 35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23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36"/>
            <p:cNvSpPr>
              <a:spLocks noChangeArrowheads="1"/>
            </p:cNvSpPr>
            <p:nvPr/>
          </p:nvSpPr>
          <p:spPr bwMode="auto">
            <a:xfrm>
              <a:off x="3658" y="723"/>
              <a:ext cx="22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video format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61" name="Picture 37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82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2" name="Picture 38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82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3" name="Picture 39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82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Rectangle 40"/>
            <p:cNvSpPr>
              <a:spLocks noChangeArrowheads="1"/>
            </p:cNvSpPr>
            <p:nvPr/>
          </p:nvSpPr>
          <p:spPr bwMode="auto">
            <a:xfrm>
              <a:off x="3658" y="825"/>
              <a:ext cx="10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latin typeface="Arial" pitchFamily="34" charset="0"/>
                  <a:cs typeface="Arial" pitchFamily="34" charset="0"/>
                </a:rPr>
                <a:t>m</a:t>
              </a: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p4()</a:t>
              </a:r>
            </a:p>
          </p:txBody>
        </p:sp>
        <p:sp>
          <p:nvSpPr>
            <p:cNvPr id="25" name="Rectangle 41"/>
            <p:cNvSpPr>
              <a:spLocks noChangeArrowheads="1"/>
            </p:cNvSpPr>
            <p:nvPr/>
          </p:nvSpPr>
          <p:spPr bwMode="auto">
            <a:xfrm>
              <a:off x="3458" y="1357"/>
              <a:ext cx="948" cy="27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3829" y="1370"/>
              <a:ext cx="224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Predictions-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43"/>
            <p:cNvSpPr>
              <a:spLocks noChangeArrowheads="1"/>
            </p:cNvSpPr>
            <p:nvPr/>
          </p:nvSpPr>
          <p:spPr bwMode="auto">
            <a:xfrm>
              <a:off x="3458" y="1425"/>
              <a:ext cx="948" cy="208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44"/>
            <p:cNvSpPr>
              <a:spLocks noChangeArrowheads="1"/>
            </p:cNvSpPr>
            <p:nvPr/>
          </p:nvSpPr>
          <p:spPr bwMode="auto">
            <a:xfrm>
              <a:off x="3458" y="1500"/>
              <a:ext cx="948" cy="13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069" name="Picture 45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431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0" name="Picture 46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431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1" name="Picture 47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431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48"/>
            <p:cNvSpPr>
              <a:spLocks noChangeArrowheads="1"/>
            </p:cNvSpPr>
            <p:nvPr/>
          </p:nvSpPr>
          <p:spPr bwMode="auto">
            <a:xfrm>
              <a:off x="3520" y="1431"/>
              <a:ext cx="868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 user values from extracted feature values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73" name="Picture 49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53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4" name="Picture 50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53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5" name="Picture 51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8" y="153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Rectangle 52"/>
            <p:cNvSpPr>
              <a:spLocks noChangeArrowheads="1"/>
            </p:cNvSpPr>
            <p:nvPr/>
          </p:nvSpPr>
          <p:spPr bwMode="auto">
            <a:xfrm>
              <a:off x="3520" y="1532"/>
              <a:ext cx="167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Predict()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Line 53"/>
            <p:cNvSpPr>
              <a:spLocks noChangeShapeType="1"/>
            </p:cNvSpPr>
            <p:nvPr/>
          </p:nvSpPr>
          <p:spPr bwMode="auto">
            <a:xfrm flipH="1">
              <a:off x="3151" y="833"/>
              <a:ext cx="44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4" name="Line 54"/>
            <p:cNvSpPr>
              <a:spLocks noChangeShapeType="1"/>
            </p:cNvSpPr>
            <p:nvPr/>
          </p:nvSpPr>
          <p:spPr bwMode="auto">
            <a:xfrm>
              <a:off x="3151" y="833"/>
              <a:ext cx="38" cy="16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5" name="Line 55"/>
            <p:cNvSpPr>
              <a:spLocks noChangeShapeType="1"/>
            </p:cNvSpPr>
            <p:nvPr/>
          </p:nvSpPr>
          <p:spPr bwMode="auto">
            <a:xfrm flipV="1">
              <a:off x="3151" y="818"/>
              <a:ext cx="38" cy="15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6" name="Line 56"/>
            <p:cNvSpPr>
              <a:spLocks noChangeShapeType="1"/>
            </p:cNvSpPr>
            <p:nvPr/>
          </p:nvSpPr>
          <p:spPr bwMode="auto">
            <a:xfrm flipH="1">
              <a:off x="2254" y="833"/>
              <a:ext cx="40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7" name="Line 57"/>
            <p:cNvSpPr>
              <a:spLocks noChangeShapeType="1"/>
            </p:cNvSpPr>
            <p:nvPr/>
          </p:nvSpPr>
          <p:spPr bwMode="auto">
            <a:xfrm>
              <a:off x="2254" y="833"/>
              <a:ext cx="37" cy="16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8" name="Line 58"/>
            <p:cNvSpPr>
              <a:spLocks noChangeShapeType="1"/>
            </p:cNvSpPr>
            <p:nvPr/>
          </p:nvSpPr>
          <p:spPr bwMode="auto">
            <a:xfrm flipV="1">
              <a:off x="2254" y="818"/>
              <a:ext cx="37" cy="15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9" name="Rectangle 59"/>
            <p:cNvSpPr>
              <a:spLocks noChangeArrowheads="1"/>
            </p:cNvSpPr>
            <p:nvPr/>
          </p:nvSpPr>
          <p:spPr bwMode="auto">
            <a:xfrm>
              <a:off x="1720" y="1327"/>
              <a:ext cx="541" cy="33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0" name="Rectangle 60"/>
            <p:cNvSpPr>
              <a:spLocks noChangeArrowheads="1"/>
            </p:cNvSpPr>
            <p:nvPr/>
          </p:nvSpPr>
          <p:spPr bwMode="auto">
            <a:xfrm>
              <a:off x="1858" y="1340"/>
              <a:ext cx="293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Pre-processing-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1" name="Rectangle 61"/>
            <p:cNvSpPr>
              <a:spLocks noChangeArrowheads="1"/>
            </p:cNvSpPr>
            <p:nvPr/>
          </p:nvSpPr>
          <p:spPr bwMode="auto">
            <a:xfrm>
              <a:off x="1720" y="1396"/>
              <a:ext cx="541" cy="267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2" name="Rectangle 62"/>
            <p:cNvSpPr>
              <a:spLocks noChangeArrowheads="1"/>
            </p:cNvSpPr>
            <p:nvPr/>
          </p:nvSpPr>
          <p:spPr bwMode="auto">
            <a:xfrm>
              <a:off x="1720" y="1522"/>
              <a:ext cx="541" cy="141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087" name="Picture 63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02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8" name="Picture 64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02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9" name="Picture 65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02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6" name="Rectangle 66"/>
            <p:cNvSpPr>
              <a:spLocks noChangeArrowheads="1"/>
            </p:cNvSpPr>
            <p:nvPr/>
          </p:nvSpPr>
          <p:spPr bwMode="auto">
            <a:xfrm>
              <a:off x="1781" y="1402"/>
              <a:ext cx="299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Reshaping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91" name="Picture 67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53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2" name="Picture 68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53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3" name="Picture 69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453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0" name="Rectangle 70"/>
            <p:cNvSpPr>
              <a:spLocks noChangeArrowheads="1"/>
            </p:cNvSpPr>
            <p:nvPr/>
          </p:nvSpPr>
          <p:spPr bwMode="auto">
            <a:xfrm>
              <a:off x="1781" y="1453"/>
              <a:ext cx="447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array conversion of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95" name="Picture 71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554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6" name="Picture 72"/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554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7" name="Picture 73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554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1" name="Rectangle 74"/>
            <p:cNvSpPr>
              <a:spLocks noChangeArrowheads="1"/>
            </p:cNvSpPr>
            <p:nvPr/>
          </p:nvSpPr>
          <p:spPr bwMode="auto">
            <a:xfrm>
              <a:off x="1781" y="1554"/>
              <a:ext cx="132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array()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99" name="Picture 75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60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0" name="Picture 76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60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1" name="Picture 77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9" y="1605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2" name="Rectangle 78"/>
            <p:cNvSpPr>
              <a:spLocks noChangeArrowheads="1"/>
            </p:cNvSpPr>
            <p:nvPr/>
          </p:nvSpPr>
          <p:spPr bwMode="auto">
            <a:xfrm>
              <a:off x="1781" y="1605"/>
              <a:ext cx="74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fit()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3" name="Line 79"/>
            <p:cNvSpPr>
              <a:spLocks noChangeShapeType="1"/>
            </p:cNvSpPr>
            <p:nvPr/>
          </p:nvSpPr>
          <p:spPr bwMode="auto">
            <a:xfrm>
              <a:off x="1993" y="1001"/>
              <a:ext cx="0" cy="32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4" name="Line 80"/>
            <p:cNvSpPr>
              <a:spLocks noChangeShapeType="1"/>
            </p:cNvSpPr>
            <p:nvPr/>
          </p:nvSpPr>
          <p:spPr bwMode="auto">
            <a:xfrm flipV="1">
              <a:off x="1993" y="1289"/>
              <a:ext cx="15" cy="37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8" name="Line 81"/>
            <p:cNvSpPr>
              <a:spLocks noChangeShapeType="1"/>
            </p:cNvSpPr>
            <p:nvPr/>
          </p:nvSpPr>
          <p:spPr bwMode="auto">
            <a:xfrm flipH="1" flipV="1">
              <a:off x="1977" y="1289"/>
              <a:ext cx="16" cy="37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2" name="Rectangle 82"/>
            <p:cNvSpPr>
              <a:spLocks noChangeArrowheads="1"/>
            </p:cNvSpPr>
            <p:nvPr/>
          </p:nvSpPr>
          <p:spPr bwMode="auto">
            <a:xfrm>
              <a:off x="2550" y="1377"/>
              <a:ext cx="674" cy="23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3" name="Rectangle 83"/>
            <p:cNvSpPr>
              <a:spLocks noChangeArrowheads="1"/>
            </p:cNvSpPr>
            <p:nvPr/>
          </p:nvSpPr>
          <p:spPr bwMode="auto">
            <a:xfrm>
              <a:off x="2740" y="1389"/>
              <a:ext cx="36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</a:t>
              </a:r>
              <a:r>
                <a:rPr kumimoji="0" lang="en-US" sz="5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Vision+PIL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4" name="Rectangle 84"/>
            <p:cNvSpPr>
              <a:spLocks noChangeArrowheads="1"/>
            </p:cNvSpPr>
            <p:nvPr/>
          </p:nvSpPr>
          <p:spPr bwMode="auto">
            <a:xfrm>
              <a:off x="2550" y="1444"/>
              <a:ext cx="674" cy="169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5" name="Rectangle 85"/>
            <p:cNvSpPr>
              <a:spLocks noChangeArrowheads="1"/>
            </p:cNvSpPr>
            <p:nvPr/>
          </p:nvSpPr>
          <p:spPr bwMode="auto">
            <a:xfrm>
              <a:off x="2550" y="1520"/>
              <a:ext cx="674" cy="9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110" name="Picture 86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45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1" name="Picture 87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45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2" name="Picture 88"/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45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6" name="Rectangle 89"/>
            <p:cNvSpPr>
              <a:spLocks noChangeArrowheads="1"/>
            </p:cNvSpPr>
            <p:nvPr/>
          </p:nvSpPr>
          <p:spPr bwMode="auto">
            <a:xfrm>
              <a:off x="2611" y="1451"/>
              <a:ext cx="474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extract features from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114" name="Picture 90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55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5" name="Picture 91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55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6" name="Picture 92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155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0" name="Rectangle 93"/>
            <p:cNvSpPr>
              <a:spLocks noChangeArrowheads="1"/>
            </p:cNvSpPr>
            <p:nvPr/>
          </p:nvSpPr>
          <p:spPr bwMode="auto">
            <a:xfrm>
              <a:off x="2611" y="1552"/>
              <a:ext cx="104" cy="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cv2()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4" name="Rectangle 94"/>
            <p:cNvSpPr>
              <a:spLocks noChangeArrowheads="1"/>
            </p:cNvSpPr>
            <p:nvPr/>
          </p:nvSpPr>
          <p:spPr bwMode="auto">
            <a:xfrm>
              <a:off x="3591" y="1827"/>
              <a:ext cx="683" cy="381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5" name="Rectangle 95"/>
            <p:cNvSpPr>
              <a:spLocks noChangeArrowheads="1"/>
            </p:cNvSpPr>
            <p:nvPr/>
          </p:nvSpPr>
          <p:spPr bwMode="auto">
            <a:xfrm>
              <a:off x="3798" y="1840"/>
              <a:ext cx="46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Railway Tracking </a:t>
              </a: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6" name="Rectangle 96"/>
            <p:cNvSpPr>
              <a:spLocks noChangeArrowheads="1"/>
            </p:cNvSpPr>
            <p:nvPr/>
          </p:nvSpPr>
          <p:spPr bwMode="auto">
            <a:xfrm>
              <a:off x="3591" y="1895"/>
              <a:ext cx="683" cy="231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7" name="Rectangle 97"/>
            <p:cNvSpPr>
              <a:spLocks noChangeArrowheads="1"/>
            </p:cNvSpPr>
            <p:nvPr/>
          </p:nvSpPr>
          <p:spPr bwMode="auto">
            <a:xfrm>
              <a:off x="3591" y="1970"/>
              <a:ext cx="683" cy="156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122" name="Picture 98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190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3" name="Picture 99"/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190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4" name="Picture 100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1901"/>
              <a:ext cx="52" cy="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8" name="Rectangle 101"/>
            <p:cNvSpPr>
              <a:spLocks noChangeArrowheads="1"/>
            </p:cNvSpPr>
            <p:nvPr/>
          </p:nvSpPr>
          <p:spPr bwMode="auto">
            <a:xfrm>
              <a:off x="3652" y="1901"/>
              <a:ext cx="221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viral display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126" name="Picture 102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200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" name="Picture 103"/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200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" name="Picture 104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2002"/>
              <a:ext cx="5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2" name="Rectangle 105"/>
            <p:cNvSpPr>
              <a:spLocks noChangeArrowheads="1"/>
            </p:cNvSpPr>
            <p:nvPr/>
          </p:nvSpPr>
          <p:spPr bwMode="auto">
            <a:xfrm>
              <a:off x="3652" y="2002"/>
              <a:ext cx="148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err="1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Tkinter</a:t>
              </a: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()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6" name="Line 106"/>
            <p:cNvSpPr>
              <a:spLocks noChangeShapeType="1"/>
            </p:cNvSpPr>
            <p:nvPr/>
          </p:nvSpPr>
          <p:spPr bwMode="auto">
            <a:xfrm>
              <a:off x="2265" y="1497"/>
              <a:ext cx="28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7" name="Line 107"/>
            <p:cNvSpPr>
              <a:spLocks noChangeShapeType="1"/>
            </p:cNvSpPr>
            <p:nvPr/>
          </p:nvSpPr>
          <p:spPr bwMode="auto">
            <a:xfrm flipH="1">
              <a:off x="2511" y="1497"/>
              <a:ext cx="38" cy="16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8" name="Line 108"/>
            <p:cNvSpPr>
              <a:spLocks noChangeShapeType="1"/>
            </p:cNvSpPr>
            <p:nvPr/>
          </p:nvSpPr>
          <p:spPr bwMode="auto">
            <a:xfrm flipH="1" flipV="1">
              <a:off x="2511" y="1482"/>
              <a:ext cx="38" cy="15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9" name="Line 109"/>
            <p:cNvSpPr>
              <a:spLocks noChangeShapeType="1"/>
            </p:cNvSpPr>
            <p:nvPr/>
          </p:nvSpPr>
          <p:spPr bwMode="auto">
            <a:xfrm>
              <a:off x="3228" y="1497"/>
              <a:ext cx="229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0" name="Line 110"/>
            <p:cNvSpPr>
              <a:spLocks noChangeShapeType="1"/>
            </p:cNvSpPr>
            <p:nvPr/>
          </p:nvSpPr>
          <p:spPr bwMode="auto">
            <a:xfrm flipH="1">
              <a:off x="3420" y="1497"/>
              <a:ext cx="37" cy="16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1" name="Line 111"/>
            <p:cNvSpPr>
              <a:spLocks noChangeShapeType="1"/>
            </p:cNvSpPr>
            <p:nvPr/>
          </p:nvSpPr>
          <p:spPr bwMode="auto">
            <a:xfrm flipH="1" flipV="1">
              <a:off x="3420" y="1482"/>
              <a:ext cx="37" cy="15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2" name="Line 112"/>
            <p:cNvSpPr>
              <a:spLocks noChangeShapeType="1"/>
            </p:cNvSpPr>
            <p:nvPr/>
          </p:nvSpPr>
          <p:spPr bwMode="auto">
            <a:xfrm>
              <a:off x="3934" y="1637"/>
              <a:ext cx="0" cy="18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3" name="Line 113"/>
            <p:cNvSpPr>
              <a:spLocks noChangeShapeType="1"/>
            </p:cNvSpPr>
            <p:nvPr/>
          </p:nvSpPr>
          <p:spPr bwMode="auto">
            <a:xfrm flipV="1">
              <a:off x="3934" y="1789"/>
              <a:ext cx="16" cy="37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267730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4.2.3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OBJECT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160883"/>
            <a:ext cx="7724588" cy="11676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105"/>
              </a:spcBef>
            </a:pP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above </a:t>
            </a:r>
            <a:r>
              <a:rPr sz="1200" spc="-5" dirty="0">
                <a:latin typeface="Times New Roman"/>
                <a:cs typeface="Times New Roman"/>
              </a:rPr>
              <a:t>digram </a:t>
            </a:r>
            <a:r>
              <a:rPr sz="1200" dirty="0">
                <a:latin typeface="Times New Roman"/>
                <a:cs typeface="Times New Roman"/>
              </a:rPr>
              <a:t>tells </a:t>
            </a:r>
            <a:r>
              <a:rPr sz="1200" spc="-5" dirty="0">
                <a:latin typeface="Times New Roman"/>
                <a:cs typeface="Times New Roman"/>
              </a:rPr>
              <a:t>about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flow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objects between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classes. </a:t>
            </a:r>
            <a:r>
              <a:rPr sz="1200" spc="-1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diagram </a:t>
            </a:r>
            <a:r>
              <a:rPr sz="1200" dirty="0">
                <a:latin typeface="Times New Roman"/>
                <a:cs typeface="Times New Roman"/>
              </a:rPr>
              <a:t>that shows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complete </a:t>
            </a:r>
            <a:r>
              <a:rPr sz="1200" dirty="0">
                <a:latin typeface="Times New Roman"/>
                <a:cs typeface="Times New Roman"/>
              </a:rPr>
              <a:t>or partial view of the structure of a </a:t>
            </a:r>
            <a:r>
              <a:rPr sz="1200" spc="-5" dirty="0">
                <a:latin typeface="Times New Roman"/>
                <a:cs typeface="Times New Roman"/>
              </a:rPr>
              <a:t>modeled system. </a:t>
            </a: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this object </a:t>
            </a:r>
            <a:r>
              <a:rPr sz="1200" spc="-5" dirty="0">
                <a:latin typeface="Times New Roman"/>
                <a:cs typeface="Times New Roman"/>
              </a:rPr>
              <a:t>diagram represents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how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classes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5" dirty="0">
                <a:latin typeface="Times New Roman"/>
                <a:cs typeface="Times New Roman"/>
              </a:rPr>
              <a:t>attributes and </a:t>
            </a:r>
            <a:r>
              <a:rPr sz="1200" dirty="0">
                <a:latin typeface="Times New Roman"/>
                <a:cs typeface="Times New Roman"/>
              </a:rPr>
              <a:t>methods </a:t>
            </a:r>
            <a:r>
              <a:rPr sz="1200" spc="-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linked </a:t>
            </a:r>
            <a:r>
              <a:rPr sz="1200" spc="-5" dirty="0">
                <a:latin typeface="Times New Roman"/>
                <a:cs typeface="Times New Roman"/>
              </a:rPr>
              <a:t>together </a:t>
            </a:r>
            <a:r>
              <a:rPr sz="1200" dirty="0">
                <a:latin typeface="Times New Roman"/>
                <a:cs typeface="Times New Roman"/>
              </a:rPr>
              <a:t>to perform the </a:t>
            </a:r>
            <a:r>
              <a:rPr sz="1200" spc="-5" dirty="0">
                <a:latin typeface="Times New Roman"/>
                <a:cs typeface="Times New Roman"/>
              </a:rPr>
              <a:t>verification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security.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963738" y="1136651"/>
            <a:ext cx="5159375" cy="3024188"/>
            <a:chOff x="1237" y="716"/>
            <a:chExt cx="3250" cy="1905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37" y="716"/>
              <a:ext cx="3250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575" y="752"/>
              <a:ext cx="674" cy="258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810" y="766"/>
              <a:ext cx="242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575" y="829"/>
              <a:ext cx="674" cy="181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575" y="858"/>
              <a:ext cx="674" cy="152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662" y="741"/>
              <a:ext cx="666" cy="243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862" y="755"/>
              <a:ext cx="3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662" y="818"/>
              <a:ext cx="666" cy="166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662" y="847"/>
              <a:ext cx="666" cy="137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614" y="1389"/>
              <a:ext cx="708" cy="251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854" y="1394"/>
              <a:ext cx="258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614" y="1457"/>
              <a:ext cx="708" cy="18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614" y="1486"/>
              <a:ext cx="708" cy="154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606" y="1840"/>
              <a:ext cx="724" cy="281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680" y="1854"/>
              <a:ext cx="653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Railway Tracking </a:t>
              </a:r>
              <a:r>
                <a:rPr lang="en-US" sz="6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D</a:t>
              </a: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606" y="1917"/>
              <a:ext cx="724" cy="204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606" y="1946"/>
              <a:ext cx="724" cy="175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02" y="1371"/>
              <a:ext cx="861" cy="28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795" y="1385"/>
              <a:ext cx="641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 (cv2()) + 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602" y="1448"/>
              <a:ext cx="861" cy="210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2602" y="1477"/>
              <a:ext cx="861" cy="181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700" y="1393"/>
              <a:ext cx="570" cy="243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834" y="1397"/>
              <a:ext cx="345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3700" y="1460"/>
              <a:ext cx="570" cy="176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700" y="1489"/>
              <a:ext cx="570" cy="147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674" y="748"/>
              <a:ext cx="622" cy="229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3784" y="752"/>
              <a:ext cx="448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Open &amp; Load Model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3674" y="815"/>
              <a:ext cx="622" cy="162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3674" y="844"/>
              <a:ext cx="622" cy="13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V="1">
              <a:off x="2252" y="869"/>
              <a:ext cx="409" cy="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>
              <a:off x="2619" y="869"/>
              <a:ext cx="42" cy="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 flipV="1">
              <a:off x="2619" y="853"/>
              <a:ext cx="42" cy="16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1970" y="1643"/>
              <a:ext cx="0" cy="1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V="1">
              <a:off x="1970" y="1797"/>
              <a:ext cx="17" cy="4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H="1" flipV="1">
              <a:off x="1952" y="1797"/>
              <a:ext cx="18" cy="4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2326" y="1516"/>
              <a:ext cx="27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2326" y="1516"/>
              <a:ext cx="42" cy="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 flipV="1">
              <a:off x="2326" y="1499"/>
              <a:ext cx="42" cy="1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H="1">
              <a:off x="3466" y="1516"/>
              <a:ext cx="23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3466" y="1516"/>
              <a:ext cx="42" cy="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 flipV="1">
              <a:off x="3466" y="1499"/>
              <a:ext cx="42" cy="1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332" y="864"/>
              <a:ext cx="34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 flipH="1">
              <a:off x="3631" y="864"/>
              <a:ext cx="42" cy="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H="1" flipV="1">
              <a:off x="3631" y="847"/>
              <a:ext cx="42" cy="1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>
              <a:off x="3987" y="981"/>
              <a:ext cx="0" cy="4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 flipV="1">
              <a:off x="3987" y="1350"/>
              <a:ext cx="17" cy="4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 flipH="1" flipV="1">
              <a:off x="3985" y="1371"/>
              <a:ext cx="11" cy="14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2569658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4.2.8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STATE</a:t>
            </a:r>
            <a:r>
              <a:rPr sz="1400" b="1" spc="315" dirty="0">
                <a:latin typeface="Times New Roman"/>
                <a:cs typeface="Times New Roman"/>
              </a:rPr>
              <a:t> </a:t>
            </a:r>
            <a:r>
              <a:rPr sz="1400" b="1" spc="-10" dirty="0" smtClean="0">
                <a:latin typeface="Times New Roman"/>
                <a:cs typeface="Times New Roman"/>
              </a:rPr>
              <a:t>DIAGRAM</a:t>
            </a:r>
            <a:endParaRPr lang="en-GB" sz="1400" b="1" spc="-1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5513988"/>
            <a:ext cx="7722945" cy="14329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190500" algn="just">
              <a:lnSpc>
                <a:spcPct val="143800"/>
              </a:lnSpc>
              <a:spcBef>
                <a:spcPts val="1100"/>
              </a:spcBef>
            </a:pPr>
            <a:r>
              <a:rPr sz="1200" dirty="0">
                <a:latin typeface="Times New Roman"/>
                <a:cs typeface="Times New Roman"/>
              </a:rPr>
              <a:t>State </a:t>
            </a:r>
            <a:r>
              <a:rPr sz="1200" spc="-5" dirty="0">
                <a:latin typeface="Times New Roman"/>
                <a:cs typeface="Times New Roman"/>
              </a:rPr>
              <a:t>diagram </a:t>
            </a:r>
            <a:r>
              <a:rPr sz="1200" dirty="0">
                <a:latin typeface="Times New Roman"/>
                <a:cs typeface="Times New Roman"/>
              </a:rPr>
              <a:t>are a loosely </a:t>
            </a:r>
            <a:r>
              <a:rPr sz="1200" spc="-5" dirty="0">
                <a:latin typeface="Times New Roman"/>
                <a:cs typeface="Times New Roman"/>
              </a:rPr>
              <a:t>defined diagram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show workflows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stepwise activities 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actions,</a:t>
            </a:r>
            <a:r>
              <a:rPr sz="1200" dirty="0">
                <a:latin typeface="Times New Roman"/>
                <a:cs typeface="Times New Roman"/>
              </a:rPr>
              <a:t> with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choice,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iteration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concurrency.</a:t>
            </a:r>
            <a:r>
              <a:rPr sz="1200" dirty="0">
                <a:latin typeface="Times New Roman"/>
                <a:cs typeface="Times New Roman"/>
              </a:rPr>
              <a:t> State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diagrams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 described is </a:t>
            </a:r>
            <a:r>
              <a:rPr sz="1200" dirty="0">
                <a:latin typeface="Times New Roman"/>
                <a:cs typeface="Times New Roman"/>
              </a:rPr>
              <a:t>composed of a finite number of </a:t>
            </a:r>
            <a:r>
              <a:rPr sz="1200" spc="-5" dirty="0">
                <a:latin typeface="Times New Roman"/>
                <a:cs typeface="Times New Roman"/>
              </a:rPr>
              <a:t>states; </a:t>
            </a:r>
            <a:r>
              <a:rPr sz="1200" dirty="0">
                <a:latin typeface="Times New Roman"/>
                <a:cs typeface="Times New Roman"/>
              </a:rPr>
              <a:t>sometimes, this </a:t>
            </a:r>
            <a:r>
              <a:rPr sz="1200" spc="-5" dirty="0">
                <a:latin typeface="Times New Roman"/>
                <a:cs typeface="Times New Roman"/>
              </a:rPr>
              <a:t>is indeed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case, </a:t>
            </a:r>
            <a:r>
              <a:rPr sz="1200" dirty="0">
                <a:latin typeface="Times New Roman"/>
                <a:cs typeface="Times New Roman"/>
              </a:rPr>
              <a:t> while </a:t>
            </a:r>
            <a:r>
              <a:rPr sz="1200" spc="-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other times this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reasonable abstraction. </a:t>
            </a:r>
            <a:r>
              <a:rPr sz="1200" dirty="0">
                <a:latin typeface="Times New Roman"/>
                <a:cs typeface="Times New Roman"/>
              </a:rPr>
              <a:t>Many forms of state </a:t>
            </a:r>
            <a:r>
              <a:rPr sz="1200" spc="-5" dirty="0">
                <a:latin typeface="Times New Roman"/>
                <a:cs typeface="Times New Roman"/>
              </a:rPr>
              <a:t>diagrams </a:t>
            </a:r>
            <a:r>
              <a:rPr sz="1200" dirty="0">
                <a:latin typeface="Times New Roman"/>
                <a:cs typeface="Times New Roman"/>
              </a:rPr>
              <a:t>exist, </a:t>
            </a:r>
            <a:r>
              <a:rPr sz="1200" spc="-5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differ </a:t>
            </a:r>
            <a:r>
              <a:rPr sz="1200" dirty="0">
                <a:latin typeface="Times New Roman"/>
                <a:cs typeface="Times New Roman"/>
              </a:rPr>
              <a:t>slightly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have different</a:t>
            </a:r>
            <a:r>
              <a:rPr sz="1200" dirty="0">
                <a:latin typeface="Times New Roman"/>
                <a:cs typeface="Times New Roman"/>
              </a:rPr>
              <a:t> semantics.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429000" y="792956"/>
            <a:ext cx="2743200" cy="4083844"/>
            <a:chOff x="2160" y="336"/>
            <a:chExt cx="1728" cy="273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160" y="336"/>
              <a:ext cx="1728" cy="2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568" y="464"/>
              <a:ext cx="76" cy="71"/>
            </a:xfrm>
            <a:prstGeom prst="ellipse">
              <a:avLst/>
            </a:prstGeom>
            <a:solidFill>
              <a:srgbClr val="000000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2343" y="686"/>
              <a:ext cx="526" cy="183"/>
            </a:xfrm>
            <a:prstGeom prst="roundRect">
              <a:avLst>
                <a:gd name="adj" fmla="val 15306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475" y="711"/>
              <a:ext cx="33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User Login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2228" y="964"/>
              <a:ext cx="756" cy="183"/>
            </a:xfrm>
            <a:prstGeom prst="roundRect">
              <a:avLst>
                <a:gd name="adj" fmla="val 15306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490" y="989"/>
              <a:ext cx="30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2294" y="1580"/>
              <a:ext cx="624" cy="183"/>
            </a:xfrm>
            <a:prstGeom prst="roundRect">
              <a:avLst>
                <a:gd name="adj" fmla="val 15306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434" y="1605"/>
              <a:ext cx="428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2222" y="2562"/>
              <a:ext cx="768" cy="205"/>
            </a:xfrm>
            <a:prstGeom prst="roundRect">
              <a:avLst>
                <a:gd name="adj" fmla="val 13634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310" y="2587"/>
              <a:ext cx="709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 (display)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552" y="2932"/>
              <a:ext cx="108" cy="101"/>
            </a:xfrm>
            <a:prstGeom prst="ellips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568" y="2947"/>
              <a:ext cx="76" cy="71"/>
            </a:xfrm>
            <a:prstGeom prst="ellipse">
              <a:avLst/>
            </a:prstGeom>
            <a:solidFill>
              <a:srgbClr val="000000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608" y="538"/>
              <a:ext cx="0" cy="148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2608" y="641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2588" y="641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608" y="872"/>
              <a:ext cx="0" cy="92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2608" y="920"/>
              <a:ext cx="20" cy="44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 flipV="1">
              <a:off x="2588" y="920"/>
              <a:ext cx="20" cy="44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AutoShape 22"/>
            <p:cNvSpPr>
              <a:spLocks noChangeArrowheads="1"/>
            </p:cNvSpPr>
            <p:nvPr/>
          </p:nvSpPr>
          <p:spPr bwMode="auto">
            <a:xfrm>
              <a:off x="2240" y="1934"/>
              <a:ext cx="732" cy="190"/>
            </a:xfrm>
            <a:prstGeom prst="roundRect">
              <a:avLst>
                <a:gd name="adj" fmla="val 14704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416" y="1959"/>
              <a:ext cx="488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 + 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608" y="2771"/>
              <a:ext cx="0" cy="161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2608" y="2887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 flipV="1">
              <a:off x="2588" y="2887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AutoShape 27"/>
            <p:cNvSpPr>
              <a:spLocks noChangeArrowheads="1"/>
            </p:cNvSpPr>
            <p:nvPr/>
          </p:nvSpPr>
          <p:spPr bwMode="auto">
            <a:xfrm>
              <a:off x="2233" y="2265"/>
              <a:ext cx="746" cy="163"/>
            </a:xfrm>
            <a:prstGeom prst="roundRect">
              <a:avLst>
                <a:gd name="adj" fmla="val 17176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478" y="2290"/>
              <a:ext cx="32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2608" y="2432"/>
              <a:ext cx="0" cy="13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V="1">
              <a:off x="2608" y="2517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H="1" flipV="1">
              <a:off x="2588" y="2517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608" y="1766"/>
              <a:ext cx="0" cy="168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V="1">
              <a:off x="2608" y="1889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 flipV="1">
              <a:off x="2588" y="1889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2608" y="2128"/>
              <a:ext cx="0" cy="13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V="1">
              <a:off x="2608" y="2221"/>
              <a:ext cx="20" cy="44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H="1" flipV="1">
              <a:off x="2588" y="2221"/>
              <a:ext cx="20" cy="44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AutoShape 38"/>
            <p:cNvSpPr>
              <a:spLocks noChangeArrowheads="1"/>
            </p:cNvSpPr>
            <p:nvPr/>
          </p:nvSpPr>
          <p:spPr bwMode="auto">
            <a:xfrm>
              <a:off x="2257" y="1266"/>
              <a:ext cx="698" cy="175"/>
            </a:xfrm>
            <a:prstGeom prst="roundRect">
              <a:avLst>
                <a:gd name="adj" fmla="val 15958"/>
              </a:avLst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2469" y="1291"/>
              <a:ext cx="431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 video(mp4)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>
              <a:off x="2608" y="1150"/>
              <a:ext cx="0" cy="116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 flipV="1">
              <a:off x="2608" y="1221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H="1" flipV="1">
              <a:off x="2588" y="1221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2608" y="1445"/>
              <a:ext cx="0" cy="135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 flipV="1">
              <a:off x="2608" y="1535"/>
              <a:ext cx="20" cy="45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 flipH="1" flipV="1">
              <a:off x="2585" y="1544"/>
              <a:ext cx="15" cy="36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365"/>
            <a:ext cx="290904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4.2.9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ACTIVITY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5210157"/>
            <a:ext cx="7726232" cy="10907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700"/>
              </a:lnSpc>
              <a:spcBef>
                <a:spcPts val="540"/>
              </a:spcBef>
            </a:pPr>
            <a:r>
              <a:rPr sz="1200" dirty="0">
                <a:latin typeface="Times New Roman"/>
                <a:cs typeface="Times New Roman"/>
              </a:rPr>
              <a:t>Activity </a:t>
            </a:r>
            <a:r>
              <a:rPr sz="1200" spc="-5" dirty="0">
                <a:latin typeface="Times New Roman"/>
                <a:cs typeface="Times New Roman"/>
              </a:rPr>
              <a:t>diagrams </a:t>
            </a:r>
            <a:r>
              <a:rPr sz="1200" dirty="0">
                <a:latin typeface="Times New Roman"/>
                <a:cs typeface="Times New Roman"/>
              </a:rPr>
              <a:t>are </a:t>
            </a:r>
            <a:r>
              <a:rPr sz="1200" spc="-5" dirty="0">
                <a:latin typeface="Times New Roman"/>
                <a:cs typeface="Times New Roman"/>
              </a:rPr>
              <a:t>graphical representations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workflows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stepwise activities 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actions </a:t>
            </a:r>
            <a:r>
              <a:rPr sz="1200" dirty="0">
                <a:latin typeface="Times New Roman"/>
                <a:cs typeface="Times New Roman"/>
              </a:rPr>
              <a:t>with support for </a:t>
            </a:r>
            <a:r>
              <a:rPr sz="1200" spc="-5" dirty="0">
                <a:latin typeface="Times New Roman"/>
                <a:cs typeface="Times New Roman"/>
              </a:rPr>
              <a:t>choice, iteration and concurrency. </a:t>
            </a: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Unified </a:t>
            </a:r>
            <a:r>
              <a:rPr sz="1200" dirty="0">
                <a:latin typeface="Times New Roman"/>
                <a:cs typeface="Times New Roman"/>
              </a:rPr>
              <a:t>Modeling </a:t>
            </a:r>
            <a:r>
              <a:rPr sz="1200" spc="-5" dirty="0">
                <a:latin typeface="Times New Roman"/>
                <a:cs typeface="Times New Roman"/>
              </a:rPr>
              <a:t>Language, </a:t>
            </a:r>
            <a:r>
              <a:rPr sz="1200" dirty="0">
                <a:latin typeface="Times New Roman"/>
                <a:cs typeface="Times New Roman"/>
              </a:rPr>
              <a:t> activity </a:t>
            </a:r>
            <a:r>
              <a:rPr sz="1200" spc="-5" dirty="0">
                <a:latin typeface="Times New Roman"/>
                <a:cs typeface="Times New Roman"/>
              </a:rPr>
              <a:t>diagrams can </a:t>
            </a:r>
            <a:r>
              <a:rPr sz="1200" spc="5" dirty="0">
                <a:latin typeface="Times New Roman"/>
                <a:cs typeface="Times New Roman"/>
              </a:rPr>
              <a:t>be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describe </a:t>
            </a:r>
            <a:r>
              <a:rPr sz="1200" dirty="0">
                <a:latin typeface="Times New Roman"/>
                <a:cs typeface="Times New Roman"/>
              </a:rPr>
              <a:t>the business </a:t>
            </a:r>
            <a:r>
              <a:rPr sz="1200" spc="-5" dirty="0">
                <a:latin typeface="Times New Roman"/>
                <a:cs typeface="Times New Roman"/>
              </a:rPr>
              <a:t>and operational </a:t>
            </a:r>
            <a:r>
              <a:rPr sz="1200" dirty="0">
                <a:latin typeface="Times New Roman"/>
                <a:cs typeface="Times New Roman"/>
              </a:rPr>
              <a:t>step-by-step </a:t>
            </a:r>
            <a:r>
              <a:rPr sz="1200" spc="-5" dirty="0">
                <a:latin typeface="Times New Roman"/>
                <a:cs typeface="Times New Roman"/>
              </a:rPr>
              <a:t>workflows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components</a:t>
            </a:r>
            <a:r>
              <a:rPr sz="1200" dirty="0">
                <a:latin typeface="Times New Roman"/>
                <a:cs typeface="Times New Roman"/>
              </a:rPr>
              <a:t> in a</a:t>
            </a:r>
            <a:r>
              <a:rPr sz="1200" spc="-5" dirty="0">
                <a:latin typeface="Times New Roman"/>
                <a:cs typeface="Times New Roman"/>
              </a:rPr>
              <a:t> system.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 shows the </a:t>
            </a:r>
            <a:r>
              <a:rPr sz="1200" spc="-5" dirty="0">
                <a:latin typeface="Times New Roman"/>
                <a:cs typeface="Times New Roman"/>
              </a:rPr>
              <a:t>overall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flow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of</a:t>
            </a:r>
            <a:r>
              <a:rPr sz="1200" dirty="0">
                <a:latin typeface="Times New Roman"/>
                <a:cs typeface="Times New Roman"/>
              </a:rPr>
              <a:t> control.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886200" y="762000"/>
            <a:ext cx="1755775" cy="4114800"/>
            <a:chOff x="2448" y="480"/>
            <a:chExt cx="1106" cy="259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2448" y="480"/>
              <a:ext cx="1106" cy="2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668" y="835"/>
              <a:ext cx="426" cy="141"/>
            </a:xfrm>
            <a:prstGeom prst="roundRect">
              <a:avLst>
                <a:gd name="adj" fmla="val 51315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93" y="850"/>
              <a:ext cx="246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User Login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2610" y="1087"/>
              <a:ext cx="565" cy="145"/>
            </a:xfrm>
            <a:prstGeom prst="roundRect">
              <a:avLst>
                <a:gd name="adj" fmla="val 52565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800" y="1102"/>
              <a:ext cx="246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565" y="1354"/>
              <a:ext cx="661" cy="140"/>
            </a:xfrm>
            <a:prstGeom prst="roundRect">
              <a:avLst>
                <a:gd name="adj" fmla="val 52630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793" y="1368"/>
              <a:ext cx="307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Read video</a:t>
              </a:r>
              <a:r>
                <a:rPr lang="en-US" sz="500" dirty="0" smtClean="0">
                  <a:solidFill>
                    <a:srgbClr val="000000"/>
                  </a:solidFill>
                  <a:latin typeface="Tahoma" pitchFamily="34" charset="0"/>
                  <a:cs typeface="Arial" pitchFamily="34" charset="0"/>
                </a:rPr>
                <a:t>(mp4)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2639" y="1650"/>
              <a:ext cx="514" cy="141"/>
            </a:xfrm>
            <a:prstGeom prst="roundRect">
              <a:avLst>
                <a:gd name="adj" fmla="val 52630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760" y="1665"/>
              <a:ext cx="352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Pre-processings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2521" y="1946"/>
              <a:ext cx="735" cy="130"/>
            </a:xfrm>
            <a:prstGeom prst="roundRect">
              <a:avLst>
                <a:gd name="adj" fmla="val 52856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49" y="1961"/>
              <a:ext cx="405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Computer Vision + 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AutoShape 15"/>
            <p:cNvSpPr>
              <a:spLocks noChangeArrowheads="1"/>
            </p:cNvSpPr>
            <p:nvPr/>
          </p:nvSpPr>
          <p:spPr bwMode="auto">
            <a:xfrm>
              <a:off x="2595" y="2227"/>
              <a:ext cx="609" cy="141"/>
            </a:xfrm>
            <a:prstGeom prst="roundRect">
              <a:avLst>
                <a:gd name="adj" fmla="val 52630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808" y="2242"/>
              <a:ext cx="250" cy="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885" y="980"/>
              <a:ext cx="4" cy="107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2874" y="1050"/>
              <a:ext cx="26" cy="37"/>
            </a:xfrm>
            <a:custGeom>
              <a:avLst/>
              <a:gdLst>
                <a:gd name="T0" fmla="*/ 0 w 26"/>
                <a:gd name="T1" fmla="*/ 0 h 37"/>
                <a:gd name="T2" fmla="*/ 15 w 26"/>
                <a:gd name="T3" fmla="*/ 37 h 37"/>
                <a:gd name="T4" fmla="*/ 26 w 26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7">
                  <a:moveTo>
                    <a:pt x="0" y="0"/>
                  </a:moveTo>
                  <a:lnTo>
                    <a:pt x="15" y="37"/>
                  </a:lnTo>
                  <a:lnTo>
                    <a:pt x="26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892" y="1235"/>
              <a:ext cx="4" cy="119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2881" y="1317"/>
              <a:ext cx="26" cy="37"/>
            </a:xfrm>
            <a:custGeom>
              <a:avLst/>
              <a:gdLst>
                <a:gd name="T0" fmla="*/ 0 w 26"/>
                <a:gd name="T1" fmla="*/ 0 h 37"/>
                <a:gd name="T2" fmla="*/ 15 w 26"/>
                <a:gd name="T3" fmla="*/ 37 h 37"/>
                <a:gd name="T4" fmla="*/ 26 w 26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7">
                  <a:moveTo>
                    <a:pt x="0" y="0"/>
                  </a:moveTo>
                  <a:lnTo>
                    <a:pt x="15" y="37"/>
                  </a:lnTo>
                  <a:lnTo>
                    <a:pt x="26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896" y="1498"/>
              <a:ext cx="0" cy="152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2881" y="1613"/>
              <a:ext cx="30" cy="37"/>
            </a:xfrm>
            <a:custGeom>
              <a:avLst/>
              <a:gdLst>
                <a:gd name="T0" fmla="*/ 0 w 30"/>
                <a:gd name="T1" fmla="*/ 0 h 37"/>
                <a:gd name="T2" fmla="*/ 15 w 30"/>
                <a:gd name="T3" fmla="*/ 37 h 37"/>
                <a:gd name="T4" fmla="*/ 30 w 30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7">
                  <a:moveTo>
                    <a:pt x="0" y="0"/>
                  </a:moveTo>
                  <a:lnTo>
                    <a:pt x="15" y="37"/>
                  </a:lnTo>
                  <a:lnTo>
                    <a:pt x="30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2889" y="1794"/>
              <a:ext cx="3" cy="152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2878" y="1909"/>
              <a:ext cx="25" cy="37"/>
            </a:xfrm>
            <a:custGeom>
              <a:avLst/>
              <a:gdLst>
                <a:gd name="T0" fmla="*/ 0 w 25"/>
                <a:gd name="T1" fmla="*/ 0 h 37"/>
                <a:gd name="T2" fmla="*/ 11 w 25"/>
                <a:gd name="T3" fmla="*/ 37 h 37"/>
                <a:gd name="T4" fmla="*/ 25 w 25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37">
                  <a:moveTo>
                    <a:pt x="0" y="0"/>
                  </a:moveTo>
                  <a:lnTo>
                    <a:pt x="11" y="37"/>
                  </a:lnTo>
                  <a:lnTo>
                    <a:pt x="25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2892" y="2079"/>
              <a:ext cx="4" cy="148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881" y="2190"/>
              <a:ext cx="26" cy="37"/>
            </a:xfrm>
            <a:custGeom>
              <a:avLst/>
              <a:gdLst>
                <a:gd name="T0" fmla="*/ 0 w 26"/>
                <a:gd name="T1" fmla="*/ 0 h 37"/>
                <a:gd name="T2" fmla="*/ 15 w 26"/>
                <a:gd name="T3" fmla="*/ 37 h 37"/>
                <a:gd name="T4" fmla="*/ 26 w 26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7">
                  <a:moveTo>
                    <a:pt x="0" y="0"/>
                  </a:moveTo>
                  <a:lnTo>
                    <a:pt x="15" y="37"/>
                  </a:lnTo>
                  <a:lnTo>
                    <a:pt x="26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859" y="554"/>
              <a:ext cx="66" cy="67"/>
            </a:xfrm>
            <a:prstGeom prst="ellipse">
              <a:avLst/>
            </a:prstGeom>
            <a:solidFill>
              <a:srgbClr val="800000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2859" y="2938"/>
              <a:ext cx="88" cy="89"/>
            </a:xfrm>
            <a:prstGeom prst="ellipse">
              <a:avLst/>
            </a:prstGeom>
            <a:solidFill>
              <a:srgbClr val="FFFFFF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2878" y="2957"/>
              <a:ext cx="51" cy="51"/>
            </a:xfrm>
            <a:prstGeom prst="ellipse">
              <a:avLst/>
            </a:prstGeom>
            <a:solidFill>
              <a:srgbClr val="800000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624" y="702"/>
              <a:ext cx="511" cy="19"/>
            </a:xfrm>
            <a:prstGeom prst="rect">
              <a:avLst/>
            </a:prstGeom>
            <a:solidFill>
              <a:srgbClr val="800000"/>
            </a:solidFill>
            <a:ln w="4">
              <a:solidFill>
                <a:srgbClr val="8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2565" y="2805"/>
              <a:ext cx="672" cy="18"/>
            </a:xfrm>
            <a:prstGeom prst="rect">
              <a:avLst/>
            </a:prstGeom>
            <a:solidFill>
              <a:srgbClr val="800000"/>
            </a:solidFill>
            <a:ln w="4">
              <a:solidFill>
                <a:srgbClr val="8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903" y="2823"/>
              <a:ext cx="0" cy="115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2889" y="2901"/>
              <a:ext cx="29" cy="37"/>
            </a:xfrm>
            <a:custGeom>
              <a:avLst/>
              <a:gdLst>
                <a:gd name="T0" fmla="*/ 0 w 29"/>
                <a:gd name="T1" fmla="*/ 0 h 37"/>
                <a:gd name="T2" fmla="*/ 14 w 29"/>
                <a:gd name="T3" fmla="*/ 37 h 37"/>
                <a:gd name="T4" fmla="*/ 29 w 29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lnTo>
                    <a:pt x="14" y="37"/>
                  </a:lnTo>
                  <a:lnTo>
                    <a:pt x="29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>
              <a:off x="2881" y="624"/>
              <a:ext cx="8" cy="78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2870" y="665"/>
              <a:ext cx="30" cy="37"/>
            </a:xfrm>
            <a:custGeom>
              <a:avLst/>
              <a:gdLst>
                <a:gd name="T0" fmla="*/ 0 w 30"/>
                <a:gd name="T1" fmla="*/ 0 h 37"/>
                <a:gd name="T2" fmla="*/ 11 w 30"/>
                <a:gd name="T3" fmla="*/ 37 h 37"/>
                <a:gd name="T4" fmla="*/ 30 w 30"/>
                <a:gd name="T5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7">
                  <a:moveTo>
                    <a:pt x="0" y="0"/>
                  </a:moveTo>
                  <a:lnTo>
                    <a:pt x="11" y="37"/>
                  </a:lnTo>
                  <a:lnTo>
                    <a:pt x="30" y="4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2881" y="721"/>
              <a:ext cx="0" cy="114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2867" y="798"/>
              <a:ext cx="29" cy="37"/>
            </a:xfrm>
            <a:custGeom>
              <a:avLst/>
              <a:gdLst>
                <a:gd name="T0" fmla="*/ 0 w 29"/>
                <a:gd name="T1" fmla="*/ 0 h 37"/>
                <a:gd name="T2" fmla="*/ 14 w 29"/>
                <a:gd name="T3" fmla="*/ 37 h 37"/>
                <a:gd name="T4" fmla="*/ 29 w 29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lnTo>
                    <a:pt x="14" y="37"/>
                  </a:lnTo>
                  <a:lnTo>
                    <a:pt x="29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AutoShape 38"/>
            <p:cNvSpPr>
              <a:spLocks noChangeArrowheads="1"/>
            </p:cNvSpPr>
            <p:nvPr/>
          </p:nvSpPr>
          <p:spPr bwMode="auto">
            <a:xfrm>
              <a:off x="2565" y="2494"/>
              <a:ext cx="665" cy="141"/>
            </a:xfrm>
            <a:prstGeom prst="roundRect">
              <a:avLst>
                <a:gd name="adj" fmla="val 52630"/>
              </a:avLst>
            </a:prstGeom>
            <a:solidFill>
              <a:srgbClr val="FFFFB9"/>
            </a:solidFill>
            <a:ln w="4">
              <a:solidFill>
                <a:srgbClr val="8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2687" y="2509"/>
              <a:ext cx="436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500" dirty="0" smtClean="0">
                  <a:solidFill>
                    <a:srgbClr val="000000"/>
                  </a:solidFill>
                  <a:latin typeface="Tahoma" pitchFamily="34" charset="0"/>
                  <a:cs typeface="Arial" pitchFamily="34" charset="0"/>
                </a:rPr>
                <a:t>Railway Track 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2900" y="2372"/>
              <a:ext cx="0" cy="122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2885" y="2457"/>
              <a:ext cx="29" cy="37"/>
            </a:xfrm>
            <a:custGeom>
              <a:avLst/>
              <a:gdLst>
                <a:gd name="T0" fmla="*/ 0 w 29"/>
                <a:gd name="T1" fmla="*/ 0 h 37"/>
                <a:gd name="T2" fmla="*/ 15 w 29"/>
                <a:gd name="T3" fmla="*/ 37 h 37"/>
                <a:gd name="T4" fmla="*/ 29 w 29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7">
                  <a:moveTo>
                    <a:pt x="0" y="0"/>
                  </a:moveTo>
                  <a:lnTo>
                    <a:pt x="15" y="37"/>
                  </a:lnTo>
                  <a:lnTo>
                    <a:pt x="29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2900" y="2638"/>
              <a:ext cx="3" cy="167"/>
            </a:xfrm>
            <a:prstGeom prst="line">
              <a:avLst/>
            </a:pr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2889" y="2768"/>
              <a:ext cx="25" cy="37"/>
            </a:xfrm>
            <a:custGeom>
              <a:avLst/>
              <a:gdLst>
                <a:gd name="T0" fmla="*/ 0 w 25"/>
                <a:gd name="T1" fmla="*/ 0 h 37"/>
                <a:gd name="T2" fmla="*/ 14 w 25"/>
                <a:gd name="T3" fmla="*/ 37 h 37"/>
                <a:gd name="T4" fmla="*/ 25 w 25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37">
                  <a:moveTo>
                    <a:pt x="0" y="0"/>
                  </a:moveTo>
                  <a:lnTo>
                    <a:pt x="14" y="37"/>
                  </a:lnTo>
                  <a:lnTo>
                    <a:pt x="25" y="0"/>
                  </a:lnTo>
                </a:path>
              </a:pathLst>
            </a:custGeom>
            <a:noFill/>
            <a:ln w="4">
              <a:solidFill>
                <a:srgbClr val="8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30249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4.2.6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SEQUENCE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4032521"/>
            <a:ext cx="7723766" cy="14335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 smtClean="0">
                <a:latin typeface="Times New Roman"/>
                <a:cs typeface="Times New Roman"/>
              </a:rPr>
              <a:t>EXPLANATION</a:t>
            </a:r>
            <a:r>
              <a:rPr sz="1200" b="1" spc="-5" dirty="0" smtClean="0">
                <a:latin typeface="Times New Roman"/>
                <a:cs typeface="Times New Roman"/>
              </a:rPr>
              <a:t>:</a:t>
            </a:r>
            <a:endParaRPr sz="1200" dirty="0" smtClean="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800"/>
              </a:lnSpc>
              <a:spcBef>
                <a:spcPts val="1090"/>
              </a:spcBef>
            </a:pPr>
            <a:r>
              <a:rPr sz="1200" spc="-5" dirty="0" smtClean="0">
                <a:latin typeface="Times New Roman"/>
                <a:cs typeface="Times New Roman"/>
              </a:rPr>
              <a:t>A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sequence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diagram</a:t>
            </a:r>
            <a:r>
              <a:rPr sz="1200" dirty="0" smtClean="0">
                <a:latin typeface="Times New Roman"/>
                <a:cs typeface="Times New Roman"/>
              </a:rPr>
              <a:t> in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Unified</a:t>
            </a:r>
            <a:r>
              <a:rPr sz="1200" dirty="0" smtClean="0">
                <a:latin typeface="Times New Roman"/>
                <a:cs typeface="Times New Roman"/>
              </a:rPr>
              <a:t> Modeling </a:t>
            </a:r>
            <a:r>
              <a:rPr sz="1200" spc="-5" dirty="0" smtClean="0">
                <a:latin typeface="Times New Roman"/>
                <a:cs typeface="Times New Roman"/>
              </a:rPr>
              <a:t>Language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(UML)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is</a:t>
            </a:r>
            <a:r>
              <a:rPr sz="1200" dirty="0" smtClean="0">
                <a:latin typeface="Times New Roman"/>
                <a:cs typeface="Times New Roman"/>
              </a:rPr>
              <a:t> a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kind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of </a:t>
            </a:r>
            <a:r>
              <a:rPr sz="1200" spc="-5" dirty="0" smtClean="0">
                <a:latin typeface="Times New Roman"/>
                <a:cs typeface="Times New Roman"/>
              </a:rPr>
              <a:t>interaction 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diagram that shows </a:t>
            </a:r>
            <a:r>
              <a:rPr sz="1200" dirty="0" smtClean="0">
                <a:latin typeface="Times New Roman"/>
                <a:cs typeface="Times New Roman"/>
              </a:rPr>
              <a:t>how </a:t>
            </a:r>
            <a:r>
              <a:rPr sz="1200" spc="-5" dirty="0" smtClean="0">
                <a:latin typeface="Times New Roman"/>
                <a:cs typeface="Times New Roman"/>
              </a:rPr>
              <a:t>processes </a:t>
            </a:r>
            <a:r>
              <a:rPr sz="1200" dirty="0" smtClean="0">
                <a:latin typeface="Times New Roman"/>
                <a:cs typeface="Times New Roman"/>
              </a:rPr>
              <a:t>operate with one </a:t>
            </a:r>
            <a:r>
              <a:rPr sz="1200" spc="-5" dirty="0" smtClean="0">
                <a:latin typeface="Times New Roman"/>
                <a:cs typeface="Times New Roman"/>
              </a:rPr>
              <a:t>another and </a:t>
            </a:r>
            <a:r>
              <a:rPr sz="1200" dirty="0" smtClean="0">
                <a:latin typeface="Times New Roman"/>
                <a:cs typeface="Times New Roman"/>
              </a:rPr>
              <a:t>in </a:t>
            </a:r>
            <a:r>
              <a:rPr sz="1200" spc="-5" dirty="0" smtClean="0">
                <a:latin typeface="Times New Roman"/>
                <a:cs typeface="Times New Roman"/>
              </a:rPr>
              <a:t>what </a:t>
            </a:r>
            <a:r>
              <a:rPr sz="1200" dirty="0" smtClean="0">
                <a:latin typeface="Times New Roman"/>
                <a:cs typeface="Times New Roman"/>
              </a:rPr>
              <a:t>order. </a:t>
            </a:r>
            <a:r>
              <a:rPr sz="1200" spc="-10" dirty="0" smtClean="0">
                <a:latin typeface="Times New Roman"/>
                <a:cs typeface="Times New Roman"/>
              </a:rPr>
              <a:t>It </a:t>
            </a:r>
            <a:r>
              <a:rPr sz="1200" spc="-5" dirty="0" smtClean="0">
                <a:latin typeface="Times New Roman"/>
                <a:cs typeface="Times New Roman"/>
              </a:rPr>
              <a:t>is </a:t>
            </a:r>
            <a:r>
              <a:rPr sz="1200" dirty="0" smtClean="0">
                <a:latin typeface="Times New Roman"/>
                <a:cs typeface="Times New Roman"/>
              </a:rPr>
              <a:t>a </a:t>
            </a:r>
            <a:r>
              <a:rPr sz="1200" spc="-5" dirty="0" smtClean="0">
                <a:latin typeface="Times New Roman"/>
                <a:cs typeface="Times New Roman"/>
              </a:rPr>
              <a:t>construct </a:t>
            </a:r>
            <a:r>
              <a:rPr sz="1200" dirty="0" smtClean="0">
                <a:latin typeface="Times New Roman"/>
                <a:cs typeface="Times New Roman"/>
              </a:rPr>
              <a:t>of </a:t>
            </a:r>
            <a:r>
              <a:rPr sz="1200" spc="-28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a </a:t>
            </a:r>
            <a:r>
              <a:rPr sz="1200" spc="-5" dirty="0" smtClean="0">
                <a:latin typeface="Times New Roman"/>
                <a:cs typeface="Times New Roman"/>
              </a:rPr>
              <a:t>Message Sequence </a:t>
            </a:r>
            <a:r>
              <a:rPr sz="1200" dirty="0" smtClean="0">
                <a:latin typeface="Times New Roman"/>
                <a:cs typeface="Times New Roman"/>
              </a:rPr>
              <a:t>Chart. </a:t>
            </a:r>
            <a:r>
              <a:rPr sz="1200" spc="-5" dirty="0" smtClean="0">
                <a:latin typeface="Times New Roman"/>
                <a:cs typeface="Times New Roman"/>
              </a:rPr>
              <a:t>A </a:t>
            </a:r>
            <a:r>
              <a:rPr sz="1200" dirty="0" smtClean="0">
                <a:latin typeface="Times New Roman"/>
                <a:cs typeface="Times New Roman"/>
              </a:rPr>
              <a:t>sequence diagram </a:t>
            </a:r>
            <a:r>
              <a:rPr sz="1200" spc="-5" dirty="0" smtClean="0">
                <a:latin typeface="Times New Roman"/>
                <a:cs typeface="Times New Roman"/>
              </a:rPr>
              <a:t>shows object </a:t>
            </a:r>
            <a:r>
              <a:rPr sz="1200" dirty="0" smtClean="0">
                <a:latin typeface="Times New Roman"/>
                <a:cs typeface="Times New Roman"/>
              </a:rPr>
              <a:t>interactions </a:t>
            </a:r>
            <a:r>
              <a:rPr sz="1200" spc="-5" dirty="0" smtClean="0">
                <a:latin typeface="Times New Roman"/>
                <a:cs typeface="Times New Roman"/>
              </a:rPr>
              <a:t>arranged </a:t>
            </a:r>
            <a:r>
              <a:rPr sz="1200" dirty="0" smtClean="0">
                <a:latin typeface="Times New Roman"/>
                <a:cs typeface="Times New Roman"/>
              </a:rPr>
              <a:t>in time 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sequence.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10" dirty="0" smtClean="0">
                <a:latin typeface="Times New Roman"/>
                <a:cs typeface="Times New Roman"/>
              </a:rPr>
              <a:t>It</a:t>
            </a:r>
            <a:r>
              <a:rPr sz="1200" spc="-5" dirty="0" smtClean="0">
                <a:latin typeface="Times New Roman"/>
                <a:cs typeface="Times New Roman"/>
              </a:rPr>
              <a:t> depicts</a:t>
            </a:r>
            <a:r>
              <a:rPr sz="1200" dirty="0" smtClean="0">
                <a:latin typeface="Times New Roman"/>
                <a:cs typeface="Times New Roman"/>
              </a:rPr>
              <a:t> the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objects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and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classes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involved</a:t>
            </a:r>
            <a:r>
              <a:rPr sz="1200" dirty="0" smtClean="0">
                <a:latin typeface="Times New Roman"/>
                <a:cs typeface="Times New Roman"/>
              </a:rPr>
              <a:t> in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the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scenario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and</a:t>
            </a:r>
            <a:r>
              <a:rPr sz="1200" dirty="0" smtClean="0">
                <a:latin typeface="Times New Roman"/>
                <a:cs typeface="Times New Roman"/>
              </a:rPr>
              <a:t> the</a:t>
            </a:r>
            <a:r>
              <a:rPr sz="1200" spc="3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sequence</a:t>
            </a:r>
            <a:r>
              <a:rPr sz="1200" spc="290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of 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messages</a:t>
            </a:r>
            <a:r>
              <a:rPr sz="1200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exchanged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spc="-5" dirty="0" smtClean="0">
                <a:latin typeface="Times New Roman"/>
                <a:cs typeface="Times New Roman"/>
              </a:rPr>
              <a:t>between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the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objects </a:t>
            </a:r>
            <a:r>
              <a:rPr sz="1200" spc="-5" dirty="0" smtClean="0">
                <a:latin typeface="Times New Roman"/>
                <a:cs typeface="Times New Roman"/>
              </a:rPr>
              <a:t>needed</a:t>
            </a:r>
            <a:r>
              <a:rPr sz="1200" spc="1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to</a:t>
            </a:r>
            <a:r>
              <a:rPr sz="1200" spc="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carry</a:t>
            </a:r>
            <a:r>
              <a:rPr sz="1200" spc="-20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out</a:t>
            </a:r>
            <a:r>
              <a:rPr sz="1200" spc="5" dirty="0" smtClean="0">
                <a:latin typeface="Times New Roman"/>
                <a:cs typeface="Times New Roman"/>
              </a:rPr>
              <a:t> the</a:t>
            </a:r>
            <a:r>
              <a:rPr sz="1200" spc="-5" dirty="0" smtClean="0">
                <a:latin typeface="Times New Roman"/>
                <a:cs typeface="Times New Roman"/>
              </a:rPr>
              <a:t> </a:t>
            </a:r>
            <a:r>
              <a:rPr sz="1200" dirty="0" smtClean="0">
                <a:latin typeface="Times New Roman"/>
                <a:cs typeface="Times New Roman"/>
              </a:rPr>
              <a:t>functionality</a:t>
            </a:r>
            <a:r>
              <a:rPr sz="1200" spc="-35" dirty="0" smtClean="0">
                <a:latin typeface="Times New Roman"/>
                <a:cs typeface="Times New Roman"/>
              </a:rPr>
              <a:t> </a:t>
            </a:r>
            <a:r>
              <a:rPr sz="1200" spc="5" dirty="0" smtClean="0">
                <a:latin typeface="Times New Roman"/>
                <a:cs typeface="Times New Roman"/>
              </a:rPr>
              <a:t>of </a:t>
            </a:r>
            <a:r>
              <a:rPr sz="1200" dirty="0" smtClean="0">
                <a:latin typeface="Times New Roman"/>
                <a:cs typeface="Times New Roman"/>
              </a:rPr>
              <a:t>the</a:t>
            </a:r>
            <a:r>
              <a:rPr sz="1200" spc="-5" dirty="0" smtClean="0">
                <a:latin typeface="Times New Roman"/>
                <a:cs typeface="Times New Roman"/>
              </a:rPr>
              <a:t> scenario.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362200" y="914400"/>
            <a:ext cx="6054001" cy="3375025"/>
            <a:chOff x="1488" y="576"/>
            <a:chExt cx="3278" cy="212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488" y="576"/>
              <a:ext cx="3278" cy="2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635" y="667"/>
              <a:ext cx="367" cy="13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715" y="678"/>
              <a:ext cx="2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821" y="858"/>
              <a:ext cx="0" cy="165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04" y="988"/>
              <a:ext cx="29" cy="139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804" y="2140"/>
              <a:ext cx="29" cy="67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290" y="667"/>
              <a:ext cx="419" cy="13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371" y="678"/>
              <a:ext cx="304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502" y="858"/>
              <a:ext cx="0" cy="165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485" y="988"/>
              <a:ext cx="29" cy="67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485" y="1218"/>
              <a:ext cx="29" cy="159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448" y="667"/>
              <a:ext cx="540" cy="13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554" y="678"/>
              <a:ext cx="3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+ PIL</a:t>
              </a:r>
              <a:endParaRPr kumimoji="0" lang="en-US" sz="6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720" y="858"/>
              <a:ext cx="0" cy="165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703" y="1506"/>
              <a:ext cx="30" cy="68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703" y="1891"/>
              <a:ext cx="30" cy="177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4179" y="667"/>
              <a:ext cx="587" cy="13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230" y="678"/>
              <a:ext cx="463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Railway Track  </a:t>
              </a:r>
              <a:r>
                <a:rPr kumimoji="0" lang="en-US" sz="600" b="0" i="0" u="sng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383" y="858"/>
              <a:ext cx="0" cy="165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366" y="1929"/>
              <a:ext cx="30" cy="67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366" y="2140"/>
              <a:ext cx="30" cy="139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2863" y="667"/>
              <a:ext cx="385" cy="137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2913" y="678"/>
              <a:ext cx="321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3057" y="858"/>
              <a:ext cx="0" cy="165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040" y="1237"/>
              <a:ext cx="29" cy="68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040" y="1506"/>
              <a:ext cx="29" cy="140"/>
            </a:xfrm>
            <a:prstGeom prst="rect">
              <a:avLst/>
            </a:prstGeom>
            <a:solidFill>
              <a:srgbClr val="FFFFFF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3738" y="1929"/>
              <a:ext cx="627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H="1">
              <a:off x="4325" y="1929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H="1" flipV="1">
              <a:off x="4325" y="1911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762" y="1756"/>
              <a:ext cx="70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 user values from our model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1839" y="988"/>
              <a:ext cx="645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2443" y="988"/>
              <a:ext cx="41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 flipV="1">
              <a:off x="2443" y="970"/>
              <a:ext cx="41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79" y="858"/>
              <a:ext cx="498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 video(mp4)</a:t>
              </a:r>
              <a:r>
                <a:rPr kumimoji="0" lang="en-US" sz="600" b="0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</a:t>
              </a: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input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2520" y="1237"/>
              <a:ext cx="519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2999" y="1237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 flipV="1">
              <a:off x="2999" y="1219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2516" y="1103"/>
              <a:ext cx="63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used to read  data from 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3075" y="1506"/>
              <a:ext cx="627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 flipH="1">
              <a:off x="3662" y="1506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 flipH="1" flipV="1">
              <a:off x="3662" y="1488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2835" y="1367"/>
              <a:ext cx="1280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used to convert data into array format for expanding dimensions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H="1">
              <a:off x="1839" y="2140"/>
              <a:ext cx="2526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1839" y="2140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V="1">
              <a:off x="1839" y="2122"/>
              <a:ext cx="40" cy="18"/>
            </a:xfrm>
            <a:prstGeom prst="line">
              <a:avLst/>
            </a:prstGeom>
            <a:noFill/>
            <a:ln w="3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2552" y="2031"/>
              <a:ext cx="770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display  output for our users inputs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383188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4.2.7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COLLABORATION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242140"/>
            <a:ext cx="7726232" cy="10907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600"/>
              </a:lnSpc>
              <a:spcBef>
                <a:spcPts val="540"/>
              </a:spcBef>
            </a:pPr>
            <a:r>
              <a:rPr sz="1200" spc="-5" dirty="0">
                <a:latin typeface="Times New Roman"/>
                <a:cs typeface="Times New Roman"/>
              </a:rPr>
              <a:t>A collaboration diagram, also called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communication diagram </a:t>
            </a:r>
            <a:r>
              <a:rPr sz="1200" spc="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interaction </a:t>
            </a:r>
            <a:r>
              <a:rPr sz="1200" spc="-5" dirty="0">
                <a:latin typeface="Times New Roman"/>
                <a:cs typeface="Times New Roman"/>
              </a:rPr>
              <a:t>diagram, is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illustration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interactions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among</a:t>
            </a:r>
            <a:r>
              <a:rPr sz="1200" dirty="0">
                <a:latin typeface="Times New Roman"/>
                <a:cs typeface="Times New Roman"/>
              </a:rPr>
              <a:t> software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Language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(UML).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concept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decade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although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been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refined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modeling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paradigms</a:t>
            </a:r>
            <a:r>
              <a:rPr sz="1200" dirty="0">
                <a:latin typeface="Times New Roman"/>
                <a:cs typeface="Times New Roman"/>
              </a:rPr>
              <a:t> have</a:t>
            </a:r>
            <a:r>
              <a:rPr sz="1200" spc="-5" dirty="0">
                <a:latin typeface="Times New Roman"/>
                <a:cs typeface="Times New Roman"/>
              </a:rPr>
              <a:t> evolved.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057400" y="1066800"/>
            <a:ext cx="4937125" cy="2994025"/>
            <a:chOff x="1296" y="672"/>
            <a:chExt cx="3110" cy="1886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96" y="672"/>
              <a:ext cx="3110" cy="1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468" y="861"/>
              <a:ext cx="225" cy="20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503" y="875"/>
              <a:ext cx="190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504" y="936"/>
              <a:ext cx="11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806" y="1526"/>
              <a:ext cx="406" cy="240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35" y="1540"/>
              <a:ext cx="3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+ PIL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112" y="2108"/>
              <a:ext cx="406" cy="20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191" y="2123"/>
              <a:ext cx="17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u="sng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Railway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149" y="2183"/>
              <a:ext cx="340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Track 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517" y="861"/>
              <a:ext cx="215" cy="206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569" y="875"/>
              <a:ext cx="159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575" y="936"/>
              <a:ext cx="147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749" y="855"/>
              <a:ext cx="355" cy="218"/>
            </a:xfrm>
            <a:prstGeom prst="rect">
              <a:avLst/>
            </a:prstGeom>
            <a:solidFill>
              <a:srgbClr val="FFFFCC"/>
            </a:solidFill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767" y="869"/>
              <a:ext cx="40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sng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1679" y="1070"/>
              <a:ext cx="518" cy="103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 flipV="1">
              <a:off x="1912" y="1611"/>
              <a:ext cx="63" cy="129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912" y="1611"/>
              <a:ext cx="35" cy="30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912" y="1611"/>
              <a:ext cx="3" cy="48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434" y="1366"/>
              <a:ext cx="824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5: display  output for our users inputs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2390" y="1769"/>
              <a:ext cx="456" cy="339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2505" y="1983"/>
              <a:ext cx="115" cy="8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2505" y="2058"/>
              <a:ext cx="47" cy="12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V="1">
              <a:off x="2505" y="2029"/>
              <a:ext cx="25" cy="4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2703" y="1936"/>
              <a:ext cx="514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: display data to admin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2697" y="966"/>
              <a:ext cx="1051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3149" y="912"/>
              <a:ext cx="146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H="1">
              <a:off x="3251" y="912"/>
              <a:ext cx="44" cy="18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H="1" flipV="1">
              <a:off x="3251" y="894"/>
              <a:ext cx="44" cy="18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2772" y="750"/>
              <a:ext cx="966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: user services depend on user requirement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1736" y="966"/>
              <a:ext cx="730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2027" y="912"/>
              <a:ext cx="147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2130" y="912"/>
              <a:ext cx="44" cy="18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 flipV="1">
              <a:off x="2130" y="894"/>
              <a:ext cx="44" cy="18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7" y="828"/>
              <a:ext cx="429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1</a:t>
              </a: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: collect User  data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H="1">
              <a:off x="3175" y="1076"/>
              <a:ext cx="602" cy="449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3397" y="1419"/>
              <a:ext cx="114" cy="87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 flipV="1">
              <a:off x="3397" y="1494"/>
              <a:ext cx="46" cy="12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V="1">
              <a:off x="3397" y="1465"/>
              <a:ext cx="24" cy="41"/>
            </a:xfrm>
            <a:prstGeom prst="line">
              <a:avLst/>
            </a:prstGeom>
            <a:noFill/>
            <a:ln w="4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3230" y="1166"/>
              <a:ext cx="112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3: used to convert data into array format for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3454" y="1227"/>
              <a:ext cx="583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expanding dimensions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327966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4.2.4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COMPONENT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3971284"/>
            <a:ext cx="7726232" cy="1407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</a:t>
            </a:r>
            <a:endParaRPr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910"/>
              </a:spcBef>
            </a:pP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Unified </a:t>
            </a:r>
            <a:r>
              <a:rPr sz="1200" dirty="0">
                <a:latin typeface="Times New Roman"/>
                <a:cs typeface="Times New Roman"/>
              </a:rPr>
              <a:t>Modeling </a:t>
            </a:r>
            <a:r>
              <a:rPr sz="1200" spc="-5" dirty="0">
                <a:latin typeface="Times New Roman"/>
                <a:cs typeface="Times New Roman"/>
              </a:rPr>
              <a:t>Language, </a:t>
            </a:r>
            <a:r>
              <a:rPr sz="1200" dirty="0">
                <a:latin typeface="Times New Roman"/>
                <a:cs typeface="Times New Roman"/>
              </a:rPr>
              <a:t>a component </a:t>
            </a:r>
            <a:r>
              <a:rPr sz="1200" spc="-5" dirty="0">
                <a:latin typeface="Times New Roman"/>
                <a:cs typeface="Times New Roman"/>
              </a:rPr>
              <a:t>diagram depicts </a:t>
            </a:r>
            <a:r>
              <a:rPr sz="1200" dirty="0">
                <a:latin typeface="Times New Roman"/>
                <a:cs typeface="Times New Roman"/>
              </a:rPr>
              <a:t>how components </a:t>
            </a:r>
            <a:r>
              <a:rPr sz="1200" spc="-5" dirty="0">
                <a:latin typeface="Times New Roman"/>
                <a:cs typeface="Times New Roman"/>
              </a:rPr>
              <a:t>are wired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together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form larger components and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5" dirty="0">
                <a:latin typeface="Times New Roman"/>
                <a:cs typeface="Times New Roman"/>
              </a:rPr>
              <a:t>software systems. </a:t>
            </a:r>
            <a:r>
              <a:rPr sz="1200" dirty="0">
                <a:latin typeface="Times New Roman"/>
                <a:cs typeface="Times New Roman"/>
              </a:rPr>
              <a:t>They </a:t>
            </a:r>
            <a:r>
              <a:rPr sz="1200" spc="-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-5" dirty="0">
                <a:latin typeface="Times New Roman"/>
                <a:cs typeface="Times New Roman"/>
              </a:rPr>
              <a:t>illustrate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structure </a:t>
            </a:r>
            <a:r>
              <a:rPr sz="1200" dirty="0">
                <a:latin typeface="Times New Roman"/>
                <a:cs typeface="Times New Roman"/>
              </a:rPr>
              <a:t>of arbitrarily complex </a:t>
            </a:r>
            <a:r>
              <a:rPr sz="1200" spc="-5" dirty="0">
                <a:latin typeface="Times New Roman"/>
                <a:cs typeface="Times New Roman"/>
              </a:rPr>
              <a:t>systems. User gives </a:t>
            </a:r>
            <a:r>
              <a:rPr sz="1200" dirty="0">
                <a:latin typeface="Times New Roman"/>
                <a:cs typeface="Times New Roman"/>
              </a:rPr>
              <a:t>main query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converted </a:t>
            </a:r>
            <a:r>
              <a:rPr sz="1200" dirty="0">
                <a:latin typeface="Times New Roman"/>
                <a:cs typeface="Times New Roman"/>
              </a:rPr>
              <a:t>into </a:t>
            </a:r>
            <a:r>
              <a:rPr sz="1200" spc="-5" dirty="0">
                <a:latin typeface="Times New Roman"/>
                <a:cs typeface="Times New Roman"/>
              </a:rPr>
              <a:t>sub queries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sends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through data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dissemination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data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aggregators. Results</a:t>
            </a:r>
            <a:r>
              <a:rPr sz="1200" dirty="0">
                <a:latin typeface="Times New Roman"/>
                <a:cs typeface="Times New Roman"/>
              </a:rPr>
              <a:t> are to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showed </a:t>
            </a:r>
            <a:r>
              <a:rPr sz="1200" dirty="0">
                <a:latin typeface="Times New Roman"/>
                <a:cs typeface="Times New Roman"/>
              </a:rPr>
              <a:t>to user </a:t>
            </a:r>
            <a:r>
              <a:rPr sz="1200" spc="10" dirty="0">
                <a:latin typeface="Times New Roman"/>
                <a:cs typeface="Times New Roman"/>
              </a:rPr>
              <a:t>by 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aggregators.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All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boxes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components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arrow</a:t>
            </a:r>
            <a:r>
              <a:rPr sz="1200" spc="-5" dirty="0">
                <a:latin typeface="Times New Roman"/>
                <a:cs typeface="Times New Roman"/>
              </a:rPr>
              <a:t> indicates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dependencies.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057400" y="1295400"/>
            <a:ext cx="5486400" cy="2316163"/>
            <a:chOff x="1296" y="816"/>
            <a:chExt cx="3010" cy="1459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96" y="816"/>
              <a:ext cx="3010" cy="1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1635" y="888"/>
              <a:ext cx="443" cy="201"/>
              <a:chOff x="1635" y="888"/>
              <a:chExt cx="443" cy="201"/>
            </a:xfrm>
          </p:grpSpPr>
          <p:sp>
            <p:nvSpPr>
              <p:cNvPr id="89" name="Rectangle 5"/>
              <p:cNvSpPr>
                <a:spLocks noChangeArrowheads="1"/>
              </p:cNvSpPr>
              <p:nvPr/>
            </p:nvSpPr>
            <p:spPr bwMode="auto">
              <a:xfrm>
                <a:off x="1699" y="888"/>
                <a:ext cx="379" cy="201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6"/>
              <p:cNvSpPr>
                <a:spLocks noChangeArrowheads="1"/>
              </p:cNvSpPr>
              <p:nvPr/>
            </p:nvSpPr>
            <p:spPr bwMode="auto">
              <a:xfrm>
                <a:off x="1635" y="929"/>
                <a:ext cx="125" cy="39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7"/>
              <p:cNvSpPr>
                <a:spLocks noChangeArrowheads="1"/>
              </p:cNvSpPr>
              <p:nvPr/>
            </p:nvSpPr>
            <p:spPr bwMode="auto">
              <a:xfrm>
                <a:off x="1635" y="1010"/>
                <a:ext cx="125" cy="39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1828" y="906"/>
              <a:ext cx="13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8" name="Group 13"/>
            <p:cNvGrpSpPr>
              <a:grpSpLocks/>
            </p:cNvGrpSpPr>
            <p:nvPr/>
          </p:nvGrpSpPr>
          <p:grpSpPr bwMode="auto">
            <a:xfrm>
              <a:off x="2491" y="888"/>
              <a:ext cx="516" cy="201"/>
              <a:chOff x="2491" y="888"/>
              <a:chExt cx="516" cy="201"/>
            </a:xfrm>
          </p:grpSpPr>
          <p:sp>
            <p:nvSpPr>
              <p:cNvPr id="86" name="Rectangle 10"/>
              <p:cNvSpPr>
                <a:spLocks noChangeArrowheads="1"/>
              </p:cNvSpPr>
              <p:nvPr/>
            </p:nvSpPr>
            <p:spPr bwMode="auto">
              <a:xfrm>
                <a:off x="2565" y="888"/>
                <a:ext cx="442" cy="201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11"/>
              <p:cNvSpPr>
                <a:spLocks noChangeArrowheads="1"/>
              </p:cNvSpPr>
              <p:nvPr/>
            </p:nvSpPr>
            <p:spPr bwMode="auto">
              <a:xfrm>
                <a:off x="2491" y="929"/>
                <a:ext cx="146" cy="39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12"/>
              <p:cNvSpPr>
                <a:spLocks noChangeArrowheads="1"/>
              </p:cNvSpPr>
              <p:nvPr/>
            </p:nvSpPr>
            <p:spPr bwMode="auto">
              <a:xfrm>
                <a:off x="2491" y="1010"/>
                <a:ext cx="146" cy="39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2716" y="906"/>
              <a:ext cx="279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2190" y="1015"/>
              <a:ext cx="29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H="1">
              <a:off x="2445" y="1015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 flipH="1" flipV="1">
              <a:off x="2445" y="994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3" name="Group 21"/>
            <p:cNvGrpSpPr>
              <a:grpSpLocks/>
            </p:cNvGrpSpPr>
            <p:nvPr/>
          </p:nvGrpSpPr>
          <p:grpSpPr bwMode="auto">
            <a:xfrm>
              <a:off x="3411" y="1318"/>
              <a:ext cx="640" cy="225"/>
              <a:chOff x="3411" y="1318"/>
              <a:chExt cx="640" cy="225"/>
            </a:xfrm>
          </p:grpSpPr>
          <p:sp>
            <p:nvSpPr>
              <p:cNvPr id="83" name="Rectangle 18"/>
              <p:cNvSpPr>
                <a:spLocks noChangeArrowheads="1"/>
              </p:cNvSpPr>
              <p:nvPr/>
            </p:nvSpPr>
            <p:spPr bwMode="auto">
              <a:xfrm>
                <a:off x="3503" y="1318"/>
                <a:ext cx="548" cy="225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19"/>
              <p:cNvSpPr>
                <a:spLocks noChangeArrowheads="1"/>
              </p:cNvSpPr>
              <p:nvPr/>
            </p:nvSpPr>
            <p:spPr bwMode="auto">
              <a:xfrm>
                <a:off x="3411" y="1363"/>
                <a:ext cx="181" cy="44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20"/>
              <p:cNvSpPr>
                <a:spLocks noChangeArrowheads="1"/>
              </p:cNvSpPr>
              <p:nvPr/>
            </p:nvSpPr>
            <p:spPr bwMode="auto">
              <a:xfrm>
                <a:off x="3411" y="1454"/>
                <a:ext cx="181" cy="44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4" name="Rectangle 22"/>
            <p:cNvSpPr>
              <a:spLocks noChangeArrowheads="1"/>
            </p:cNvSpPr>
            <p:nvPr/>
          </p:nvSpPr>
          <p:spPr bwMode="auto">
            <a:xfrm>
              <a:off x="3689" y="1346"/>
              <a:ext cx="397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5" name="Group 26"/>
            <p:cNvGrpSpPr>
              <a:grpSpLocks/>
            </p:cNvGrpSpPr>
            <p:nvPr/>
          </p:nvGrpSpPr>
          <p:grpSpPr bwMode="auto">
            <a:xfrm>
              <a:off x="3419" y="1830"/>
              <a:ext cx="657" cy="225"/>
              <a:chOff x="3419" y="1830"/>
              <a:chExt cx="657" cy="225"/>
            </a:xfrm>
          </p:grpSpPr>
          <p:sp>
            <p:nvSpPr>
              <p:cNvPr id="80" name="Rectangle 23"/>
              <p:cNvSpPr>
                <a:spLocks noChangeArrowheads="1"/>
              </p:cNvSpPr>
              <p:nvPr/>
            </p:nvSpPr>
            <p:spPr bwMode="auto">
              <a:xfrm>
                <a:off x="3514" y="1830"/>
                <a:ext cx="562" cy="225"/>
              </a:xfrm>
              <a:prstGeom prst="rect">
                <a:avLst/>
              </a:prstGeom>
              <a:solidFill>
                <a:srgbClr val="FFFFCC"/>
              </a:solidFill>
              <a:ln w="4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24"/>
              <p:cNvSpPr>
                <a:spLocks noChangeArrowheads="1"/>
              </p:cNvSpPr>
              <p:nvPr/>
            </p:nvSpPr>
            <p:spPr bwMode="auto">
              <a:xfrm>
                <a:off x="3419" y="1875"/>
                <a:ext cx="186" cy="44"/>
              </a:xfrm>
              <a:prstGeom prst="rect">
                <a:avLst/>
              </a:prstGeom>
              <a:solidFill>
                <a:srgbClr val="FFFFCC"/>
              </a:solidFill>
              <a:ln w="4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25"/>
              <p:cNvSpPr>
                <a:spLocks noChangeArrowheads="1"/>
              </p:cNvSpPr>
              <p:nvPr/>
            </p:nvSpPr>
            <p:spPr bwMode="auto">
              <a:xfrm>
                <a:off x="3419" y="1966"/>
                <a:ext cx="186" cy="44"/>
              </a:xfrm>
              <a:prstGeom prst="rect">
                <a:avLst/>
              </a:prstGeom>
              <a:solidFill>
                <a:srgbClr val="FFFFCC"/>
              </a:solidFill>
              <a:ln w="4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3631" y="1857"/>
              <a:ext cx="508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7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+ 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>
              <a:off x="3813" y="1600"/>
              <a:ext cx="7" cy="2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 flipV="1">
              <a:off x="3820" y="1773"/>
              <a:ext cx="17" cy="5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H="1" flipV="1">
              <a:off x="3801" y="1775"/>
              <a:ext cx="19" cy="49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20" name="Group 34"/>
            <p:cNvGrpSpPr>
              <a:grpSpLocks/>
            </p:cNvGrpSpPr>
            <p:nvPr/>
          </p:nvGrpSpPr>
          <p:grpSpPr bwMode="auto">
            <a:xfrm>
              <a:off x="2452" y="1845"/>
              <a:ext cx="578" cy="201"/>
              <a:chOff x="2452" y="1845"/>
              <a:chExt cx="578" cy="201"/>
            </a:xfrm>
          </p:grpSpPr>
          <p:sp>
            <p:nvSpPr>
              <p:cNvPr id="76" name="Rectangle 31"/>
              <p:cNvSpPr>
                <a:spLocks noChangeArrowheads="1"/>
              </p:cNvSpPr>
              <p:nvPr/>
            </p:nvSpPr>
            <p:spPr bwMode="auto">
              <a:xfrm>
                <a:off x="2535" y="1845"/>
                <a:ext cx="495" cy="201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2"/>
              <p:cNvSpPr>
                <a:spLocks noChangeArrowheads="1"/>
              </p:cNvSpPr>
              <p:nvPr/>
            </p:nvSpPr>
            <p:spPr bwMode="auto">
              <a:xfrm>
                <a:off x="2452" y="1885"/>
                <a:ext cx="163" cy="40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3"/>
              <p:cNvSpPr>
                <a:spLocks noChangeArrowheads="1"/>
              </p:cNvSpPr>
              <p:nvPr/>
            </p:nvSpPr>
            <p:spPr bwMode="auto">
              <a:xfrm>
                <a:off x="2452" y="1966"/>
                <a:ext cx="163" cy="40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2704" y="1863"/>
              <a:ext cx="298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Line 36"/>
            <p:cNvSpPr>
              <a:spLocks noChangeShapeType="1"/>
            </p:cNvSpPr>
            <p:nvPr/>
          </p:nvSpPr>
          <p:spPr bwMode="auto">
            <a:xfrm flipH="1">
              <a:off x="3177" y="1971"/>
              <a:ext cx="239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Line 37"/>
            <p:cNvSpPr>
              <a:spLocks noChangeShapeType="1"/>
            </p:cNvSpPr>
            <p:nvPr/>
          </p:nvSpPr>
          <p:spPr bwMode="auto">
            <a:xfrm>
              <a:off x="3177" y="1971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Line 38"/>
            <p:cNvSpPr>
              <a:spLocks noChangeShapeType="1"/>
            </p:cNvSpPr>
            <p:nvPr/>
          </p:nvSpPr>
          <p:spPr bwMode="auto">
            <a:xfrm flipV="1">
              <a:off x="3177" y="1951"/>
              <a:ext cx="43" cy="20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25" name="Group 42"/>
            <p:cNvGrpSpPr>
              <a:grpSpLocks/>
            </p:cNvGrpSpPr>
            <p:nvPr/>
          </p:nvGrpSpPr>
          <p:grpSpPr bwMode="auto">
            <a:xfrm>
              <a:off x="1458" y="1813"/>
              <a:ext cx="573" cy="252"/>
              <a:chOff x="1458" y="1813"/>
              <a:chExt cx="573" cy="252"/>
            </a:xfrm>
          </p:grpSpPr>
          <p:sp>
            <p:nvSpPr>
              <p:cNvPr id="73" name="Rectangle 39"/>
              <p:cNvSpPr>
                <a:spLocks noChangeArrowheads="1"/>
              </p:cNvSpPr>
              <p:nvPr/>
            </p:nvSpPr>
            <p:spPr bwMode="auto">
              <a:xfrm>
                <a:off x="1540" y="1813"/>
                <a:ext cx="491" cy="252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40"/>
              <p:cNvSpPr>
                <a:spLocks noChangeArrowheads="1"/>
              </p:cNvSpPr>
              <p:nvPr/>
            </p:nvSpPr>
            <p:spPr bwMode="auto">
              <a:xfrm>
                <a:off x="1458" y="1864"/>
                <a:ext cx="162" cy="49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41"/>
              <p:cNvSpPr>
                <a:spLocks noChangeArrowheads="1"/>
              </p:cNvSpPr>
              <p:nvPr/>
            </p:nvSpPr>
            <p:spPr bwMode="auto">
              <a:xfrm>
                <a:off x="1458" y="1965"/>
                <a:ext cx="162" cy="49"/>
              </a:xfrm>
              <a:prstGeom prst="rect">
                <a:avLst/>
              </a:prstGeom>
              <a:solidFill>
                <a:srgbClr val="FFFFCC"/>
              </a:solidFill>
              <a:ln w="3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1635" y="1853"/>
              <a:ext cx="42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7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</a:t>
              </a:r>
              <a:r>
                <a:rPr lang="en-US" sz="7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ailway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7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Track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Line 44"/>
            <p:cNvSpPr>
              <a:spLocks noChangeShapeType="1"/>
            </p:cNvSpPr>
            <p:nvPr/>
          </p:nvSpPr>
          <p:spPr bwMode="auto">
            <a:xfrm flipH="1">
              <a:off x="2176" y="1971"/>
              <a:ext cx="269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Line 45"/>
            <p:cNvSpPr>
              <a:spLocks noChangeShapeType="1"/>
            </p:cNvSpPr>
            <p:nvPr/>
          </p:nvSpPr>
          <p:spPr bwMode="auto">
            <a:xfrm>
              <a:off x="2176" y="1971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Line 46"/>
            <p:cNvSpPr>
              <a:spLocks noChangeShapeType="1"/>
            </p:cNvSpPr>
            <p:nvPr/>
          </p:nvSpPr>
          <p:spPr bwMode="auto">
            <a:xfrm flipV="1">
              <a:off x="2176" y="1951"/>
              <a:ext cx="43" cy="20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0" name="Group 50"/>
            <p:cNvGrpSpPr>
              <a:grpSpLocks/>
            </p:cNvGrpSpPr>
            <p:nvPr/>
          </p:nvGrpSpPr>
          <p:grpSpPr bwMode="auto">
            <a:xfrm>
              <a:off x="3482" y="895"/>
              <a:ext cx="527" cy="190"/>
              <a:chOff x="3482" y="895"/>
              <a:chExt cx="527" cy="190"/>
            </a:xfrm>
          </p:grpSpPr>
          <p:sp>
            <p:nvSpPr>
              <p:cNvPr id="70" name="Rectangle 47"/>
              <p:cNvSpPr>
                <a:spLocks noChangeArrowheads="1"/>
              </p:cNvSpPr>
              <p:nvPr/>
            </p:nvSpPr>
            <p:spPr bwMode="auto">
              <a:xfrm>
                <a:off x="3557" y="895"/>
                <a:ext cx="452" cy="190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48"/>
              <p:cNvSpPr>
                <a:spLocks noChangeArrowheads="1"/>
              </p:cNvSpPr>
              <p:nvPr/>
            </p:nvSpPr>
            <p:spPr bwMode="auto">
              <a:xfrm>
                <a:off x="3482" y="934"/>
                <a:ext cx="149" cy="37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49"/>
              <p:cNvSpPr>
                <a:spLocks noChangeArrowheads="1"/>
              </p:cNvSpPr>
              <p:nvPr/>
            </p:nvSpPr>
            <p:spPr bwMode="auto">
              <a:xfrm>
                <a:off x="3482" y="1010"/>
                <a:ext cx="149" cy="37"/>
              </a:xfrm>
              <a:prstGeom prst="rect">
                <a:avLst/>
              </a:prstGeom>
              <a:solidFill>
                <a:srgbClr val="FFFFCC"/>
              </a:solidFill>
              <a:ln w="2">
                <a:solidFill>
                  <a:srgbClr val="99003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31" name="Rectangle 51"/>
            <p:cNvSpPr>
              <a:spLocks noChangeArrowheads="1"/>
            </p:cNvSpPr>
            <p:nvPr/>
          </p:nvSpPr>
          <p:spPr bwMode="auto">
            <a:xfrm>
              <a:off x="3712" y="908"/>
              <a:ext cx="20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7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Analyze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video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Line 52"/>
            <p:cNvSpPr>
              <a:spLocks noChangeShapeType="1"/>
            </p:cNvSpPr>
            <p:nvPr/>
          </p:nvSpPr>
          <p:spPr bwMode="auto">
            <a:xfrm>
              <a:off x="3138" y="1015"/>
              <a:ext cx="33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Line 53"/>
            <p:cNvSpPr>
              <a:spLocks noChangeShapeType="1"/>
            </p:cNvSpPr>
            <p:nvPr/>
          </p:nvSpPr>
          <p:spPr bwMode="auto">
            <a:xfrm flipH="1">
              <a:off x="3433" y="1015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Line 54"/>
            <p:cNvSpPr>
              <a:spLocks noChangeShapeType="1"/>
            </p:cNvSpPr>
            <p:nvPr/>
          </p:nvSpPr>
          <p:spPr bwMode="auto">
            <a:xfrm flipH="1" flipV="1">
              <a:off x="3433" y="994"/>
              <a:ext cx="43" cy="21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Line 55"/>
            <p:cNvSpPr>
              <a:spLocks noChangeShapeType="1"/>
            </p:cNvSpPr>
            <p:nvPr/>
          </p:nvSpPr>
          <p:spPr bwMode="auto">
            <a:xfrm>
              <a:off x="3813" y="1133"/>
              <a:ext cx="0" cy="17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Line 56"/>
            <p:cNvSpPr>
              <a:spLocks noChangeShapeType="1"/>
            </p:cNvSpPr>
            <p:nvPr/>
          </p:nvSpPr>
          <p:spPr bwMode="auto">
            <a:xfrm flipV="1">
              <a:off x="3813" y="1262"/>
              <a:ext cx="18" cy="50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Line 57"/>
            <p:cNvSpPr>
              <a:spLocks noChangeShapeType="1"/>
            </p:cNvSpPr>
            <p:nvPr/>
          </p:nvSpPr>
          <p:spPr bwMode="auto">
            <a:xfrm flipH="1" flipV="1">
              <a:off x="3783" y="1262"/>
              <a:ext cx="27" cy="50"/>
            </a:xfrm>
            <a:prstGeom prst="line">
              <a:avLst/>
            </a:prstGeom>
            <a:noFill/>
            <a:ln w="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365"/>
            <a:ext cx="340785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4.2.5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DEPLOYMENT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4430563"/>
            <a:ext cx="7727054" cy="11676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EXPLANATION: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0"/>
              </a:spcBef>
            </a:pPr>
            <a:r>
              <a:rPr sz="1200" spc="-5" dirty="0">
                <a:latin typeface="Times New Roman"/>
                <a:cs typeface="Times New Roman"/>
              </a:rPr>
              <a:t>Deployment Diagram 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type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diagram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specifies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physical hardware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 system will execute. </a:t>
            </a:r>
            <a:r>
              <a:rPr sz="1200" spc="-10" dirty="0">
                <a:latin typeface="Times New Roman"/>
                <a:cs typeface="Times New Roman"/>
              </a:rPr>
              <a:t>It </a:t>
            </a:r>
            <a:r>
              <a:rPr sz="1200" spc="-5" dirty="0">
                <a:latin typeface="Times New Roman"/>
                <a:cs typeface="Times New Roman"/>
              </a:rPr>
              <a:t>also determines </a:t>
            </a:r>
            <a:r>
              <a:rPr sz="1200" dirty="0">
                <a:latin typeface="Times New Roman"/>
                <a:cs typeface="Times New Roman"/>
              </a:rPr>
              <a:t>how the </a:t>
            </a:r>
            <a:r>
              <a:rPr sz="1200" spc="-5" dirty="0">
                <a:latin typeface="Times New Roman"/>
                <a:cs typeface="Times New Roman"/>
              </a:rPr>
              <a:t>software is deployed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underlying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hardware.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maps</a:t>
            </a:r>
            <a:r>
              <a:rPr sz="1200" dirty="0">
                <a:latin typeface="Times New Roman"/>
                <a:cs typeface="Times New Roman"/>
              </a:rPr>
              <a:t> software</a:t>
            </a:r>
            <a:r>
              <a:rPr sz="1200" spc="-5" dirty="0">
                <a:latin typeface="Times New Roman"/>
                <a:cs typeface="Times New Roman"/>
              </a:rPr>
              <a:t> pieces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system</a:t>
            </a:r>
            <a:r>
              <a:rPr sz="1200" dirty="0">
                <a:latin typeface="Times New Roman"/>
                <a:cs typeface="Times New Roman"/>
              </a:rPr>
              <a:t> 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device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are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going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execute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362200" y="990600"/>
            <a:ext cx="4724400" cy="3505200"/>
            <a:chOff x="1488" y="624"/>
            <a:chExt cx="2976" cy="2208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488" y="624"/>
              <a:ext cx="2976" cy="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623" y="765"/>
              <a:ext cx="502" cy="395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23" y="728"/>
              <a:ext cx="591" cy="37"/>
            </a:xfrm>
            <a:custGeom>
              <a:avLst/>
              <a:gdLst>
                <a:gd name="T0" fmla="*/ 0 w 591"/>
                <a:gd name="T1" fmla="*/ 37 h 37"/>
                <a:gd name="T2" fmla="*/ 121 w 591"/>
                <a:gd name="T3" fmla="*/ 0 h 37"/>
                <a:gd name="T4" fmla="*/ 591 w 591"/>
                <a:gd name="T5" fmla="*/ 0 h 37"/>
                <a:gd name="T6" fmla="*/ 506 w 591"/>
                <a:gd name="T7" fmla="*/ 37 h 37"/>
                <a:gd name="T8" fmla="*/ 0 w 591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1" h="37">
                  <a:moveTo>
                    <a:pt x="0" y="37"/>
                  </a:moveTo>
                  <a:lnTo>
                    <a:pt x="121" y="0"/>
                  </a:lnTo>
                  <a:lnTo>
                    <a:pt x="591" y="0"/>
                  </a:lnTo>
                  <a:lnTo>
                    <a:pt x="506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129" y="728"/>
              <a:ext cx="85" cy="436"/>
            </a:xfrm>
            <a:custGeom>
              <a:avLst/>
              <a:gdLst>
                <a:gd name="T0" fmla="*/ 0 w 85"/>
                <a:gd name="T1" fmla="*/ 37 h 436"/>
                <a:gd name="T2" fmla="*/ 85 w 85"/>
                <a:gd name="T3" fmla="*/ 0 h 436"/>
                <a:gd name="T4" fmla="*/ 85 w 85"/>
                <a:gd name="T5" fmla="*/ 380 h 436"/>
                <a:gd name="T6" fmla="*/ 0 w 85"/>
                <a:gd name="T7" fmla="*/ 436 h 436"/>
                <a:gd name="T8" fmla="*/ 0 w 85"/>
                <a:gd name="T9" fmla="*/ 37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36">
                  <a:moveTo>
                    <a:pt x="0" y="37"/>
                  </a:moveTo>
                  <a:lnTo>
                    <a:pt x="85" y="0"/>
                  </a:lnTo>
                  <a:lnTo>
                    <a:pt x="85" y="380"/>
                  </a:lnTo>
                  <a:lnTo>
                    <a:pt x="0" y="436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750" y="771"/>
              <a:ext cx="308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User Input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634" y="761"/>
              <a:ext cx="510" cy="40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2634" y="724"/>
              <a:ext cx="599" cy="37"/>
            </a:xfrm>
            <a:custGeom>
              <a:avLst/>
              <a:gdLst>
                <a:gd name="T0" fmla="*/ 0 w 599"/>
                <a:gd name="T1" fmla="*/ 37 h 37"/>
                <a:gd name="T2" fmla="*/ 121 w 599"/>
                <a:gd name="T3" fmla="*/ 0 h 37"/>
                <a:gd name="T4" fmla="*/ 599 w 599"/>
                <a:gd name="T5" fmla="*/ 0 h 37"/>
                <a:gd name="T6" fmla="*/ 514 w 599"/>
                <a:gd name="T7" fmla="*/ 37 h 37"/>
                <a:gd name="T8" fmla="*/ 0 w 599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37">
                  <a:moveTo>
                    <a:pt x="0" y="37"/>
                  </a:moveTo>
                  <a:lnTo>
                    <a:pt x="121" y="0"/>
                  </a:lnTo>
                  <a:lnTo>
                    <a:pt x="599" y="0"/>
                  </a:lnTo>
                  <a:lnTo>
                    <a:pt x="514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3148" y="724"/>
              <a:ext cx="85" cy="444"/>
            </a:xfrm>
            <a:custGeom>
              <a:avLst/>
              <a:gdLst>
                <a:gd name="T0" fmla="*/ 0 w 85"/>
                <a:gd name="T1" fmla="*/ 37 h 444"/>
                <a:gd name="T2" fmla="*/ 85 w 85"/>
                <a:gd name="T3" fmla="*/ 0 h 444"/>
                <a:gd name="T4" fmla="*/ 85 w 85"/>
                <a:gd name="T5" fmla="*/ 388 h 444"/>
                <a:gd name="T6" fmla="*/ 0 w 85"/>
                <a:gd name="T7" fmla="*/ 444 h 444"/>
                <a:gd name="T8" fmla="*/ 0 w 85"/>
                <a:gd name="T9" fmla="*/ 37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44">
                  <a:moveTo>
                    <a:pt x="0" y="37"/>
                  </a:moveTo>
                  <a:lnTo>
                    <a:pt x="85" y="0"/>
                  </a:lnTo>
                  <a:lnTo>
                    <a:pt x="85" y="388"/>
                  </a:lnTo>
                  <a:lnTo>
                    <a:pt x="0" y="444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704" y="767"/>
              <a:ext cx="438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Collect Dataset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649" y="1475"/>
              <a:ext cx="467" cy="37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649" y="1437"/>
              <a:ext cx="556" cy="38"/>
            </a:xfrm>
            <a:custGeom>
              <a:avLst/>
              <a:gdLst>
                <a:gd name="T0" fmla="*/ 0 w 556"/>
                <a:gd name="T1" fmla="*/ 38 h 38"/>
                <a:gd name="T2" fmla="*/ 121 w 556"/>
                <a:gd name="T3" fmla="*/ 0 h 38"/>
                <a:gd name="T4" fmla="*/ 556 w 556"/>
                <a:gd name="T5" fmla="*/ 0 h 38"/>
                <a:gd name="T6" fmla="*/ 471 w 556"/>
                <a:gd name="T7" fmla="*/ 38 h 38"/>
                <a:gd name="T8" fmla="*/ 0 w 556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6" h="38">
                  <a:moveTo>
                    <a:pt x="0" y="38"/>
                  </a:moveTo>
                  <a:lnTo>
                    <a:pt x="121" y="0"/>
                  </a:lnTo>
                  <a:lnTo>
                    <a:pt x="556" y="0"/>
                  </a:lnTo>
                  <a:lnTo>
                    <a:pt x="471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4120" y="1437"/>
              <a:ext cx="85" cy="414"/>
            </a:xfrm>
            <a:custGeom>
              <a:avLst/>
              <a:gdLst>
                <a:gd name="T0" fmla="*/ 0 w 85"/>
                <a:gd name="T1" fmla="*/ 38 h 414"/>
                <a:gd name="T2" fmla="*/ 85 w 85"/>
                <a:gd name="T3" fmla="*/ 0 h 414"/>
                <a:gd name="T4" fmla="*/ 85 w 85"/>
                <a:gd name="T5" fmla="*/ 358 h 414"/>
                <a:gd name="T6" fmla="*/ 0 w 85"/>
                <a:gd name="T7" fmla="*/ 414 h 414"/>
                <a:gd name="T8" fmla="*/ 0 w 85"/>
                <a:gd name="T9" fmla="*/ 3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14">
                  <a:moveTo>
                    <a:pt x="0" y="38"/>
                  </a:moveTo>
                  <a:lnTo>
                    <a:pt x="85" y="0"/>
                  </a:lnTo>
                  <a:lnTo>
                    <a:pt x="85" y="358"/>
                  </a:lnTo>
                  <a:lnTo>
                    <a:pt x="0" y="414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700" y="1481"/>
              <a:ext cx="43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Pre-processing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569" y="2233"/>
              <a:ext cx="467" cy="373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2569" y="2196"/>
              <a:ext cx="556" cy="37"/>
            </a:xfrm>
            <a:custGeom>
              <a:avLst/>
              <a:gdLst>
                <a:gd name="T0" fmla="*/ 0 w 556"/>
                <a:gd name="T1" fmla="*/ 37 h 37"/>
                <a:gd name="T2" fmla="*/ 121 w 556"/>
                <a:gd name="T3" fmla="*/ 0 h 37"/>
                <a:gd name="T4" fmla="*/ 556 w 556"/>
                <a:gd name="T5" fmla="*/ 0 h 37"/>
                <a:gd name="T6" fmla="*/ 471 w 556"/>
                <a:gd name="T7" fmla="*/ 37 h 37"/>
                <a:gd name="T8" fmla="*/ 0 w 556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6" h="37">
                  <a:moveTo>
                    <a:pt x="0" y="37"/>
                  </a:moveTo>
                  <a:lnTo>
                    <a:pt x="121" y="0"/>
                  </a:lnTo>
                  <a:lnTo>
                    <a:pt x="556" y="0"/>
                  </a:lnTo>
                  <a:lnTo>
                    <a:pt x="471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040" y="2196"/>
              <a:ext cx="85" cy="414"/>
            </a:xfrm>
            <a:custGeom>
              <a:avLst/>
              <a:gdLst>
                <a:gd name="T0" fmla="*/ 0 w 85"/>
                <a:gd name="T1" fmla="*/ 37 h 414"/>
                <a:gd name="T2" fmla="*/ 85 w 85"/>
                <a:gd name="T3" fmla="*/ 0 h 414"/>
                <a:gd name="T4" fmla="*/ 85 w 85"/>
                <a:gd name="T5" fmla="*/ 358 h 414"/>
                <a:gd name="T6" fmla="*/ 0 w 85"/>
                <a:gd name="T7" fmla="*/ 414 h 414"/>
                <a:gd name="T8" fmla="*/ 0 w 85"/>
                <a:gd name="T9" fmla="*/ 37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14">
                  <a:moveTo>
                    <a:pt x="0" y="37"/>
                  </a:moveTo>
                  <a:lnTo>
                    <a:pt x="85" y="0"/>
                  </a:lnTo>
                  <a:lnTo>
                    <a:pt x="85" y="358"/>
                  </a:lnTo>
                  <a:lnTo>
                    <a:pt x="0" y="414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665" y="2239"/>
              <a:ext cx="32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3674" y="2242"/>
              <a:ext cx="459" cy="355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674" y="2204"/>
              <a:ext cx="548" cy="38"/>
            </a:xfrm>
            <a:custGeom>
              <a:avLst/>
              <a:gdLst>
                <a:gd name="T0" fmla="*/ 0 w 548"/>
                <a:gd name="T1" fmla="*/ 38 h 38"/>
                <a:gd name="T2" fmla="*/ 122 w 548"/>
                <a:gd name="T3" fmla="*/ 0 h 38"/>
                <a:gd name="T4" fmla="*/ 548 w 548"/>
                <a:gd name="T5" fmla="*/ 0 h 38"/>
                <a:gd name="T6" fmla="*/ 463 w 548"/>
                <a:gd name="T7" fmla="*/ 38 h 38"/>
                <a:gd name="T8" fmla="*/ 0 w 548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38">
                  <a:moveTo>
                    <a:pt x="0" y="38"/>
                  </a:moveTo>
                  <a:lnTo>
                    <a:pt x="122" y="0"/>
                  </a:lnTo>
                  <a:lnTo>
                    <a:pt x="548" y="0"/>
                  </a:lnTo>
                  <a:lnTo>
                    <a:pt x="463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4137" y="2204"/>
              <a:ext cx="85" cy="397"/>
            </a:xfrm>
            <a:custGeom>
              <a:avLst/>
              <a:gdLst>
                <a:gd name="T0" fmla="*/ 0 w 85"/>
                <a:gd name="T1" fmla="*/ 38 h 397"/>
                <a:gd name="T2" fmla="*/ 85 w 85"/>
                <a:gd name="T3" fmla="*/ 0 h 397"/>
                <a:gd name="T4" fmla="*/ 85 w 85"/>
                <a:gd name="T5" fmla="*/ 341 h 397"/>
                <a:gd name="T6" fmla="*/ 0 w 85"/>
                <a:gd name="T7" fmla="*/ 397 h 397"/>
                <a:gd name="T8" fmla="*/ 0 w 85"/>
                <a:gd name="T9" fmla="*/ 38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7">
                  <a:moveTo>
                    <a:pt x="0" y="38"/>
                  </a:moveTo>
                  <a:lnTo>
                    <a:pt x="85" y="0"/>
                  </a:lnTo>
                  <a:lnTo>
                    <a:pt x="85" y="341"/>
                  </a:lnTo>
                  <a:lnTo>
                    <a:pt x="0" y="397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723" y="2247"/>
              <a:ext cx="3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Railway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Track</a:t>
              </a:r>
              <a:r>
                <a:rPr kumimoji="0" lang="en-US" sz="600" b="0" i="0" u="none" strike="noStrike" cap="none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</a:t>
              </a: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 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2172" y="946"/>
              <a:ext cx="462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3083" y="2403"/>
              <a:ext cx="591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2565" y="1476"/>
              <a:ext cx="475" cy="370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2565" y="1439"/>
              <a:ext cx="564" cy="37"/>
            </a:xfrm>
            <a:custGeom>
              <a:avLst/>
              <a:gdLst>
                <a:gd name="T0" fmla="*/ 0 w 564"/>
                <a:gd name="T1" fmla="*/ 37 h 37"/>
                <a:gd name="T2" fmla="*/ 121 w 564"/>
                <a:gd name="T3" fmla="*/ 0 h 37"/>
                <a:gd name="T4" fmla="*/ 564 w 564"/>
                <a:gd name="T5" fmla="*/ 0 h 37"/>
                <a:gd name="T6" fmla="*/ 479 w 564"/>
                <a:gd name="T7" fmla="*/ 37 h 37"/>
                <a:gd name="T8" fmla="*/ 0 w 56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37">
                  <a:moveTo>
                    <a:pt x="0" y="37"/>
                  </a:moveTo>
                  <a:lnTo>
                    <a:pt x="121" y="0"/>
                  </a:lnTo>
                  <a:lnTo>
                    <a:pt x="564" y="0"/>
                  </a:lnTo>
                  <a:lnTo>
                    <a:pt x="479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044" y="1439"/>
              <a:ext cx="85" cy="411"/>
            </a:xfrm>
            <a:custGeom>
              <a:avLst/>
              <a:gdLst>
                <a:gd name="T0" fmla="*/ 0 w 85"/>
                <a:gd name="T1" fmla="*/ 37 h 411"/>
                <a:gd name="T2" fmla="*/ 85 w 85"/>
                <a:gd name="T3" fmla="*/ 0 h 411"/>
                <a:gd name="T4" fmla="*/ 85 w 85"/>
                <a:gd name="T5" fmla="*/ 355 h 411"/>
                <a:gd name="T6" fmla="*/ 0 w 85"/>
                <a:gd name="T7" fmla="*/ 411 h 411"/>
                <a:gd name="T8" fmla="*/ 0 w 85"/>
                <a:gd name="T9" fmla="*/ 37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11">
                  <a:moveTo>
                    <a:pt x="0" y="37"/>
                  </a:moveTo>
                  <a:lnTo>
                    <a:pt x="85" y="0"/>
                  </a:lnTo>
                  <a:lnTo>
                    <a:pt x="85" y="355"/>
                  </a:lnTo>
                  <a:lnTo>
                    <a:pt x="0" y="41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603" y="1481"/>
              <a:ext cx="3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Computer Vision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6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+ PIL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H="1">
              <a:off x="3087" y="1644"/>
              <a:ext cx="562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847" y="1850"/>
              <a:ext cx="0" cy="364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632" y="765"/>
              <a:ext cx="500" cy="395"/>
            </a:xfrm>
            <a:prstGeom prst="rect">
              <a:avLst/>
            </a:prstGeom>
            <a:noFill/>
            <a:ln w="1">
              <a:solidFill>
                <a:srgbClr val="9900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3632" y="728"/>
              <a:ext cx="589" cy="37"/>
            </a:xfrm>
            <a:custGeom>
              <a:avLst/>
              <a:gdLst>
                <a:gd name="T0" fmla="*/ 0 w 589"/>
                <a:gd name="T1" fmla="*/ 37 h 37"/>
                <a:gd name="T2" fmla="*/ 122 w 589"/>
                <a:gd name="T3" fmla="*/ 0 h 37"/>
                <a:gd name="T4" fmla="*/ 589 w 589"/>
                <a:gd name="T5" fmla="*/ 0 h 37"/>
                <a:gd name="T6" fmla="*/ 504 w 589"/>
                <a:gd name="T7" fmla="*/ 37 h 37"/>
                <a:gd name="T8" fmla="*/ 0 w 589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37">
                  <a:moveTo>
                    <a:pt x="0" y="37"/>
                  </a:moveTo>
                  <a:lnTo>
                    <a:pt x="122" y="0"/>
                  </a:lnTo>
                  <a:lnTo>
                    <a:pt x="589" y="0"/>
                  </a:lnTo>
                  <a:lnTo>
                    <a:pt x="504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4136" y="728"/>
              <a:ext cx="85" cy="436"/>
            </a:xfrm>
            <a:custGeom>
              <a:avLst/>
              <a:gdLst>
                <a:gd name="T0" fmla="*/ 0 w 85"/>
                <a:gd name="T1" fmla="*/ 37 h 436"/>
                <a:gd name="T2" fmla="*/ 85 w 85"/>
                <a:gd name="T3" fmla="*/ 0 h 436"/>
                <a:gd name="T4" fmla="*/ 85 w 85"/>
                <a:gd name="T5" fmla="*/ 380 h 436"/>
                <a:gd name="T6" fmla="*/ 0 w 85"/>
                <a:gd name="T7" fmla="*/ 436 h 436"/>
                <a:gd name="T8" fmla="*/ 0 w 85"/>
                <a:gd name="T9" fmla="*/ 37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436">
                  <a:moveTo>
                    <a:pt x="0" y="37"/>
                  </a:moveTo>
                  <a:lnTo>
                    <a:pt x="85" y="0"/>
                  </a:lnTo>
                  <a:lnTo>
                    <a:pt x="85" y="380"/>
                  </a:lnTo>
                  <a:lnTo>
                    <a:pt x="0" y="436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7F7F7F"/>
            </a:solidFill>
            <a:ln w="1">
              <a:solidFill>
                <a:srgbClr val="99003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643" y="771"/>
              <a:ext cx="568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Open &amp; Load Model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3191" y="946"/>
              <a:ext cx="441" cy="0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2123" y="1160"/>
              <a:ext cx="442" cy="502"/>
            </a:xfrm>
            <a:prstGeom prst="line">
              <a:avLst/>
            </a:prstGeom>
            <a:noFill/>
            <a:ln w="1">
              <a:solidFill>
                <a:srgbClr val="9900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533400"/>
            <a:ext cx="1996066" cy="13362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Data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Flow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Diagram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400" b="1" spc="-5" dirty="0">
                <a:latin typeface="Times New Roman"/>
                <a:cs typeface="Times New Roman"/>
              </a:rPr>
              <a:t>Level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0and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Level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 smtClean="0">
                <a:latin typeface="Times New Roman"/>
                <a:cs typeface="Times New Roman"/>
              </a:rPr>
              <a:t>01</a:t>
            </a:r>
            <a:endParaRPr lang="en-GB" sz="1400" b="1" spc="-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lang="en-GB" sz="1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AutoShape 67"/>
          <p:cNvSpPr>
            <a:spLocks noChangeArrowheads="1"/>
          </p:cNvSpPr>
          <p:nvPr/>
        </p:nvSpPr>
        <p:spPr bwMode="auto">
          <a:xfrm>
            <a:off x="2736850" y="2108200"/>
            <a:ext cx="1260475" cy="549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Analyze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Video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68"/>
          <p:cNvSpPr>
            <a:spLocks noChangeArrowheads="1"/>
          </p:cNvSpPr>
          <p:nvPr/>
        </p:nvSpPr>
        <p:spPr bwMode="auto">
          <a:xfrm>
            <a:off x="2660650" y="925513"/>
            <a:ext cx="1336675" cy="6048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User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input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AutoShape 69"/>
          <p:cNvSpPr>
            <a:spLocks noChangeArrowheads="1"/>
          </p:cNvSpPr>
          <p:nvPr/>
        </p:nvSpPr>
        <p:spPr bwMode="auto">
          <a:xfrm>
            <a:off x="835025" y="2016125"/>
            <a:ext cx="1112838" cy="5318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User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AutoShape 70"/>
          <p:cNvSpPr>
            <a:spLocks noChangeArrowheads="1"/>
          </p:cNvSpPr>
          <p:nvPr/>
        </p:nvSpPr>
        <p:spPr bwMode="auto">
          <a:xfrm>
            <a:off x="2736850" y="3381375"/>
            <a:ext cx="1458913" cy="1003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Pre-processing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AutoShape 71"/>
          <p:cNvSpPr>
            <a:spLocks noChangeShapeType="1"/>
          </p:cNvSpPr>
          <p:nvPr/>
        </p:nvSpPr>
        <p:spPr bwMode="auto">
          <a:xfrm flipV="1">
            <a:off x="1608138" y="1155700"/>
            <a:ext cx="1050925" cy="8620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72"/>
          <p:cNvSpPr>
            <a:spLocks noChangeShapeType="1"/>
          </p:cNvSpPr>
          <p:nvPr/>
        </p:nvSpPr>
        <p:spPr bwMode="auto">
          <a:xfrm>
            <a:off x="1949450" y="2327275"/>
            <a:ext cx="7889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73"/>
          <p:cNvSpPr>
            <a:spLocks noChangeShapeType="1"/>
          </p:cNvSpPr>
          <p:nvPr/>
        </p:nvSpPr>
        <p:spPr bwMode="auto">
          <a:xfrm>
            <a:off x="1446213" y="2547938"/>
            <a:ext cx="1290637" cy="10445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9" name="Rectangle 13"/>
          <p:cNvSpPr>
            <a:spLocks noChangeArrowheads="1"/>
          </p:cNvSpPr>
          <p:nvPr/>
        </p:nvSpPr>
        <p:spPr bwMode="auto">
          <a:xfrm>
            <a:off x="0" y="457200"/>
            <a:ext cx="1005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kumimoji="0" lang="en-US" sz="1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1021992"/>
            <a:ext cx="74451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Level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8913" name="Group 1"/>
          <p:cNvGrpSpPr>
            <a:grpSpLocks/>
          </p:cNvGrpSpPr>
          <p:nvPr/>
        </p:nvGrpSpPr>
        <p:grpSpPr bwMode="auto">
          <a:xfrm>
            <a:off x="3048000" y="1295400"/>
            <a:ext cx="1860550" cy="5138738"/>
            <a:chOff x="4664" y="3114"/>
            <a:chExt cx="2931" cy="8094"/>
          </a:xfrm>
        </p:grpSpPr>
        <p:sp>
          <p:nvSpPr>
            <p:cNvPr id="94" name="AutoShape 2"/>
            <p:cNvSpPr>
              <a:spLocks noChangeArrowheads="1"/>
            </p:cNvSpPr>
            <p:nvPr/>
          </p:nvSpPr>
          <p:spPr bwMode="auto">
            <a:xfrm>
              <a:off x="4844" y="7981"/>
              <a:ext cx="2514" cy="9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lang="en-US" sz="1200" dirty="0" smtClean="0">
                  <a:latin typeface="Times New Roman" pitchFamily="18" charset="0"/>
                  <a:cs typeface="Arial" pitchFamily="34" charset="0"/>
                </a:rPr>
                <a:t>Railway </a:t>
              </a:r>
              <a:r>
                <a:rPr lang="en-US" sz="1200" dirty="0" smtClean="0">
                  <a:latin typeface="Times New Roman" pitchFamily="18" charset="0"/>
                  <a:cs typeface="Arial" pitchFamily="34" charset="0"/>
                </a:rPr>
                <a:t>Track</a:t>
              </a: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Detection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5" name="AutoShape 4"/>
            <p:cNvCxnSpPr>
              <a:cxnSpLocks noChangeShapeType="1"/>
            </p:cNvCxnSpPr>
            <p:nvPr/>
          </p:nvCxnSpPr>
          <p:spPr bwMode="auto">
            <a:xfrm>
              <a:off x="6101" y="8950"/>
              <a:ext cx="29" cy="721"/>
            </a:xfrm>
            <a:prstGeom prst="straightConnector1">
              <a:avLst/>
            </a:prstGeom>
            <a:noFill/>
            <a:ln w="31750">
              <a:solidFill>
                <a:srgbClr val="002060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96" name="Rectangle 5"/>
            <p:cNvSpPr>
              <a:spLocks noChangeArrowheads="1"/>
            </p:cNvSpPr>
            <p:nvPr/>
          </p:nvSpPr>
          <p:spPr bwMode="auto">
            <a:xfrm>
              <a:off x="4664" y="3114"/>
              <a:ext cx="2859" cy="774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002060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User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AutoShape 5"/>
            <p:cNvSpPr>
              <a:spLocks noChangeArrowheads="1"/>
            </p:cNvSpPr>
            <p:nvPr/>
          </p:nvSpPr>
          <p:spPr bwMode="auto">
            <a:xfrm>
              <a:off x="4664" y="9671"/>
              <a:ext cx="2931" cy="153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2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Display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AutoShape 6"/>
            <p:cNvSpPr>
              <a:spLocks noChangeArrowheads="1"/>
            </p:cNvSpPr>
            <p:nvPr/>
          </p:nvSpPr>
          <p:spPr bwMode="auto">
            <a:xfrm>
              <a:off x="4664" y="4419"/>
              <a:ext cx="2859" cy="131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Computer </a:t>
              </a: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Vision</a:t>
              </a:r>
              <a:endParaRPr lang="en-US" dirty="0" smtClean="0"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+</a:t>
              </a:r>
              <a:r>
                <a:rPr kumimoji="0" lang="en-US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  </a:t>
              </a:r>
              <a:r>
                <a:rPr lang="en-US" sz="1200" dirty="0" smtClean="0">
                  <a:latin typeface="Times New Roman" pitchFamily="18" charset="0"/>
                  <a:cs typeface="Arial" pitchFamily="34" charset="0"/>
                </a:rPr>
                <a:t>PIL</a:t>
              </a:r>
              <a:endParaRPr kumimoji="0" 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AutoShape 7"/>
            <p:cNvSpPr>
              <a:spLocks noChangeArrowheads="1"/>
            </p:cNvSpPr>
            <p:nvPr/>
          </p:nvSpPr>
          <p:spPr bwMode="auto">
            <a:xfrm>
              <a:off x="4904" y="6192"/>
              <a:ext cx="2370" cy="11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175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Predictions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07" name="AutoShape 8"/>
            <p:cNvCxnSpPr>
              <a:cxnSpLocks noChangeShapeType="1"/>
            </p:cNvCxnSpPr>
            <p:nvPr/>
          </p:nvCxnSpPr>
          <p:spPr bwMode="auto">
            <a:xfrm>
              <a:off x="6094" y="3888"/>
              <a:ext cx="0" cy="531"/>
            </a:xfrm>
            <a:prstGeom prst="straightConnector1">
              <a:avLst/>
            </a:prstGeom>
            <a:noFill/>
            <a:ln w="31750">
              <a:solidFill>
                <a:srgbClr val="002060"/>
              </a:solidFill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09" name="AutoShape 9"/>
            <p:cNvCxnSpPr>
              <a:cxnSpLocks noChangeShapeType="1"/>
            </p:cNvCxnSpPr>
            <p:nvPr/>
          </p:nvCxnSpPr>
          <p:spPr bwMode="auto">
            <a:xfrm flipH="1">
              <a:off x="6089" y="5732"/>
              <a:ext cx="5" cy="460"/>
            </a:xfrm>
            <a:prstGeom prst="straightConnector1">
              <a:avLst/>
            </a:prstGeom>
            <a:noFill/>
            <a:ln w="31750">
              <a:solidFill>
                <a:srgbClr val="002060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110" name="AutoShape 19"/>
            <p:cNvCxnSpPr>
              <a:cxnSpLocks noChangeShapeType="1"/>
            </p:cNvCxnSpPr>
            <p:nvPr/>
          </p:nvCxnSpPr>
          <p:spPr bwMode="auto">
            <a:xfrm>
              <a:off x="6089" y="7336"/>
              <a:ext cx="12" cy="645"/>
            </a:xfrm>
            <a:prstGeom prst="straightConnector1">
              <a:avLst/>
            </a:prstGeom>
            <a:noFill/>
            <a:ln w="31750">
              <a:solidFill>
                <a:srgbClr val="002060"/>
              </a:solidFill>
              <a:round/>
              <a:headEnd/>
              <a:tailEnd type="triangle" w="med" len="med"/>
            </a:ln>
            <a:effectLst/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8524"/>
            <a:ext cx="17569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Times New Roman"/>
                <a:cs typeface="Times New Roman"/>
              </a:rPr>
              <a:t>System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Architecture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4329" y="5359718"/>
            <a:ext cx="240941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Fig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4.12: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5615" y="1629260"/>
            <a:ext cx="3747247" cy="32532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6272" y="686366"/>
            <a:ext cx="2687992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Times New Roman"/>
                <a:cs typeface="Times New Roman"/>
              </a:rPr>
              <a:t>DEVELOPMENT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TOOLS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1356441"/>
            <a:ext cx="7687609" cy="658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lvl="1" indent="-2686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Times New Roman"/>
              <a:buAutoNum type="arabicPeriod"/>
            </a:pPr>
            <a:endParaRPr sz="13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800"/>
              </a:lnSpc>
            </a:pPr>
            <a:r>
              <a:rPr sz="1200" spc="-5" dirty="0">
                <a:latin typeface="Times New Roman"/>
                <a:cs typeface="Times New Roman"/>
              </a:rPr>
              <a:t>Python is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high-level, interpreted, interactive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5" dirty="0">
                <a:latin typeface="Times New Roman"/>
                <a:cs typeface="Times New Roman"/>
              </a:rPr>
              <a:t>object-oriented </a:t>
            </a:r>
            <a:r>
              <a:rPr sz="1200" dirty="0">
                <a:latin typeface="Times New Roman"/>
                <a:cs typeface="Times New Roman"/>
              </a:rPr>
              <a:t>scripting </a:t>
            </a:r>
            <a:r>
              <a:rPr sz="1200" spc="-5" dirty="0">
                <a:latin typeface="Times New Roman"/>
                <a:cs typeface="Times New Roman"/>
              </a:rPr>
              <a:t>language. Python is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designed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readable.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uses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English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keywords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frequently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languages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use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punctuation,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fewer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syntactical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constructions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 other</a:t>
            </a:r>
            <a:r>
              <a:rPr sz="1200" spc="-5" dirty="0">
                <a:latin typeface="Times New Roman"/>
                <a:cs typeface="Times New Roman"/>
              </a:rPr>
              <a:t> languages.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242570" lvl="1" indent="-230504">
              <a:lnSpc>
                <a:spcPct val="100000"/>
              </a:lnSpc>
              <a:buAutoNum type="arabicPeriod" startAt="2"/>
              <a:tabLst>
                <a:tab pos="243204" algn="l"/>
              </a:tabLst>
            </a:pPr>
            <a:r>
              <a:rPr sz="1400" b="1" spc="-85" dirty="0">
                <a:latin typeface="Times New Roman"/>
                <a:cs typeface="Times New Roman"/>
              </a:rPr>
              <a:t>H</a:t>
            </a:r>
            <a:r>
              <a:rPr sz="1400" b="1" spc="-80" dirty="0">
                <a:latin typeface="Times New Roman"/>
                <a:cs typeface="Times New Roman"/>
              </a:rPr>
              <a:t>is</a:t>
            </a:r>
            <a:r>
              <a:rPr sz="1400" b="1" spc="-75" dirty="0">
                <a:latin typeface="Times New Roman"/>
                <a:cs typeface="Times New Roman"/>
              </a:rPr>
              <a:t>t</a:t>
            </a:r>
            <a:r>
              <a:rPr sz="1400" b="1" spc="-80" dirty="0">
                <a:latin typeface="Times New Roman"/>
                <a:cs typeface="Times New Roman"/>
              </a:rPr>
              <a:t>o</a:t>
            </a:r>
            <a:r>
              <a:rPr sz="1400" b="1" spc="-85" dirty="0">
                <a:latin typeface="Times New Roman"/>
                <a:cs typeface="Times New Roman"/>
              </a:rPr>
              <a:t>r</a:t>
            </a:r>
            <a:r>
              <a:rPr sz="1400" b="1" dirty="0">
                <a:latin typeface="Times New Roman"/>
                <a:cs typeface="Times New Roman"/>
              </a:rPr>
              <a:t>y</a:t>
            </a:r>
            <a:r>
              <a:rPr sz="1400" b="1" spc="-155" dirty="0">
                <a:latin typeface="Times New Roman"/>
                <a:cs typeface="Times New Roman"/>
              </a:rPr>
              <a:t> </a:t>
            </a:r>
            <a:r>
              <a:rPr sz="1400" b="1" spc="-70" dirty="0">
                <a:latin typeface="Times New Roman"/>
                <a:cs typeface="Times New Roman"/>
              </a:rPr>
              <a:t>o</a:t>
            </a:r>
            <a:r>
              <a:rPr sz="1400" b="1" dirty="0">
                <a:latin typeface="Times New Roman"/>
                <a:cs typeface="Times New Roman"/>
              </a:rPr>
              <a:t>f</a:t>
            </a:r>
            <a:r>
              <a:rPr sz="1400" b="1" spc="-145" dirty="0">
                <a:latin typeface="Times New Roman"/>
                <a:cs typeface="Times New Roman"/>
              </a:rPr>
              <a:t> </a:t>
            </a:r>
            <a:r>
              <a:rPr sz="1400" b="1" spc="-90" dirty="0">
                <a:latin typeface="Times New Roman"/>
                <a:cs typeface="Times New Roman"/>
              </a:rPr>
              <a:t>P</a:t>
            </a:r>
            <a:r>
              <a:rPr sz="1400" b="1" spc="-80" dirty="0">
                <a:latin typeface="Times New Roman"/>
                <a:cs typeface="Times New Roman"/>
              </a:rPr>
              <a:t>y</a:t>
            </a:r>
            <a:r>
              <a:rPr sz="1400" b="1" spc="-75" dirty="0">
                <a:latin typeface="Times New Roman"/>
                <a:cs typeface="Times New Roman"/>
              </a:rPr>
              <a:t>t</a:t>
            </a:r>
            <a:r>
              <a:rPr sz="1400" b="1" spc="-85" dirty="0">
                <a:latin typeface="Times New Roman"/>
                <a:cs typeface="Times New Roman"/>
              </a:rPr>
              <a:t>h</a:t>
            </a:r>
            <a:r>
              <a:rPr sz="1400" b="1" spc="-70" dirty="0">
                <a:latin typeface="Times New Roman"/>
                <a:cs typeface="Times New Roman"/>
              </a:rPr>
              <a:t>o</a:t>
            </a:r>
            <a:r>
              <a:rPr sz="1400" b="1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rabicPeriod" startAt="2"/>
            </a:pPr>
            <a:endParaRPr sz="13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4200"/>
              </a:lnSpc>
            </a:pP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was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5" dirty="0">
                <a:latin typeface="Times New Roman"/>
                <a:cs typeface="Times New Roman"/>
              </a:rPr>
              <a:t> by </a:t>
            </a:r>
            <a:r>
              <a:rPr sz="1200" dirty="0">
                <a:latin typeface="Times New Roman"/>
                <a:cs typeface="Times New Roman"/>
              </a:rPr>
              <a:t>Guido </a:t>
            </a:r>
            <a:r>
              <a:rPr sz="1200" spc="-5" dirty="0">
                <a:latin typeface="Times New Roman"/>
                <a:cs typeface="Times New Roman"/>
              </a:rPr>
              <a:t>van Rossum</a:t>
            </a:r>
            <a:r>
              <a:rPr sz="1200" dirty="0">
                <a:latin typeface="Times New Roman"/>
                <a:cs typeface="Times New Roman"/>
              </a:rPr>
              <a:t> in the late </a:t>
            </a:r>
            <a:r>
              <a:rPr sz="1200" spc="-5" dirty="0">
                <a:latin typeface="Times New Roman"/>
                <a:cs typeface="Times New Roman"/>
              </a:rPr>
              <a:t>eighties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early nineties </a:t>
            </a:r>
            <a:r>
              <a:rPr sz="1200" spc="-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National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Research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Institute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Mathematics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Computer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Science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Netherlands.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</a:pPr>
            <a:r>
              <a:rPr sz="1200" spc="-5" dirty="0">
                <a:latin typeface="Times New Roman"/>
                <a:cs typeface="Times New Roman"/>
              </a:rPr>
              <a:t>Python is derived from </a:t>
            </a:r>
            <a:r>
              <a:rPr sz="1200" dirty="0">
                <a:latin typeface="Times New Roman"/>
                <a:cs typeface="Times New Roman"/>
              </a:rPr>
              <a:t>many other languages, including </a:t>
            </a:r>
            <a:r>
              <a:rPr sz="1200" spc="-5" dirty="0">
                <a:latin typeface="Times New Roman"/>
                <a:cs typeface="Times New Roman"/>
              </a:rPr>
              <a:t>ABC, </a:t>
            </a:r>
            <a:r>
              <a:rPr sz="1200" dirty="0">
                <a:latin typeface="Times New Roman"/>
                <a:cs typeface="Times New Roman"/>
              </a:rPr>
              <a:t>Modula-3, C, </a:t>
            </a:r>
            <a:r>
              <a:rPr sz="1200" spc="-5" dirty="0">
                <a:latin typeface="Times New Roman"/>
                <a:cs typeface="Times New Roman"/>
              </a:rPr>
              <a:t>C++, </a:t>
            </a:r>
            <a:r>
              <a:rPr sz="1200" dirty="0">
                <a:latin typeface="Times New Roman"/>
                <a:cs typeface="Times New Roman"/>
              </a:rPr>
              <a:t>Algol-68,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SmallTalk,</a:t>
            </a:r>
            <a:r>
              <a:rPr sz="1200" dirty="0">
                <a:latin typeface="Times New Roman"/>
                <a:cs typeface="Times New Roman"/>
              </a:rPr>
              <a:t> and </a:t>
            </a:r>
            <a:r>
              <a:rPr sz="1200" spc="-5" dirty="0">
                <a:latin typeface="Times New Roman"/>
                <a:cs typeface="Times New Roman"/>
              </a:rPr>
              <a:t>Unix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shell</a:t>
            </a:r>
            <a:r>
              <a:rPr sz="1200" dirty="0">
                <a:latin typeface="Times New Roman"/>
                <a:cs typeface="Times New Roman"/>
              </a:rPr>
              <a:t> and </a:t>
            </a:r>
            <a:r>
              <a:rPr sz="1200" spc="-5" dirty="0">
                <a:latin typeface="Times New Roman"/>
                <a:cs typeface="Times New Roman"/>
              </a:rPr>
              <a:t>other</a:t>
            </a:r>
            <a:r>
              <a:rPr sz="1200" dirty="0">
                <a:latin typeface="Times New Roman"/>
                <a:cs typeface="Times New Roman"/>
              </a:rPr>
              <a:t> scripting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languages.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4300"/>
              </a:lnSpc>
            </a:pPr>
            <a:r>
              <a:rPr sz="1200" spc="-5" dirty="0">
                <a:latin typeface="Times New Roman"/>
                <a:cs typeface="Times New Roman"/>
              </a:rPr>
              <a:t>Python is copyrighted. </a:t>
            </a:r>
            <a:r>
              <a:rPr sz="1200" dirty="0">
                <a:latin typeface="Times New Roman"/>
                <a:cs typeface="Times New Roman"/>
              </a:rPr>
              <a:t>Like </a:t>
            </a:r>
            <a:r>
              <a:rPr sz="1200" spc="-5" dirty="0">
                <a:latin typeface="Times New Roman"/>
                <a:cs typeface="Times New Roman"/>
              </a:rPr>
              <a:t>Perl, Python source </a:t>
            </a:r>
            <a:r>
              <a:rPr sz="1200" dirty="0">
                <a:latin typeface="Times New Roman"/>
                <a:cs typeface="Times New Roman"/>
              </a:rPr>
              <a:t>code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now </a:t>
            </a:r>
            <a:r>
              <a:rPr sz="1200" spc="-5" dirty="0">
                <a:latin typeface="Times New Roman"/>
                <a:cs typeface="Times New Roman"/>
              </a:rPr>
              <a:t>available under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GNU General </a:t>
            </a:r>
            <a:r>
              <a:rPr sz="1200" dirty="0">
                <a:latin typeface="Times New Roman"/>
                <a:cs typeface="Times New Roman"/>
              </a:rPr>
              <a:t> Public </a:t>
            </a:r>
            <a:r>
              <a:rPr sz="1200" spc="-5" dirty="0">
                <a:latin typeface="Times New Roman"/>
                <a:cs typeface="Times New Roman"/>
              </a:rPr>
              <a:t>License (GPL).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3300"/>
              </a:lnSpc>
            </a:pPr>
            <a:r>
              <a:rPr sz="1200" spc="-5" dirty="0">
                <a:latin typeface="Times New Roman"/>
                <a:cs typeface="Times New Roman"/>
              </a:rPr>
              <a:t>Python is </a:t>
            </a:r>
            <a:r>
              <a:rPr sz="1200" dirty="0">
                <a:latin typeface="Times New Roman"/>
                <a:cs typeface="Times New Roman"/>
              </a:rPr>
              <a:t>now maintained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a core development </a:t>
            </a:r>
            <a:r>
              <a:rPr sz="1200" spc="-5" dirty="0">
                <a:latin typeface="Times New Roman"/>
                <a:cs typeface="Times New Roman"/>
              </a:rPr>
              <a:t>team at </a:t>
            </a:r>
            <a:r>
              <a:rPr sz="1200" dirty="0">
                <a:latin typeface="Times New Roman"/>
                <a:cs typeface="Times New Roman"/>
              </a:rPr>
              <a:t>the institute, </a:t>
            </a:r>
            <a:r>
              <a:rPr sz="1200" spc="-5" dirty="0">
                <a:latin typeface="Times New Roman"/>
                <a:cs typeface="Times New Roman"/>
              </a:rPr>
              <a:t>although </a:t>
            </a:r>
            <a:r>
              <a:rPr sz="1200" dirty="0">
                <a:latin typeface="Times New Roman"/>
                <a:cs typeface="Times New Roman"/>
              </a:rPr>
              <a:t>Guido </a:t>
            </a:r>
            <a:r>
              <a:rPr sz="1200" spc="-5" dirty="0">
                <a:latin typeface="Times New Roman"/>
                <a:cs typeface="Times New Roman"/>
              </a:rPr>
              <a:t>van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Rossum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still</a:t>
            </a:r>
            <a:r>
              <a:rPr sz="1200" dirty="0">
                <a:latin typeface="Times New Roman"/>
                <a:cs typeface="Times New Roman"/>
              </a:rPr>
              <a:t> holds a </a:t>
            </a:r>
            <a:r>
              <a:rPr sz="1200" spc="-5" dirty="0">
                <a:latin typeface="Times New Roman"/>
                <a:cs typeface="Times New Roman"/>
              </a:rPr>
              <a:t>vital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directing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329565" lvl="1" indent="-3175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30200" algn="l"/>
              </a:tabLst>
            </a:pPr>
            <a:r>
              <a:rPr sz="1400" b="1" spc="85" dirty="0">
                <a:latin typeface="Times New Roman"/>
                <a:cs typeface="Times New Roman"/>
              </a:rPr>
              <a:t>Importance</a:t>
            </a:r>
            <a:r>
              <a:rPr sz="1400" b="1" spc="155" dirty="0">
                <a:latin typeface="Times New Roman"/>
                <a:cs typeface="Times New Roman"/>
              </a:rPr>
              <a:t> </a:t>
            </a:r>
            <a:r>
              <a:rPr sz="1400" b="1" spc="55" dirty="0">
                <a:latin typeface="Times New Roman"/>
                <a:cs typeface="Times New Roman"/>
              </a:rPr>
              <a:t>of</a:t>
            </a:r>
            <a:r>
              <a:rPr sz="1400" b="1" spc="160" dirty="0">
                <a:latin typeface="Times New Roman"/>
                <a:cs typeface="Times New Roman"/>
              </a:rPr>
              <a:t> </a:t>
            </a:r>
            <a:r>
              <a:rPr sz="1400" b="1" spc="80" dirty="0"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  <a:p>
            <a:pPr marL="499745" marR="7620" lvl="2" indent="-228600">
              <a:lnSpc>
                <a:spcPct val="143300"/>
              </a:lnSpc>
              <a:spcBef>
                <a:spcPts val="105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Python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is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Interpreted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interpreter.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You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need</a:t>
            </a:r>
            <a:r>
              <a:rPr sz="1200" dirty="0">
                <a:latin typeface="Times New Roman"/>
                <a:cs typeface="Times New Roman"/>
              </a:rPr>
              <a:t> to compile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before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similar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PERL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 marL="499745" marR="10160" lvl="2" indent="-228600">
              <a:lnSpc>
                <a:spcPct val="143300"/>
              </a:lnSpc>
              <a:spcBef>
                <a:spcPts val="735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Python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is</a:t>
            </a:r>
            <a:r>
              <a:rPr sz="1200" b="1" spc="16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Interactive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You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actually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prompt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interact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with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interpreter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write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programs.</a:t>
            </a:r>
            <a:endParaRPr sz="1200">
              <a:latin typeface="Times New Roman"/>
              <a:cs typeface="Times New Roman"/>
            </a:endParaRPr>
          </a:p>
          <a:p>
            <a:pPr marL="499745" marR="5080" lvl="2" indent="-228600">
              <a:lnSpc>
                <a:spcPct val="143300"/>
              </a:lnSpc>
              <a:spcBef>
                <a:spcPts val="73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Python</a:t>
            </a:r>
            <a:r>
              <a:rPr sz="1200" b="1" spc="27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is</a:t>
            </a:r>
            <a:r>
              <a:rPr sz="1200" b="1" spc="27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Object-Oriented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supports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Object-Oriented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style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or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technique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programming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encapsulates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code </a:t>
            </a:r>
            <a:r>
              <a:rPr sz="1200" dirty="0">
                <a:latin typeface="Times New Roman"/>
                <a:cs typeface="Times New Roman"/>
              </a:rPr>
              <a:t>within objects.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580" y="624736"/>
            <a:ext cx="7350685" cy="543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 marR="5080" indent="-210820" algn="just">
              <a:lnSpc>
                <a:spcPct val="143800"/>
              </a:lnSpc>
              <a:spcBef>
                <a:spcPts val="95"/>
              </a:spcBef>
              <a:buSzPct val="83333"/>
              <a:buFont typeface="Symbol"/>
              <a:buChar char=""/>
              <a:tabLst>
                <a:tab pos="21082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Python is </a:t>
            </a:r>
            <a:r>
              <a:rPr sz="1200" b="1" dirty="0">
                <a:latin typeface="Times New Roman"/>
                <a:cs typeface="Times New Roman"/>
              </a:rPr>
              <a:t>a </a:t>
            </a:r>
            <a:r>
              <a:rPr sz="1200" b="1" spc="-5" dirty="0">
                <a:latin typeface="Times New Roman"/>
                <a:cs typeface="Times New Roman"/>
              </a:rPr>
              <a:t>Beginner's </a:t>
            </a:r>
            <a:r>
              <a:rPr sz="1200" b="1" dirty="0">
                <a:latin typeface="Times New Roman"/>
                <a:cs typeface="Times New Roman"/>
              </a:rPr>
              <a:t>Language </a:t>
            </a:r>
            <a:r>
              <a:rPr sz="1200" dirty="0">
                <a:latin typeface="Times New Roman"/>
                <a:cs typeface="Times New Roman"/>
              </a:rPr>
              <a:t>− </a:t>
            </a:r>
            <a:r>
              <a:rPr sz="1200" spc="-5" dirty="0">
                <a:latin typeface="Times New Roman"/>
                <a:cs typeface="Times New Roman"/>
              </a:rPr>
              <a:t>Python </a:t>
            </a:r>
            <a:r>
              <a:rPr sz="1200" dirty="0">
                <a:latin typeface="Times New Roman"/>
                <a:cs typeface="Times New Roman"/>
              </a:rPr>
              <a:t>is a </a:t>
            </a:r>
            <a:r>
              <a:rPr sz="1200" spc="-5" dirty="0">
                <a:latin typeface="Times New Roman"/>
                <a:cs typeface="Times New Roman"/>
              </a:rPr>
              <a:t>great language </a:t>
            </a:r>
            <a:r>
              <a:rPr sz="1200" dirty="0">
                <a:latin typeface="Times New Roman"/>
                <a:cs typeface="Times New Roman"/>
              </a:rPr>
              <a:t>for the </a:t>
            </a:r>
            <a:r>
              <a:rPr sz="1200" spc="-5" dirty="0">
                <a:latin typeface="Times New Roman"/>
                <a:cs typeface="Times New Roman"/>
              </a:rPr>
              <a:t>beginner-level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programmers and </a:t>
            </a:r>
            <a:r>
              <a:rPr sz="1200" dirty="0">
                <a:latin typeface="Times New Roman"/>
                <a:cs typeface="Times New Roman"/>
              </a:rPr>
              <a:t>supports the </a:t>
            </a:r>
            <a:r>
              <a:rPr sz="1200" spc="-5" dirty="0">
                <a:latin typeface="Times New Roman"/>
                <a:cs typeface="Times New Roman"/>
              </a:rPr>
              <a:t>development </a:t>
            </a:r>
            <a:r>
              <a:rPr sz="1200" dirty="0">
                <a:latin typeface="Times New Roman"/>
                <a:cs typeface="Times New Roman"/>
              </a:rPr>
              <a:t>of a wide </a:t>
            </a:r>
            <a:r>
              <a:rPr sz="1200" spc="-5" dirty="0">
                <a:latin typeface="Times New Roman"/>
                <a:cs typeface="Times New Roman"/>
              </a:rPr>
              <a:t>range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applications from </a:t>
            </a:r>
            <a:r>
              <a:rPr sz="1200" dirty="0">
                <a:latin typeface="Times New Roman"/>
                <a:cs typeface="Times New Roman"/>
              </a:rPr>
              <a:t>simple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5" dirty="0">
                <a:latin typeface="Times New Roman"/>
                <a:cs typeface="Times New Roman"/>
              </a:rPr>
              <a:t> 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WWW</a:t>
            </a:r>
            <a:r>
              <a:rPr sz="1200" spc="-5" dirty="0">
                <a:latin typeface="Times New Roman"/>
                <a:cs typeface="Times New Roman"/>
              </a:rPr>
              <a:t> browsers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games.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1714441"/>
            <a:ext cx="7685965" cy="5205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lvl="1" indent="-26860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Features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of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  <a:p>
            <a:pPr marL="499745" marR="9525" lvl="2" indent="-228600">
              <a:lnSpc>
                <a:spcPct val="143300"/>
              </a:lnSpc>
              <a:spcBef>
                <a:spcPts val="132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Easy-to-learn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few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keywords,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simple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structure,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defined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syntax. </a:t>
            </a: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allows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 to pick up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5" dirty="0">
                <a:latin typeface="Times New Roman"/>
                <a:cs typeface="Times New Roman"/>
              </a:rPr>
              <a:t> quickly.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69265" lvl="2" indent="-198120">
              <a:lnSpc>
                <a:spcPct val="100000"/>
              </a:lnSpc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Easy-to-read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 code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defined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visible to the</a:t>
            </a:r>
            <a:r>
              <a:rPr sz="1200" spc="-5" dirty="0">
                <a:latin typeface="Times New Roman"/>
                <a:cs typeface="Times New Roman"/>
              </a:rPr>
              <a:t> eyes.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69265" lvl="2" indent="-198120">
              <a:lnSpc>
                <a:spcPct val="100000"/>
              </a:lnSpc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Easy-to-maintain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Python's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source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fairly</a:t>
            </a:r>
            <a:r>
              <a:rPr sz="1200" spc="-5" dirty="0">
                <a:latin typeface="Times New Roman"/>
                <a:cs typeface="Times New Roman"/>
              </a:rPr>
              <a:t> easy-to-maintain.</a:t>
            </a:r>
            <a:endParaRPr sz="1200">
              <a:latin typeface="Times New Roman"/>
              <a:cs typeface="Times New Roman"/>
            </a:endParaRPr>
          </a:p>
          <a:p>
            <a:pPr marL="499745" marR="5080" lvl="2" indent="-228600">
              <a:lnSpc>
                <a:spcPct val="144200"/>
              </a:lnSpc>
              <a:spcBef>
                <a:spcPts val="71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A</a:t>
            </a:r>
            <a:r>
              <a:rPr sz="1200" b="1" spc="22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broad</a:t>
            </a:r>
            <a:r>
              <a:rPr sz="1200" b="1" spc="229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standard</a:t>
            </a:r>
            <a:r>
              <a:rPr sz="1200" b="1" spc="21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library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Python's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bulk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very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portable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cross-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platform compatible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UNIX,</a:t>
            </a:r>
            <a:r>
              <a:rPr sz="1200" dirty="0">
                <a:latin typeface="Times New Roman"/>
                <a:cs typeface="Times New Roman"/>
              </a:rPr>
              <a:t> Windows,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Macintosh.</a:t>
            </a:r>
            <a:endParaRPr sz="1200">
              <a:latin typeface="Times New Roman"/>
              <a:cs typeface="Times New Roman"/>
            </a:endParaRPr>
          </a:p>
          <a:p>
            <a:pPr marL="499745" marR="6350" lvl="2" indent="-228600">
              <a:lnSpc>
                <a:spcPct val="144200"/>
              </a:lnSpc>
              <a:spcBef>
                <a:spcPts val="705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Interactive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Mode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support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which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interactive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debugging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snippets</a:t>
            </a:r>
            <a:r>
              <a:rPr sz="1200" dirty="0">
                <a:latin typeface="Times New Roman"/>
                <a:cs typeface="Times New Roman"/>
              </a:rPr>
              <a:t> of </a:t>
            </a:r>
            <a:r>
              <a:rPr sz="1200" spc="-5" dirty="0">
                <a:latin typeface="Times New Roman"/>
                <a:cs typeface="Times New Roman"/>
              </a:rPr>
              <a:t>code.</a:t>
            </a:r>
            <a:endParaRPr sz="1200">
              <a:latin typeface="Times New Roman"/>
              <a:cs typeface="Times New Roman"/>
            </a:endParaRPr>
          </a:p>
          <a:p>
            <a:pPr marL="499745" marR="8890" lvl="2" indent="-228600">
              <a:lnSpc>
                <a:spcPct val="144200"/>
              </a:lnSpc>
              <a:spcBef>
                <a:spcPts val="71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Portable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wide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hardware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platforms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same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interface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all</a:t>
            </a:r>
            <a:r>
              <a:rPr sz="1200" dirty="0">
                <a:latin typeface="Times New Roman"/>
                <a:cs typeface="Times New Roman"/>
              </a:rPr>
              <a:t> platforms.</a:t>
            </a:r>
            <a:endParaRPr sz="1200">
              <a:latin typeface="Times New Roman"/>
              <a:cs typeface="Times New Roman"/>
            </a:endParaRPr>
          </a:p>
          <a:p>
            <a:pPr marL="499745" marR="6350" lvl="2" indent="-228600">
              <a:lnSpc>
                <a:spcPct val="144200"/>
              </a:lnSpc>
              <a:spcBef>
                <a:spcPts val="710"/>
              </a:spcBef>
              <a:buSzPct val="83333"/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Extendable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You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low-level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modules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interpreter.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modules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enable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programmers</a:t>
            </a:r>
            <a:r>
              <a:rPr sz="1200" dirty="0">
                <a:latin typeface="Times New Roman"/>
                <a:cs typeface="Times New Roman"/>
              </a:rPr>
              <a:t> to add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or </a:t>
            </a:r>
            <a:r>
              <a:rPr sz="1200" spc="-5" dirty="0">
                <a:latin typeface="Times New Roman"/>
                <a:cs typeface="Times New Roman"/>
              </a:rPr>
              <a:t>customize </a:t>
            </a:r>
            <a:r>
              <a:rPr sz="1200" dirty="0">
                <a:latin typeface="Times New Roman"/>
                <a:cs typeface="Times New Roman"/>
              </a:rPr>
              <a:t>their tools to be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" dirty="0">
                <a:latin typeface="Times New Roman"/>
                <a:cs typeface="Times New Roman"/>
              </a:rPr>
              <a:t> efficient.</a:t>
            </a:r>
            <a:endParaRPr sz="12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69265" lvl="2" indent="-198120" algn="just">
              <a:lnSpc>
                <a:spcPct val="10000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Databases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 </a:t>
            </a:r>
            <a:r>
              <a:rPr sz="1200" spc="-5" dirty="0">
                <a:latin typeface="Times New Roman"/>
                <a:cs typeface="Times New Roman"/>
              </a:rPr>
              <a:t>Python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interfaces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commercial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databases.</a:t>
            </a:r>
            <a:endParaRPr sz="1200">
              <a:latin typeface="Times New Roman"/>
              <a:cs typeface="Times New Roman"/>
            </a:endParaRPr>
          </a:p>
          <a:p>
            <a:pPr marL="499745" marR="6350" lvl="2" indent="-228600" algn="just">
              <a:lnSpc>
                <a:spcPct val="143900"/>
              </a:lnSpc>
              <a:spcBef>
                <a:spcPts val="72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GUI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Programming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supports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applications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created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ported </a:t>
            </a:r>
            <a:r>
              <a:rPr sz="1200" spc="-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calls,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libraries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windows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systems,</a:t>
            </a:r>
            <a:r>
              <a:rPr sz="1200" dirty="0">
                <a:latin typeface="Times New Roman"/>
                <a:cs typeface="Times New Roman"/>
              </a:rPr>
              <a:t> such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Windows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MFC,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Macintosh, and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X </a:t>
            </a:r>
            <a:r>
              <a:rPr sz="1200" dirty="0">
                <a:latin typeface="Times New Roman"/>
                <a:cs typeface="Times New Roman"/>
              </a:rPr>
              <a:t>Window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Unix.</a:t>
            </a:r>
            <a:endParaRPr sz="1200">
              <a:latin typeface="Times New Roman"/>
              <a:cs typeface="Times New Roman"/>
            </a:endParaRPr>
          </a:p>
          <a:p>
            <a:pPr marL="499745" marR="8255" lvl="2" indent="-228600" algn="just">
              <a:lnSpc>
                <a:spcPct val="144200"/>
              </a:lnSpc>
              <a:spcBef>
                <a:spcPts val="70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Scalable </a:t>
            </a:r>
            <a:r>
              <a:rPr sz="1200" dirty="0">
                <a:latin typeface="Times New Roman"/>
                <a:cs typeface="Times New Roman"/>
              </a:rPr>
              <a:t>− </a:t>
            </a:r>
            <a:r>
              <a:rPr sz="1200" spc="-5" dirty="0">
                <a:latin typeface="Times New Roman"/>
                <a:cs typeface="Times New Roman"/>
              </a:rPr>
              <a:t>Python </a:t>
            </a:r>
            <a:r>
              <a:rPr sz="1200" dirty="0">
                <a:latin typeface="Times New Roman"/>
                <a:cs typeface="Times New Roman"/>
              </a:rPr>
              <a:t>provides a </a:t>
            </a:r>
            <a:r>
              <a:rPr sz="1200" spc="-5" dirty="0">
                <a:latin typeface="Times New Roman"/>
                <a:cs typeface="Times New Roman"/>
              </a:rPr>
              <a:t>better structure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5" dirty="0">
                <a:latin typeface="Times New Roman"/>
                <a:cs typeface="Times New Roman"/>
              </a:rPr>
              <a:t>support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5" dirty="0">
                <a:latin typeface="Times New Roman"/>
                <a:cs typeface="Times New Roman"/>
              </a:rPr>
              <a:t>large programs </a:t>
            </a:r>
            <a:r>
              <a:rPr sz="1200" dirty="0">
                <a:latin typeface="Times New Roman"/>
                <a:cs typeface="Times New Roman"/>
              </a:rPr>
              <a:t>than </a:t>
            </a:r>
            <a:r>
              <a:rPr sz="1200" spc="-5" dirty="0">
                <a:latin typeface="Times New Roman"/>
                <a:cs typeface="Times New Roman"/>
              </a:rPr>
              <a:t>shell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scripting.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24736"/>
            <a:ext cx="7684322" cy="4078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 marR="7620">
              <a:lnSpc>
                <a:spcPct val="1435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Apart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above-mentioned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features,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good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features,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few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listed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below </a:t>
            </a:r>
            <a:r>
              <a:rPr sz="120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499745" indent="-228600">
              <a:lnSpc>
                <a:spcPct val="100000"/>
              </a:lnSpc>
              <a:buSzPct val="83333"/>
              <a:buFont typeface="Symbol"/>
              <a:buChar char=""/>
              <a:tabLst>
                <a:tab pos="499745" algn="l"/>
                <a:tab pos="500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supports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 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structured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programming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well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dirty="0">
                <a:latin typeface="Times New Roman"/>
                <a:cs typeface="Times New Roman"/>
              </a:rPr>
              <a:t> OOP.</a:t>
            </a:r>
            <a:endParaRPr sz="1200">
              <a:latin typeface="Times New Roman"/>
              <a:cs typeface="Times New Roman"/>
            </a:endParaRPr>
          </a:p>
          <a:p>
            <a:pPr marL="499745" marR="5080" indent="-228600">
              <a:lnSpc>
                <a:spcPct val="144200"/>
              </a:lnSpc>
              <a:spcBef>
                <a:spcPts val="710"/>
              </a:spcBef>
              <a:buSzPct val="83333"/>
              <a:buFont typeface="Symbol"/>
              <a:buChar char=""/>
              <a:tabLst>
                <a:tab pos="499745" algn="l"/>
                <a:tab pos="500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language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byte-code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large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applications.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99745" indent="-228600">
              <a:lnSpc>
                <a:spcPct val="100000"/>
              </a:lnSpc>
              <a:buSzPct val="83333"/>
              <a:buFont typeface="Symbol"/>
              <a:buChar char=""/>
              <a:tabLst>
                <a:tab pos="499745" algn="l"/>
                <a:tab pos="500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high-level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dynamic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types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dynamic</a:t>
            </a:r>
            <a:r>
              <a:rPr sz="1200" dirty="0">
                <a:latin typeface="Times New Roman"/>
                <a:cs typeface="Times New Roman"/>
              </a:rPr>
              <a:t> type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checking.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99745" indent="-228600">
              <a:lnSpc>
                <a:spcPct val="100000"/>
              </a:lnSpc>
              <a:buSzPct val="83333"/>
              <a:buFont typeface="Symbol"/>
              <a:buChar char=""/>
              <a:tabLst>
                <a:tab pos="499745" algn="l"/>
                <a:tab pos="500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 supports </a:t>
            </a:r>
            <a:r>
              <a:rPr sz="1200" spc="-5" dirty="0">
                <a:latin typeface="Times New Roman"/>
                <a:cs typeface="Times New Roman"/>
              </a:rPr>
              <a:t>automatic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garbage collection.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499745" indent="-228600">
              <a:lnSpc>
                <a:spcPct val="1000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499745" algn="l"/>
                <a:tab pos="500380" algn="l"/>
              </a:tabLst>
            </a:pP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 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C,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C++,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ActiveX,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CORBA,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Java.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280670" lvl="1" indent="-26860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8130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Libraries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used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in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5"/>
            </a:pPr>
            <a:endParaRPr sz="1900">
              <a:latin typeface="Times New Roman"/>
              <a:cs typeface="Times New Roman"/>
            </a:endParaRPr>
          </a:p>
          <a:p>
            <a:pPr marL="469265" lvl="2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numpy</a:t>
            </a:r>
            <a:r>
              <a:rPr sz="1200" spc="-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- mainly</a:t>
            </a:r>
            <a:r>
              <a:rPr sz="1200" spc="-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useful</a:t>
            </a:r>
            <a:r>
              <a:rPr sz="1200" spc="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sz="1200" spc="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its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N-dimensional</a:t>
            </a:r>
            <a:r>
              <a:rPr sz="1200" spc="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array</a:t>
            </a:r>
            <a:r>
              <a:rPr sz="12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objects.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ct val="100000"/>
              </a:lnSpc>
              <a:spcBef>
                <a:spcPts val="101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pandas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-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Python</a:t>
            </a:r>
            <a:r>
              <a:rPr sz="1200" spc="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data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analysis</a:t>
            </a:r>
            <a:r>
              <a:rPr sz="1200" spc="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library,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including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 structures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such</a:t>
            </a:r>
            <a:r>
              <a:rPr sz="1200" spc="1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as</a:t>
            </a:r>
            <a:r>
              <a:rPr sz="1200" spc="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dataframes.</a:t>
            </a:r>
            <a:endParaRPr sz="1200">
              <a:latin typeface="Times New Roman"/>
              <a:cs typeface="Times New Roman"/>
            </a:endParaRPr>
          </a:p>
          <a:p>
            <a:pPr marL="469265" lvl="2" indent="-228600">
              <a:lnSpc>
                <a:spcPct val="100000"/>
              </a:lnSpc>
              <a:spcBef>
                <a:spcPts val="100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matplotlib</a:t>
            </a:r>
            <a:r>
              <a:rPr sz="12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-</a:t>
            </a:r>
            <a:r>
              <a:rPr sz="12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2D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plotting</a:t>
            </a:r>
            <a:r>
              <a:rPr sz="1200" spc="-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library</a:t>
            </a:r>
            <a:r>
              <a:rPr sz="12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producing</a:t>
            </a:r>
            <a:r>
              <a:rPr sz="1200" spc="-2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publication</a:t>
            </a:r>
            <a:r>
              <a:rPr sz="1200" spc="-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quality</a:t>
            </a:r>
            <a:r>
              <a:rPr sz="1200" spc="-3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figures.</a:t>
            </a:r>
            <a:endParaRPr sz="1200">
              <a:latin typeface="Times New Roman"/>
              <a:cs typeface="Times New Roman"/>
            </a:endParaRPr>
          </a:p>
          <a:p>
            <a:pPr marL="469265" marR="5715" lvl="2" indent="-228600">
              <a:lnSpc>
                <a:spcPct val="144300"/>
              </a:lnSpc>
              <a:spcBef>
                <a:spcPts val="385"/>
              </a:spcBef>
              <a:buClr>
                <a:srgbClr val="000000"/>
              </a:buClr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scikit-learn</a:t>
            </a:r>
            <a:r>
              <a:rPr sz="1200" spc="20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-</a:t>
            </a:r>
            <a:r>
              <a:rPr sz="1200" spc="18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the</a:t>
            </a:r>
            <a:r>
              <a:rPr sz="1200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machine</a:t>
            </a:r>
            <a:r>
              <a:rPr sz="1200" spc="19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learning</a:t>
            </a:r>
            <a:r>
              <a:rPr sz="1200" spc="17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algorithms</a:t>
            </a:r>
            <a:r>
              <a:rPr sz="1200" spc="19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used</a:t>
            </a:r>
            <a:r>
              <a:rPr sz="1200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sz="1200" spc="19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data</a:t>
            </a:r>
            <a:r>
              <a:rPr sz="1200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analysis</a:t>
            </a:r>
            <a:r>
              <a:rPr sz="1200" spc="21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and</a:t>
            </a:r>
            <a:r>
              <a:rPr sz="1200" spc="19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data</a:t>
            </a:r>
            <a:r>
              <a:rPr sz="1200" spc="19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Times New Roman"/>
                <a:cs typeface="Times New Roman"/>
              </a:rPr>
              <a:t>mining </a:t>
            </a:r>
            <a:r>
              <a:rPr sz="1200" spc="-28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212121"/>
                </a:solidFill>
                <a:latin typeface="Times New Roman"/>
                <a:cs typeface="Times New Roman"/>
              </a:rPr>
              <a:t>tasks.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2907" y="5730967"/>
            <a:ext cx="391324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Figure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 NumPy, </a:t>
            </a:r>
            <a:r>
              <a:rPr sz="1200" spc="-5" dirty="0">
                <a:latin typeface="Times New Roman"/>
                <a:cs typeface="Times New Roman"/>
              </a:rPr>
              <a:t>Pandas,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Matplotlib, </a:t>
            </a:r>
            <a:r>
              <a:rPr sz="1200" spc="-5" dirty="0">
                <a:latin typeface="Times New Roman"/>
                <a:cs typeface="Times New Roman"/>
              </a:rPr>
              <a:t>Scikit-learn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773" y="4682352"/>
            <a:ext cx="5056074" cy="80010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3078" y="685188"/>
            <a:ext cx="2233556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1437698"/>
            <a:ext cx="7227421" cy="6036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6.1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GENERAL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Times New Roman"/>
                <a:cs typeface="Times New Roman"/>
              </a:rPr>
              <a:t>Coding:</a:t>
            </a:r>
            <a:endParaRPr sz="1200">
              <a:latin typeface="Times New Roman"/>
              <a:cs typeface="Times New Roman"/>
            </a:endParaRPr>
          </a:p>
          <a:p>
            <a:pPr marL="12700" marR="4080510">
              <a:lnSpc>
                <a:spcPts val="3470"/>
              </a:lnSpc>
              <a:spcBef>
                <a:spcPts val="42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Importing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libraries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matplotlib.pyplot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pandas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pd</a:t>
            </a:r>
            <a:endParaRPr sz="1200">
              <a:latin typeface="Times New Roman"/>
              <a:cs typeface="Times New Roman"/>
            </a:endParaRPr>
          </a:p>
          <a:p>
            <a:pPr marL="12700" marR="2364740">
              <a:lnSpc>
                <a:spcPct val="2408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GridSearchCV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sklearn.tree</a:t>
            </a:r>
            <a:r>
              <a:rPr sz="1200" dirty="0">
                <a:latin typeface="Times New Roman"/>
                <a:cs typeface="Times New Roman"/>
              </a:rPr>
              <a:t> import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DecisionTreeClassifier</a:t>
            </a:r>
            <a:endParaRPr sz="1200">
              <a:latin typeface="Times New Roman"/>
              <a:cs typeface="Times New Roman"/>
            </a:endParaRPr>
          </a:p>
          <a:p>
            <a:pPr marL="12700" marR="117284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accuracy_score,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roc_auc_score,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roc_LANE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Importing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dataset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dataset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pd.read_csv('../Dataset/diabetes.csv')</a:t>
            </a:r>
            <a:endParaRPr sz="1200">
              <a:latin typeface="Times New Roman"/>
              <a:cs typeface="Times New Roman"/>
            </a:endParaRPr>
          </a:p>
          <a:p>
            <a:pPr marL="12700" marR="3785870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5" dirty="0">
                <a:latin typeface="Times New Roman"/>
                <a:cs typeface="Times New Roman"/>
              </a:rPr>
              <a:t> dataset.iloc[:,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:-1].values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dataset.iloc[:, </a:t>
            </a:r>
            <a:r>
              <a:rPr sz="1200" dirty="0">
                <a:latin typeface="Times New Roman"/>
                <a:cs typeface="Times New Roman"/>
              </a:rPr>
              <a:t>8].values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dataset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 and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5" dirty="0">
                <a:latin typeface="Times New Roman"/>
                <a:cs typeface="Times New Roman"/>
              </a:rPr>
              <a:t> set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X_train,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X_test,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y_test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train_test_split(X,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y,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test_size = 0.25,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random_state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42)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5910132" cy="7366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Scaling</a:t>
            </a:r>
            <a:endParaRPr sz="1200">
              <a:latin typeface="Times New Roman"/>
              <a:cs typeface="Times New Roman"/>
            </a:endParaRPr>
          </a:p>
          <a:p>
            <a:pPr marL="12700" marR="148336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sklearn.preprocessing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StandardScaler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StandardScaler()</a:t>
            </a:r>
            <a:endParaRPr sz="1200">
              <a:latin typeface="Times New Roman"/>
              <a:cs typeface="Times New Roman"/>
            </a:endParaRPr>
          </a:p>
          <a:p>
            <a:pPr marL="12700" marR="2383790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X_train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sc.fit_transform(X_train)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X_test</a:t>
            </a:r>
            <a:r>
              <a:rPr sz="1200" dirty="0">
                <a:latin typeface="Times New Roman"/>
                <a:cs typeface="Times New Roman"/>
              </a:rPr>
              <a:t> = </a:t>
            </a:r>
            <a:r>
              <a:rPr sz="1200" spc="-5" dirty="0">
                <a:latin typeface="Times New Roman"/>
                <a:cs typeface="Times New Roman"/>
              </a:rPr>
              <a:t>sc.transform(X_test)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 evaluation</a:t>
            </a:r>
            <a:endParaRPr sz="1200">
              <a:latin typeface="Times New Roman"/>
              <a:cs typeface="Times New Roman"/>
            </a:endParaRPr>
          </a:p>
          <a:p>
            <a:pPr marL="12700" marR="143065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treeclf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DecisionTreeClassifier(random_state=42)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parameters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{'max_depth':</a:t>
            </a:r>
            <a:r>
              <a:rPr sz="1200" dirty="0">
                <a:latin typeface="Times New Roman"/>
                <a:cs typeface="Times New Roman"/>
              </a:rPr>
              <a:t> [6, 7, 8,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9],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'min_samples_split': </a:t>
            </a:r>
            <a:r>
              <a:rPr sz="1200" dirty="0">
                <a:latin typeface="Times New Roman"/>
                <a:cs typeface="Times New Roman"/>
              </a:rPr>
              <a:t>[2, 3,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4, 5],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'max_features':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gridsearch=GridSearchCV(treeclf,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cv=100,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scoring='roc_auc')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gridsearch.fit(X,y)</a:t>
            </a:r>
            <a:endParaRPr sz="1200">
              <a:latin typeface="Times New Roman"/>
              <a:cs typeface="Times New Roman"/>
            </a:endParaRPr>
          </a:p>
          <a:p>
            <a:pPr marL="12700" marR="264795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print(gridsearch.best_params_)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print(gridsearch.best_score_)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Adjusting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development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threshold</a:t>
            </a:r>
            <a:endParaRPr sz="1200">
              <a:latin typeface="Times New Roman"/>
              <a:cs typeface="Times New Roman"/>
            </a:endParaRPr>
          </a:p>
          <a:p>
            <a:pPr marL="1155065" marR="612775" indent="-1143000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tree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DecisionTreeClassifier(max_depth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max_features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min_samples_split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155065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random_state=42)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7356438" cy="69817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X_train,X_test,y_train,y_test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train_test_split(X,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y,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random_state=42)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tree.fit(X_train,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 marL="12700" marR="101536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print("Accuracy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set: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{:.3f}".format(tree.score(X_train,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print("Accuracy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{:.3f}".format(tree.score(X_test,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y_test)))</a:t>
            </a:r>
            <a:endParaRPr sz="1200">
              <a:latin typeface="Times New Roman"/>
              <a:cs typeface="Times New Roman"/>
            </a:endParaRPr>
          </a:p>
          <a:p>
            <a:pPr marL="12700" marR="3754754">
              <a:lnSpc>
                <a:spcPct val="241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Predicting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Test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y_pred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5" dirty="0">
                <a:latin typeface="Times New Roman"/>
                <a:cs typeface="Times New Roman"/>
              </a:rPr>
              <a:t> tree.predict(X_test)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-5" dirty="0">
                <a:latin typeface="Times New Roman"/>
                <a:cs typeface="Times New Roman"/>
              </a:rPr>
              <a:t> Matrix</a:t>
            </a:r>
            <a:endParaRPr sz="1200">
              <a:latin typeface="Times New Roman"/>
              <a:cs typeface="Times New Roman"/>
            </a:endParaRPr>
          </a:p>
          <a:p>
            <a:pPr marL="12700" marR="152590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classification_report,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confusion_matrix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r>
              <a:rPr sz="1200" dirty="0">
                <a:latin typeface="Times New Roman"/>
                <a:cs typeface="Times New Roman"/>
              </a:rPr>
              <a:t> = </a:t>
            </a:r>
            <a:r>
              <a:rPr sz="1200" spc="-5" dirty="0">
                <a:latin typeface="Times New Roman"/>
                <a:cs typeface="Times New Roman"/>
              </a:rPr>
              <a:t>confusion_matrix(y_test,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y_pred)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True</a:t>
            </a:r>
            <a:r>
              <a:rPr sz="1200" spc="-5" dirty="0">
                <a:latin typeface="Times New Roman"/>
                <a:cs typeface="Times New Roman"/>
              </a:rPr>
              <a:t> Negative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{}'.format(cm[0,0]))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print('FP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{}'.format(cm[0,1]))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print('FN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Negative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{}'.format(cm[1,0]))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dirty="0">
                <a:latin typeface="Times New Roman"/>
                <a:cs typeface="Times New Roman"/>
              </a:rPr>
              <a:t> 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 </a:t>
            </a:r>
            <a:r>
              <a:rPr sz="1200" spc="-5" dirty="0">
                <a:latin typeface="Times New Roman"/>
                <a:cs typeface="Times New Roman"/>
              </a:rPr>
              <a:t>{}'.format(cm[1,1]))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print('Accuracy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{}'.format(np.divide(np.sum([cm[0,0],cm[1,1]]),np.sum(cm))))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3470"/>
              </a:lnSpc>
              <a:spcBef>
                <a:spcPts val="250"/>
              </a:spcBef>
            </a:pPr>
            <a:r>
              <a:rPr sz="1200" spc="-5" dirty="0">
                <a:latin typeface="Times New Roman"/>
                <a:cs typeface="Times New Roman"/>
              </a:rPr>
              <a:t>print('Misclassification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Rate: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{}'.format(np.divide(np.sum([cm[0,1],cm[1,0]]),np.sum(cm))))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round(roc_auc_score(y_test,y_pred),5)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5716195" cy="5128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5" dirty="0">
                <a:latin typeface="Times New Roman"/>
                <a:cs typeface="Times New Roman"/>
              </a:rPr>
              <a:t>Importing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libraries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np</a:t>
            </a:r>
            <a:endParaRPr sz="1200">
              <a:latin typeface="Times New Roman"/>
              <a:cs typeface="Times New Roman"/>
            </a:endParaRPr>
          </a:p>
          <a:p>
            <a:pPr marL="12700" marR="2534920">
              <a:lnSpc>
                <a:spcPct val="2408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matplotlib.pyplot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5" dirty="0">
                <a:latin typeface="Times New Roman"/>
                <a:cs typeface="Times New Roman"/>
              </a:rPr>
              <a:t> pandas as </a:t>
            </a:r>
            <a:r>
              <a:rPr sz="1200" dirty="0">
                <a:latin typeface="Times New Roman"/>
                <a:cs typeface="Times New Roman"/>
              </a:rPr>
              <a:t>pd</a:t>
            </a:r>
            <a:endParaRPr sz="1200">
              <a:latin typeface="Times New Roman"/>
              <a:cs typeface="Times New Roman"/>
            </a:endParaRPr>
          </a:p>
          <a:p>
            <a:pPr marL="12700" marR="147955">
              <a:lnSpc>
                <a:spcPct val="241000"/>
              </a:lnSpc>
              <a:spcBef>
                <a:spcPts val="10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cross_val_score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dirty="0">
                <a:latin typeface="Times New Roman"/>
                <a:cs typeface="Times New Roman"/>
              </a:rPr>
              <a:t> import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GridSearchCV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accuracy_score,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roc_auc_score,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roc_LANE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sklearn.neighbors</a:t>
            </a:r>
            <a:r>
              <a:rPr sz="1200" dirty="0">
                <a:latin typeface="Times New Roman"/>
                <a:cs typeface="Times New Roman"/>
              </a:rPr>
              <a:t> import </a:t>
            </a:r>
            <a:r>
              <a:rPr sz="1200" spc="-5" dirty="0">
                <a:latin typeface="Times New Roman"/>
                <a:cs typeface="Times New Roman"/>
              </a:rPr>
              <a:t>KNeighborsClassifier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Importing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dataset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pd.read_csv('../Dataset/diabetes.csv')</a:t>
            </a:r>
            <a:endParaRPr sz="1200">
              <a:latin typeface="Times New Roman"/>
              <a:cs typeface="Times New Roman"/>
            </a:endParaRPr>
          </a:p>
          <a:p>
            <a:pPr marL="12700" marR="2617470">
              <a:lnSpc>
                <a:spcPct val="240800"/>
              </a:lnSpc>
              <a:spcBef>
                <a:spcPts val="15"/>
              </a:spcBef>
            </a:pPr>
            <a:r>
              <a:rPr sz="1200" spc="-5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5" dirty="0">
                <a:latin typeface="Times New Roman"/>
                <a:cs typeface="Times New Roman"/>
              </a:rPr>
              <a:t> dataset.iloc[:,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:-1].values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dataset.iloc[:, </a:t>
            </a:r>
            <a:r>
              <a:rPr sz="1200" dirty="0">
                <a:latin typeface="Times New Roman"/>
                <a:cs typeface="Times New Roman"/>
              </a:rPr>
              <a:t>8].values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dataset</a:t>
            </a:r>
            <a:r>
              <a:rPr sz="1200" dirty="0">
                <a:latin typeface="Times New Roman"/>
                <a:cs typeface="Times New Roman"/>
              </a:rPr>
              <a:t> into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5" dirty="0">
                <a:latin typeface="Times New Roman"/>
                <a:cs typeface="Times New Roman"/>
              </a:rPr>
              <a:t> set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5113592"/>
            <a:ext cx="5269976" cy="913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4400"/>
              </a:lnSpc>
              <a:tabLst>
                <a:tab pos="731520" algn="l"/>
                <a:tab pos="1386840" algn="l"/>
                <a:tab pos="2072005" algn="l"/>
                <a:tab pos="2651125" algn="l"/>
                <a:tab pos="2952750" algn="l"/>
              </a:tabLst>
            </a:pPr>
            <a:r>
              <a:rPr sz="1200" spc="-5" dirty="0">
                <a:latin typeface="Times New Roman"/>
                <a:cs typeface="Times New Roman"/>
              </a:rPr>
              <a:t>X_train,	X_test,	y_train,	y_test	</a:t>
            </a:r>
            <a:r>
              <a:rPr sz="1200" dirty="0">
                <a:latin typeface="Times New Roman"/>
                <a:cs typeface="Times New Roman"/>
              </a:rPr>
              <a:t>=	</a:t>
            </a:r>
            <a:r>
              <a:rPr sz="1200" spc="-5" dirty="0">
                <a:latin typeface="Times New Roman"/>
                <a:cs typeface="Times New Roman"/>
              </a:rPr>
              <a:t>train_test_split(X,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random_state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42)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5065" y="5453929"/>
            <a:ext cx="220397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1630" algn="l"/>
                <a:tab pos="1083310" algn="l"/>
                <a:tab pos="1384935" algn="l"/>
              </a:tabLst>
            </a:pP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	</a:t>
            </a:r>
            <a:r>
              <a:rPr sz="1200" spc="-5" dirty="0">
                <a:latin typeface="Times New Roman"/>
                <a:cs typeface="Times New Roman"/>
              </a:rPr>
              <a:t>test_si</a:t>
            </a:r>
            <a:r>
              <a:rPr sz="1200" spc="5" dirty="0">
                <a:latin typeface="Times New Roman"/>
                <a:cs typeface="Times New Roman"/>
              </a:rPr>
              <a:t>z</a:t>
            </a:r>
            <a:r>
              <a:rPr sz="1200" dirty="0">
                <a:latin typeface="Times New Roman"/>
                <a:cs typeface="Times New Roman"/>
              </a:rPr>
              <a:t>e	=	0.25,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299" y="5998290"/>
            <a:ext cx="3997064" cy="108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Scaling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sklearn.preprocessing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StandardScaler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StandardScaler()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7719658" cy="6928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X_train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sc.fit_transform(X_train)</a:t>
            </a:r>
            <a:endParaRPr sz="1200">
              <a:latin typeface="Times New Roman"/>
              <a:cs typeface="Times New Roman"/>
            </a:endParaRPr>
          </a:p>
          <a:p>
            <a:pPr marL="12700" marR="412750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X_test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sc.transform(X_test)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Parameter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evaluation</a:t>
            </a:r>
            <a:endParaRPr sz="1200">
              <a:latin typeface="Times New Roman"/>
              <a:cs typeface="Times New Roman"/>
            </a:endParaRPr>
          </a:p>
          <a:p>
            <a:pPr marL="12700" marR="3411854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knnclf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5" dirty="0">
                <a:latin typeface="Times New Roman"/>
                <a:cs typeface="Times New Roman"/>
              </a:rPr>
              <a:t>KNeighborsClassifier()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parameters={'n_neighbors':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range(1,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20)}</a:t>
            </a:r>
            <a:endParaRPr sz="1200">
              <a:latin typeface="Times New Roman"/>
              <a:cs typeface="Times New Roman"/>
            </a:endParaRPr>
          </a:p>
          <a:p>
            <a:pPr marL="12700" marR="1402715">
              <a:lnSpc>
                <a:spcPts val="3470"/>
              </a:lnSpc>
            </a:pPr>
            <a:r>
              <a:rPr sz="1200" spc="-5" dirty="0">
                <a:latin typeface="Times New Roman"/>
                <a:cs typeface="Times New Roman"/>
              </a:rPr>
              <a:t>gridsearch=GridSearchCV(knnclf,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cv=100,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scoring='roc_auc')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gridsearch.fit(X,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y)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print(gridsearch.best_params_)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print(gridsearch.best_score_)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Fitting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K-NN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endParaRPr sz="1200">
              <a:latin typeface="Times New Roman"/>
              <a:cs typeface="Times New Roman"/>
            </a:endParaRPr>
          </a:p>
          <a:p>
            <a:pPr marL="12700" marR="2473325">
              <a:lnSpc>
                <a:spcPct val="240800"/>
              </a:lnSpc>
              <a:spcBef>
                <a:spcPts val="15"/>
              </a:spcBef>
            </a:pPr>
            <a:r>
              <a:rPr sz="1200" spc="-5" dirty="0">
                <a:latin typeface="Times New Roman"/>
                <a:cs typeface="Times New Roman"/>
              </a:rPr>
              <a:t>knnClassifier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KNeighborsClassifier(n_neighbors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18)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knnClassifier.fit(X_train,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</a:pPr>
            <a:r>
              <a:rPr sz="1200" spc="-5" dirty="0">
                <a:latin typeface="Times New Roman"/>
                <a:cs typeface="Times New Roman"/>
              </a:rPr>
              <a:t>print('Accuracy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K-NN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classifier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set: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{:.2f}'.format(knnClassifier.score(X_train,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y_train)))</a:t>
            </a:r>
            <a:endParaRPr sz="1200">
              <a:latin typeface="Times New Roman"/>
              <a:cs typeface="Times New Roman"/>
            </a:endParaRPr>
          </a:p>
          <a:p>
            <a:pPr marL="12700" marR="6985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print('Accuracy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of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K-NN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set: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{:.2f}'.format(knnClassifier.score(X_test,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y_test)))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Predicting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Test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y_pred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knnClassifier.predict(X_test)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Making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 </a:t>
            </a:r>
            <a:r>
              <a:rPr sz="1200" spc="-5" dirty="0">
                <a:latin typeface="Times New Roman"/>
                <a:cs typeface="Times New Roman"/>
              </a:rPr>
              <a:t>Matrix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classification_report,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confusion_matrix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169"/>
            <a:ext cx="7358903" cy="3357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cm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confusion_matrix(y_test,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y_pred)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True</a:t>
            </a:r>
            <a:r>
              <a:rPr sz="1200" spc="-5" dirty="0">
                <a:latin typeface="Times New Roman"/>
                <a:cs typeface="Times New Roman"/>
              </a:rPr>
              <a:t> Negative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{}'.format(cm[0,0]))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print('FP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 </a:t>
            </a:r>
            <a:r>
              <a:rPr sz="1200" spc="-5" dirty="0">
                <a:latin typeface="Times New Roman"/>
                <a:cs typeface="Times New Roman"/>
              </a:rPr>
              <a:t>{}'.format(cm[0,1]))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print('FN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Negative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{}'.format(cm[1,0]))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dirty="0">
                <a:latin typeface="Times New Roman"/>
                <a:cs typeface="Times New Roman"/>
              </a:rPr>
              <a:t> 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 </a:t>
            </a:r>
            <a:r>
              <a:rPr sz="1200" spc="-5" dirty="0">
                <a:latin typeface="Times New Roman"/>
                <a:cs typeface="Times New Roman"/>
              </a:rPr>
              <a:t>{}'.format(cm[1,1]))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print('Accuracy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{}'.format(np.divide(np.sum([cm[0,0],cm[1,1]]),np.sum(cm))))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print('Misclassification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Rate: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{}'.format(np.divide(np.sum([cm[0,1],cm[1,0]]),np.sum(cm))))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round(roc_auc_score(y_test,y_pred),5)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4092580"/>
            <a:ext cx="5716195" cy="333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 </a:t>
            </a:r>
            <a:r>
              <a:rPr sz="1200" spc="-5" dirty="0">
                <a:latin typeface="Times New Roman"/>
                <a:cs typeface="Times New Roman"/>
              </a:rPr>
              <a:t>Importing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libraries</a:t>
            </a:r>
            <a:endParaRPr sz="1200">
              <a:latin typeface="Times New Roman"/>
              <a:cs typeface="Times New Roman"/>
            </a:endParaRPr>
          </a:p>
          <a:p>
            <a:pPr marL="12700" marR="3173730">
              <a:lnSpc>
                <a:spcPct val="2408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pandas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pd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np</a:t>
            </a:r>
            <a:endParaRPr sz="1200">
              <a:latin typeface="Times New Roman"/>
              <a:cs typeface="Times New Roman"/>
            </a:endParaRPr>
          </a:p>
          <a:p>
            <a:pPr marL="12700" marR="14795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cross_val_score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dirty="0">
                <a:latin typeface="Times New Roman"/>
                <a:cs typeface="Times New Roman"/>
              </a:rPr>
              <a:t> import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GridSearchCV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accuracy_score,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roc_auc_score,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roc_LANE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 sklearn.svm</a:t>
            </a:r>
            <a:r>
              <a:rPr sz="1200" dirty="0">
                <a:latin typeface="Times New Roman"/>
                <a:cs typeface="Times New Roman"/>
              </a:rPr>
              <a:t> import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SVC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matplotlib.pyplot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classification_report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169"/>
            <a:ext cx="4380828" cy="1995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Importing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dataset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pd.read_csv('../Dataset/diabetes.csv')</a:t>
            </a:r>
            <a:endParaRPr sz="1200">
              <a:latin typeface="Times New Roman"/>
              <a:cs typeface="Times New Roman"/>
            </a:endParaRPr>
          </a:p>
          <a:p>
            <a:pPr marL="12700" marR="158623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-5" dirty="0">
                <a:latin typeface="Times New Roman"/>
                <a:cs typeface="Times New Roman"/>
              </a:rPr>
              <a:t> dataset.iloc[:,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:-1].values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dataset.iloc[:, </a:t>
            </a:r>
            <a:r>
              <a:rPr sz="1200" dirty="0">
                <a:latin typeface="Times New Roman"/>
                <a:cs typeface="Times New Roman"/>
              </a:rPr>
              <a:t>8].values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dataset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5" dirty="0">
                <a:latin typeface="Times New Roman"/>
                <a:cs typeface="Times New Roman"/>
              </a:rPr>
              <a:t> set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2389522"/>
            <a:ext cx="5269976" cy="910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sklearn.model_selection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train_test_split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5"/>
              </a:spcBef>
              <a:tabLst>
                <a:tab pos="731520" algn="l"/>
                <a:tab pos="1386840" algn="l"/>
                <a:tab pos="2072005" algn="l"/>
                <a:tab pos="2651125" algn="l"/>
                <a:tab pos="2952750" algn="l"/>
              </a:tabLst>
            </a:pPr>
            <a:r>
              <a:rPr sz="1200" spc="-5" dirty="0">
                <a:latin typeface="Times New Roman"/>
                <a:cs typeface="Times New Roman"/>
              </a:rPr>
              <a:t>X_train,	X_test,	y_train,	y_test	</a:t>
            </a:r>
            <a:r>
              <a:rPr sz="1200" dirty="0">
                <a:latin typeface="Times New Roman"/>
                <a:cs typeface="Times New Roman"/>
              </a:rPr>
              <a:t>=	</a:t>
            </a:r>
            <a:r>
              <a:rPr sz="1200" spc="-5" dirty="0">
                <a:latin typeface="Times New Roman"/>
                <a:cs typeface="Times New Roman"/>
              </a:rPr>
              <a:t>train_test_split(X,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random_state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42)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5065" y="2729860"/>
            <a:ext cx="220890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1630" algn="l"/>
                <a:tab pos="1083310" algn="l"/>
                <a:tab pos="1384935" algn="l"/>
              </a:tabLst>
            </a:pPr>
            <a:r>
              <a:rPr sz="1200" spc="-25" dirty="0">
                <a:latin typeface="Times New Roman"/>
                <a:cs typeface="Times New Roman"/>
              </a:rPr>
              <a:t>y</a:t>
            </a:r>
            <a:r>
              <a:rPr sz="1200" dirty="0">
                <a:latin typeface="Times New Roman"/>
                <a:cs typeface="Times New Roman"/>
              </a:rPr>
              <a:t>,	</a:t>
            </a:r>
            <a:r>
              <a:rPr sz="1200" spc="-5" dirty="0">
                <a:latin typeface="Times New Roman"/>
                <a:cs typeface="Times New Roman"/>
              </a:rPr>
              <a:t>test_si</a:t>
            </a:r>
            <a:r>
              <a:rPr sz="1200" spc="5" dirty="0">
                <a:latin typeface="Times New Roman"/>
                <a:cs typeface="Times New Roman"/>
              </a:rPr>
              <a:t>z</a:t>
            </a:r>
            <a:r>
              <a:rPr sz="1200" dirty="0">
                <a:latin typeface="Times New Roman"/>
                <a:cs typeface="Times New Roman"/>
              </a:rPr>
              <a:t>e	=	0.2</a:t>
            </a:r>
            <a:r>
              <a:rPr sz="1200" spc="30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299" y="3273927"/>
            <a:ext cx="5528833" cy="3775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Feature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Scaling</a:t>
            </a:r>
            <a:endParaRPr sz="1200">
              <a:latin typeface="Times New Roman"/>
              <a:cs typeface="Times New Roman"/>
            </a:endParaRPr>
          </a:p>
          <a:p>
            <a:pPr marL="12700" marR="118872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sklearn.preprocessing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StandardScaler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StandardScaler()</a:t>
            </a:r>
            <a:endParaRPr sz="1200">
              <a:latin typeface="Times New Roman"/>
              <a:cs typeface="Times New Roman"/>
            </a:endParaRPr>
          </a:p>
          <a:p>
            <a:pPr marL="12700" marR="208915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X_train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sc.fit_transform(X_train)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X_test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5" dirty="0">
                <a:latin typeface="Times New Roman"/>
                <a:cs typeface="Times New Roman"/>
              </a:rPr>
              <a:t>sc.transform(X_test) </a:t>
            </a:r>
            <a:r>
              <a:rPr sz="1200" dirty="0">
                <a:latin typeface="Times New Roman"/>
                <a:cs typeface="Times New Roman"/>
              </a:rPr>
              <a:t> #svm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" dirty="0">
                <a:latin typeface="Times New Roman"/>
                <a:cs typeface="Times New Roman"/>
              </a:rPr>
              <a:t> grid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search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svm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SVC(random_state 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42)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parameters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{'kernel':('linear',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'rbf'),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'C':(1,0.25,0.5,0.75),</a:t>
            </a:r>
            <a:endParaRPr sz="1200">
              <a:latin typeface="Times New Roman"/>
              <a:cs typeface="Times New Roman"/>
            </a:endParaRPr>
          </a:p>
          <a:p>
            <a:pPr marL="545465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'gamma':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(1,2,3,'auto'),'decision_function_shape':('ovo','ovr'),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'shrinking':(True,False)}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6169"/>
            <a:ext cx="5666889" cy="64574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scores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['precision',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'recall']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scores:</a:t>
            </a:r>
            <a:endParaRPr sz="1200">
              <a:latin typeface="Times New Roman"/>
              <a:cs typeface="Times New Roman"/>
            </a:endParaRPr>
          </a:p>
          <a:p>
            <a:pPr marL="165100" marR="106934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print("#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hyper-parameters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%s"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 </a:t>
            </a:r>
            <a:r>
              <a:rPr sz="1200" spc="-5" dirty="0">
                <a:latin typeface="Times New Roman"/>
                <a:cs typeface="Times New Roman"/>
              </a:rPr>
              <a:t>score)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888365" marR="1270000" indent="-723900">
              <a:lnSpc>
                <a:spcPct val="241000"/>
              </a:lnSpc>
              <a:spcBef>
                <a:spcPts val="10"/>
              </a:spcBef>
            </a:pPr>
            <a:r>
              <a:rPr sz="1200" spc="-5" dirty="0">
                <a:latin typeface="Times New Roman"/>
                <a:cs typeface="Times New Roman"/>
              </a:rPr>
              <a:t>svm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GridSearchCV(SVC(),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parameters,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cv=5,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scoring='%s_macro'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 score)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svm.fit(X_train,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 marL="165100" marR="84963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print("Best</a:t>
            </a:r>
            <a:r>
              <a:rPr sz="1200" dirty="0">
                <a:latin typeface="Times New Roman"/>
                <a:cs typeface="Times New Roman"/>
              </a:rPr>
              <a:t> parameters </a:t>
            </a:r>
            <a:r>
              <a:rPr sz="1200" spc="-5" dirty="0">
                <a:latin typeface="Times New Roman"/>
                <a:cs typeface="Times New Roman"/>
              </a:rPr>
              <a:t>set</a:t>
            </a:r>
            <a:r>
              <a:rPr sz="1200" dirty="0">
                <a:latin typeface="Times New Roman"/>
                <a:cs typeface="Times New Roman"/>
              </a:rPr>
              <a:t> found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development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set:")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65100" marR="2686050">
              <a:lnSpc>
                <a:spcPts val="3479"/>
              </a:lnSpc>
              <a:spcBef>
                <a:spcPts val="445"/>
              </a:spcBef>
            </a:pPr>
            <a:r>
              <a:rPr sz="1200" spc="-5" dirty="0">
                <a:latin typeface="Times New Roman"/>
                <a:cs typeface="Times New Roman"/>
              </a:rPr>
              <a:t>print(svm.best_params_)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print("Grid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scores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development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set:")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65100" marR="149860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means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svm.cv_results_['mean_test_score']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stds</a:t>
            </a:r>
            <a:r>
              <a:rPr sz="1200" dirty="0">
                <a:latin typeface="Times New Roman"/>
                <a:cs typeface="Times New Roman"/>
              </a:rPr>
              <a:t> = </a:t>
            </a:r>
            <a:r>
              <a:rPr sz="1200" spc="-5" dirty="0">
                <a:latin typeface="Times New Roman"/>
                <a:cs typeface="Times New Roman"/>
              </a:rPr>
              <a:t>svm.cv_results_['std_test_score']</a:t>
            </a:r>
            <a:endParaRPr sz="1200">
              <a:latin typeface="Times New Roman"/>
              <a:cs typeface="Times New Roman"/>
            </a:endParaRPr>
          </a:p>
          <a:p>
            <a:pPr marL="317500" marR="5080" indent="-152400">
              <a:lnSpc>
                <a:spcPct val="240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5" dirty="0">
                <a:latin typeface="Times New Roman"/>
                <a:cs typeface="Times New Roman"/>
              </a:rPr>
              <a:t>mean,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std,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params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zip(means,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stds,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svm.cv_results_['params']):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print("%0.3f </a:t>
            </a:r>
            <a:r>
              <a:rPr sz="1200" dirty="0">
                <a:latin typeface="Times New Roman"/>
                <a:cs typeface="Times New Roman"/>
              </a:rPr>
              <a:t>(+/-%0.03f)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%r"</a:t>
            </a:r>
            <a:endParaRPr sz="1200">
              <a:latin typeface="Times New Roman"/>
              <a:cs typeface="Times New Roman"/>
            </a:endParaRPr>
          </a:p>
          <a:p>
            <a:pPr marL="165100" marR="2180590" indent="380365">
              <a:lnSpc>
                <a:spcPct val="240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%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(mean,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 2,</a:t>
            </a:r>
            <a:r>
              <a:rPr sz="1200" spc="-5" dirty="0">
                <a:latin typeface="Times New Roman"/>
                <a:cs typeface="Times New Roman"/>
              </a:rPr>
              <a:t> params))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6166522" cy="782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print("Detailed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classification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report:")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65100" marR="97790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print("The </a:t>
            </a:r>
            <a:r>
              <a:rPr sz="1200" dirty="0">
                <a:latin typeface="Times New Roman"/>
                <a:cs typeface="Times New Roman"/>
              </a:rPr>
              <a:t>model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trained on the </a:t>
            </a:r>
            <a:r>
              <a:rPr sz="1200" spc="-5" dirty="0">
                <a:latin typeface="Times New Roman"/>
                <a:cs typeface="Times New Roman"/>
              </a:rPr>
              <a:t>full </a:t>
            </a:r>
            <a:r>
              <a:rPr sz="1200" dirty="0">
                <a:latin typeface="Times New Roman"/>
                <a:cs typeface="Times New Roman"/>
              </a:rPr>
              <a:t>development </a:t>
            </a:r>
            <a:r>
              <a:rPr sz="1200" spc="-5" dirty="0">
                <a:latin typeface="Times New Roman"/>
                <a:cs typeface="Times New Roman"/>
              </a:rPr>
              <a:t>set.")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print("The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scores are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computed on the </a:t>
            </a:r>
            <a:r>
              <a:rPr sz="1200" spc="-5" dirty="0">
                <a:latin typeface="Times New Roman"/>
                <a:cs typeface="Times New Roman"/>
              </a:rPr>
              <a:t>full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evaluation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set.")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65100" marR="1887220" indent="1270">
              <a:lnSpc>
                <a:spcPct val="2408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y_true,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y_pred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y_test,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svm.predict(X_test)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print(classification_report(y_true,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y_pred))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2700" marR="40640">
              <a:lnSpc>
                <a:spcPct val="240800"/>
              </a:lnSpc>
            </a:pPr>
            <a:r>
              <a:rPr sz="1200" dirty="0">
                <a:latin typeface="Times New Roman"/>
                <a:cs typeface="Times New Roman"/>
              </a:rPr>
              <a:t>svm_model = </a:t>
            </a:r>
            <a:r>
              <a:rPr sz="1200" spc="-5" dirty="0">
                <a:latin typeface="Times New Roman"/>
                <a:cs typeface="Times New Roman"/>
              </a:rPr>
              <a:t>SVC(kernel='rbf',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C=100,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gamma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0.0001,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random_state=42)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svm_model.fit(X_train,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spred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5" dirty="0">
                <a:latin typeface="Times New Roman"/>
                <a:cs typeface="Times New Roman"/>
              </a:rPr>
              <a:t>svm_model.predict(X_test)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('Accuracy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SVM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{0}'.format(accuracy_score(spred,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y_test)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100))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5" dirty="0">
                <a:latin typeface="Times New Roman"/>
                <a:cs typeface="Times New Roman"/>
              </a:rPr>
              <a:t> Making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Confusion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Matrix</a:t>
            </a:r>
            <a:endParaRPr sz="1200">
              <a:latin typeface="Times New Roman"/>
              <a:cs typeface="Times New Roman"/>
            </a:endParaRPr>
          </a:p>
          <a:p>
            <a:pPr marL="12700" marR="606425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sklearn.metrics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classification_report,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confusion_matrix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cm</a:t>
            </a:r>
            <a:r>
              <a:rPr sz="1200" dirty="0">
                <a:latin typeface="Times New Roman"/>
                <a:cs typeface="Times New Roman"/>
              </a:rPr>
              <a:t> = </a:t>
            </a:r>
            <a:r>
              <a:rPr sz="1200" spc="-5" dirty="0">
                <a:latin typeface="Times New Roman"/>
                <a:cs typeface="Times New Roman"/>
              </a:rPr>
              <a:t>confusion_matrix(y_test,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y_pred)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True</a:t>
            </a:r>
            <a:r>
              <a:rPr sz="1200" spc="-5" dirty="0">
                <a:latin typeface="Times New Roman"/>
                <a:cs typeface="Times New Roman"/>
              </a:rPr>
              <a:t> Negative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{}'.format(cm[0,0]))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print('FP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{}'.format(cm[0,1]))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print('FN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False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Negative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{}'.format(cm[1,0]))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print('TP</a:t>
            </a:r>
            <a:r>
              <a:rPr sz="1200" dirty="0">
                <a:latin typeface="Times New Roman"/>
                <a:cs typeface="Times New Roman"/>
              </a:rPr>
              <a:t> 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 </a:t>
            </a:r>
            <a:r>
              <a:rPr sz="1200" spc="-5" dirty="0">
                <a:latin typeface="Times New Roman"/>
                <a:cs typeface="Times New Roman"/>
              </a:rPr>
              <a:t>{}'.format(cm[1,1]))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169"/>
            <a:ext cx="7356438" cy="1096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print('Accuracy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{}'.format(np.divide(np.sum([cm[0,0],cm[1,1]]),np.sum(cm))))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240800"/>
              </a:lnSpc>
            </a:pPr>
            <a:r>
              <a:rPr sz="1200" spc="-5" dirty="0">
                <a:latin typeface="Times New Roman"/>
                <a:cs typeface="Times New Roman"/>
              </a:rPr>
              <a:t>print('Misclassification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Rate: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{}'.format(np.divide(np.sum([cm[0,1],cm[1,0]]),np.sum(cm))))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svm.fit(X_train,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y_train)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round(roc_auc_score(y_test,y_pred),5)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9222" y="685188"/>
            <a:ext cx="1402752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SNAPSHOTS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1435342"/>
            <a:ext cx="7724588" cy="901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General:</a:t>
            </a:r>
            <a:endParaRPr sz="1400">
              <a:latin typeface="Times New Roman"/>
              <a:cs typeface="Times New Roman"/>
            </a:endParaRPr>
          </a:p>
          <a:p>
            <a:pPr marL="12700" marR="5080" indent="190500" algn="just">
              <a:lnSpc>
                <a:spcPct val="143700"/>
              </a:lnSpc>
              <a:spcBef>
                <a:spcPts val="1095"/>
              </a:spcBef>
            </a:pPr>
            <a:r>
              <a:rPr sz="1200" dirty="0">
                <a:latin typeface="Times New Roman"/>
                <a:cs typeface="Times New Roman"/>
              </a:rPr>
              <a:t>This </a:t>
            </a:r>
            <a:r>
              <a:rPr sz="1200" spc="-5" dirty="0">
                <a:latin typeface="Times New Roman"/>
                <a:cs typeface="Times New Roman"/>
              </a:rPr>
              <a:t>project is implements </a:t>
            </a:r>
            <a:r>
              <a:rPr sz="1200" dirty="0">
                <a:latin typeface="Times New Roman"/>
                <a:cs typeface="Times New Roman"/>
              </a:rPr>
              <a:t>like </a:t>
            </a:r>
            <a:r>
              <a:rPr sz="1200" spc="-5" dirty="0">
                <a:latin typeface="Times New Roman"/>
                <a:cs typeface="Times New Roman"/>
              </a:rPr>
              <a:t>application using python and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Server process is maintained </a:t>
            </a:r>
            <a:r>
              <a:rPr sz="1200" dirty="0">
                <a:latin typeface="Times New Roman"/>
                <a:cs typeface="Times New Roman"/>
              </a:rPr>
              <a:t> using the </a:t>
            </a:r>
            <a:r>
              <a:rPr sz="1200" spc="-5" dirty="0">
                <a:latin typeface="Times New Roman"/>
                <a:cs typeface="Times New Roman"/>
              </a:rPr>
              <a:t>SOCKET</a:t>
            </a:r>
            <a:r>
              <a:rPr sz="1200" dirty="0">
                <a:latin typeface="Times New Roman"/>
                <a:cs typeface="Times New Roman"/>
              </a:rPr>
              <a:t> &amp; SERVERSOCKET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Design</a:t>
            </a:r>
            <a:r>
              <a:rPr sz="1200" dirty="0">
                <a:latin typeface="Times New Roman"/>
                <a:cs typeface="Times New Roman"/>
              </a:rPr>
              <a:t> part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played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Cascading </a:t>
            </a:r>
            <a:r>
              <a:rPr sz="1200" spc="-5" dirty="0">
                <a:latin typeface="Times New Roman"/>
                <a:cs typeface="Times New Roman"/>
              </a:rPr>
              <a:t>Style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Sheet.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7300" y="2818182"/>
            <a:ext cx="140275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SNAPSHOTS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994" y="3961862"/>
            <a:ext cx="7691718" cy="247548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994" y="943581"/>
            <a:ext cx="7691718" cy="247549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15000"/>
            <a:ext cx="7724588" cy="7082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8035" marR="2049145" indent="-635" algn="ctr">
              <a:lnSpc>
                <a:spcPct val="143600"/>
              </a:lnSpc>
              <a:spcBef>
                <a:spcPts val="95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 </a:t>
            </a:r>
            <a:r>
              <a:rPr sz="1400" b="1" dirty="0">
                <a:latin typeface="Times New Roman"/>
                <a:cs typeface="Times New Roman"/>
              </a:rPr>
              <a:t>8 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SOFTWARE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TESTING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2413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GENERAL</a:t>
            </a:r>
            <a:endParaRPr sz="1200">
              <a:latin typeface="Times New Roman"/>
              <a:cs typeface="Times New Roman"/>
            </a:endParaRPr>
          </a:p>
          <a:p>
            <a:pPr marL="12700" indent="456565" algn="just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purpose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discover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errors.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trying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discover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conceivable</a:t>
            </a:r>
            <a:r>
              <a:rPr sz="1200" dirty="0">
                <a:latin typeface="Times New Roman"/>
                <a:cs typeface="Times New Roman"/>
              </a:rPr>
              <a:t> fault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weakness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product.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check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functionality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sub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assemblies,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assemblies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and/or</a:t>
            </a:r>
            <a:r>
              <a:rPr sz="1200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finished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 is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exercising software </a:t>
            </a:r>
            <a:r>
              <a:rPr sz="1200" dirty="0">
                <a:latin typeface="Times New Roman"/>
                <a:cs typeface="Times New Roman"/>
              </a:rPr>
              <a:t>with the </a:t>
            </a:r>
            <a:r>
              <a:rPr sz="1200" spc="-5" dirty="0">
                <a:latin typeface="Times New Roman"/>
                <a:cs typeface="Times New Roman"/>
              </a:rPr>
              <a:t>intent </a:t>
            </a:r>
            <a:r>
              <a:rPr sz="1200" spc="-1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ensuring </a:t>
            </a:r>
            <a:r>
              <a:rPr sz="1200" dirty="0">
                <a:latin typeface="Times New Roman"/>
                <a:cs typeface="Times New Roman"/>
              </a:rPr>
              <a:t>that the </a:t>
            </a:r>
            <a:r>
              <a:rPr sz="1200" spc="-5" dirty="0">
                <a:latin typeface="Times New Roman"/>
                <a:cs typeface="Times New Roman"/>
              </a:rPr>
              <a:t>Software system meets its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requirements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user expectations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does</a:t>
            </a:r>
            <a:r>
              <a:rPr sz="1200" dirty="0">
                <a:latin typeface="Times New Roman"/>
                <a:cs typeface="Times New Roman"/>
              </a:rPr>
              <a:t> not </a:t>
            </a:r>
            <a:r>
              <a:rPr sz="1200" spc="-5" dirty="0">
                <a:latin typeface="Times New Roman"/>
                <a:cs typeface="Times New Roman"/>
              </a:rPr>
              <a:t>fail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unacceptable manner. There are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various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types</a:t>
            </a:r>
            <a:r>
              <a:rPr sz="1200" dirty="0">
                <a:latin typeface="Times New Roman"/>
                <a:cs typeface="Times New Roman"/>
              </a:rPr>
              <a:t> of </a:t>
            </a:r>
            <a:r>
              <a:rPr sz="1200" spc="-5" dirty="0">
                <a:latin typeface="Times New Roman"/>
                <a:cs typeface="Times New Roman"/>
              </a:rPr>
              <a:t>test.</a:t>
            </a:r>
            <a:r>
              <a:rPr sz="1200" dirty="0">
                <a:latin typeface="Times New Roman"/>
                <a:cs typeface="Times New Roman"/>
              </a:rPr>
              <a:t> Each test </a:t>
            </a:r>
            <a:r>
              <a:rPr sz="1200" spc="-5" dirty="0">
                <a:latin typeface="Times New Roman"/>
                <a:cs typeface="Times New Roman"/>
              </a:rPr>
              <a:t>type addresses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241300" lvl="1" indent="-228600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DEVELOPING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METHODOLOGIES</a:t>
            </a:r>
            <a:endParaRPr sz="1200">
              <a:latin typeface="Times New Roman"/>
              <a:cs typeface="Times New Roman"/>
            </a:endParaRPr>
          </a:p>
          <a:p>
            <a:pPr marL="12700" indent="380365" algn="just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initiated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by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  a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comprehensive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general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700"/>
              </a:lnSpc>
              <a:spcBef>
                <a:spcPts val="10"/>
              </a:spcBef>
            </a:pPr>
            <a:r>
              <a:rPr sz="1200" spc="-5" dirty="0">
                <a:latin typeface="Times New Roman"/>
                <a:cs typeface="Times New Roman"/>
              </a:rPr>
              <a:t>functionality and </a:t>
            </a:r>
            <a:r>
              <a:rPr sz="1200" dirty="0">
                <a:latin typeface="Times New Roman"/>
                <a:cs typeface="Times New Roman"/>
              </a:rPr>
              <a:t>special </a:t>
            </a:r>
            <a:r>
              <a:rPr sz="1200" spc="-5" dirty="0">
                <a:latin typeface="Times New Roman"/>
                <a:cs typeface="Times New Roman"/>
              </a:rPr>
              <a:t>features </a:t>
            </a:r>
            <a:r>
              <a:rPr sz="1200" dirty="0">
                <a:latin typeface="Times New Roman"/>
                <a:cs typeface="Times New Roman"/>
              </a:rPr>
              <a:t>on a variety of </a:t>
            </a:r>
            <a:r>
              <a:rPr sz="1200" spc="-5" dirty="0">
                <a:latin typeface="Times New Roman"/>
                <a:cs typeface="Times New Roman"/>
              </a:rPr>
              <a:t>platform combinations. </a:t>
            </a:r>
            <a:r>
              <a:rPr sz="1200" dirty="0">
                <a:latin typeface="Times New Roman"/>
                <a:cs typeface="Times New Roman"/>
              </a:rPr>
              <a:t>Strict quality </a:t>
            </a:r>
            <a:r>
              <a:rPr sz="1200" spc="-5" dirty="0">
                <a:latin typeface="Times New Roman"/>
                <a:cs typeface="Times New Roman"/>
              </a:rPr>
              <a:t>control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procedures </a:t>
            </a:r>
            <a:r>
              <a:rPr sz="1200" dirty="0">
                <a:latin typeface="Times New Roman"/>
                <a:cs typeface="Times New Roman"/>
              </a:rPr>
              <a:t>are used. The </a:t>
            </a:r>
            <a:r>
              <a:rPr sz="1200" spc="-5" dirty="0">
                <a:latin typeface="Times New Roman"/>
                <a:cs typeface="Times New Roman"/>
              </a:rPr>
              <a:t>process verifies </a:t>
            </a:r>
            <a:r>
              <a:rPr sz="1200" dirty="0">
                <a:latin typeface="Times New Roman"/>
                <a:cs typeface="Times New Roman"/>
              </a:rPr>
              <a:t>that the </a:t>
            </a:r>
            <a:r>
              <a:rPr sz="1200" spc="-5" dirty="0">
                <a:latin typeface="Times New Roman"/>
                <a:cs typeface="Times New Roman"/>
              </a:rPr>
              <a:t>application meets </a:t>
            </a:r>
            <a:r>
              <a:rPr sz="1200" dirty="0">
                <a:latin typeface="Times New Roman"/>
                <a:cs typeface="Times New Roman"/>
              </a:rPr>
              <a:t>the requirements </a:t>
            </a:r>
            <a:r>
              <a:rPr sz="1200" spc="-5" dirty="0">
                <a:latin typeface="Times New Roman"/>
                <a:cs typeface="Times New Roman"/>
              </a:rPr>
              <a:t>specified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system requirements document and is </a:t>
            </a:r>
            <a:r>
              <a:rPr sz="1200" dirty="0">
                <a:latin typeface="Times New Roman"/>
                <a:cs typeface="Times New Roman"/>
              </a:rPr>
              <a:t>bug </a:t>
            </a:r>
            <a:r>
              <a:rPr sz="1200" spc="-5" dirty="0">
                <a:latin typeface="Times New Roman"/>
                <a:cs typeface="Times New Roman"/>
              </a:rPr>
              <a:t>free. </a:t>
            </a:r>
            <a:r>
              <a:rPr sz="1200" dirty="0">
                <a:latin typeface="Times New Roman"/>
                <a:cs typeface="Times New Roman"/>
              </a:rPr>
              <a:t>The following are the </a:t>
            </a:r>
            <a:r>
              <a:rPr sz="1200" spc="-5" dirty="0">
                <a:latin typeface="Times New Roman"/>
                <a:cs typeface="Times New Roman"/>
              </a:rPr>
              <a:t>considerations </a:t>
            </a:r>
            <a:r>
              <a:rPr sz="1200" dirty="0">
                <a:latin typeface="Times New Roman"/>
                <a:cs typeface="Times New Roman"/>
              </a:rPr>
              <a:t>used 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develop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5" dirty="0">
                <a:latin typeface="Times New Roman"/>
                <a:cs typeface="Times New Roman"/>
              </a:rPr>
              <a:t> framework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 </a:t>
            </a:r>
            <a:r>
              <a:rPr sz="1200" spc="-5" dirty="0">
                <a:latin typeface="Times New Roman"/>
                <a:cs typeface="Times New Roman"/>
              </a:rPr>
              <a:t>developing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methodologies.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203835" lvl="1" indent="-191135" algn="just">
              <a:lnSpc>
                <a:spcPct val="100000"/>
              </a:lnSpc>
              <a:buAutoNum type="arabicPeriod" startAt="3"/>
              <a:tabLst>
                <a:tab pos="203835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Types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Tests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rabicPeriod" startAt="3"/>
            </a:pPr>
            <a:endParaRPr sz="13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AutoNum type="arabicPeriod" startAt="3"/>
            </a:pPr>
            <a:endParaRPr sz="1050">
              <a:latin typeface="Times New Roman"/>
              <a:cs typeface="Times New Roman"/>
            </a:endParaRPr>
          </a:p>
          <a:p>
            <a:pPr marL="355600" lvl="2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Unit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 marL="12700" marR="8255" indent="456565">
              <a:lnSpc>
                <a:spcPts val="206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involves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design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cases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validate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internal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functioning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properly,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program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valid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All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decision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branches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12700" marR="6985">
              <a:lnSpc>
                <a:spcPts val="2060"/>
              </a:lnSpc>
              <a:spcBef>
                <a:spcPts val="20"/>
              </a:spcBef>
            </a:pPr>
            <a:r>
              <a:rPr sz="1200" spc="-5" dirty="0">
                <a:latin typeface="Times New Roman"/>
                <a:cs typeface="Times New Roman"/>
              </a:rPr>
              <a:t>internal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code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validated.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individual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application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.it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after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completion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individual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before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integration.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2060"/>
              </a:lnSpc>
              <a:spcBef>
                <a:spcPts val="20"/>
              </a:spcBef>
            </a:pPr>
            <a:r>
              <a:rPr sz="1200" spc="-5" dirty="0">
                <a:latin typeface="Times New Roman"/>
                <a:cs typeface="Times New Roman"/>
              </a:rPr>
              <a:t>structural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testing,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knowledge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construction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invasive.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perform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basic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component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level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specific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business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application,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and/or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</a:pPr>
            <a:r>
              <a:rPr sz="1200" spc="-5" dirty="0">
                <a:latin typeface="Times New Roman"/>
                <a:cs typeface="Times New Roman"/>
              </a:rPr>
              <a:t>configuration.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ensure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each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path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business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performs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accurately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documented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specifications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contains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defined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expected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831214"/>
            <a:ext cx="7718014" cy="108876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b="1" dirty="0">
                <a:latin typeface="Times New Roman"/>
                <a:cs typeface="Times New Roman"/>
              </a:rPr>
              <a:t>8.3.2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Functional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  <a:p>
            <a:pPr marL="12700" marR="5080" indent="456565">
              <a:lnSpc>
                <a:spcPts val="2060"/>
              </a:lnSpc>
              <a:spcBef>
                <a:spcPts val="165"/>
              </a:spcBef>
            </a:pPr>
            <a:r>
              <a:rPr sz="1200" spc="-5" dirty="0">
                <a:latin typeface="Times New Roman"/>
                <a:cs typeface="Times New Roman"/>
              </a:rPr>
              <a:t>Functional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systematic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demonstrations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functions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available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specified</a:t>
            </a:r>
            <a:r>
              <a:rPr sz="1200" spc="5" dirty="0">
                <a:latin typeface="Times New Roman"/>
                <a:cs typeface="Times New Roman"/>
              </a:rPr>
              <a:t> by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business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technical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requirements,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documentation,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user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manuals.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spc="-5" dirty="0">
                <a:latin typeface="Times New Roman"/>
                <a:cs typeface="Times New Roman"/>
              </a:rPr>
              <a:t>Functional testing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centered</a:t>
            </a:r>
            <a:r>
              <a:rPr sz="1200" dirty="0">
                <a:latin typeface="Times New Roman"/>
                <a:cs typeface="Times New Roman"/>
              </a:rPr>
              <a:t> on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items: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300" y="1639073"/>
            <a:ext cx="1055968" cy="10764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Valid Input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Invalid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Input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Functions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Output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9089" y="1639073"/>
            <a:ext cx="4807324" cy="1063753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identified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classes</a:t>
            </a:r>
            <a:r>
              <a:rPr sz="1200" dirty="0">
                <a:latin typeface="Times New Roman"/>
                <a:cs typeface="Times New Roman"/>
              </a:rPr>
              <a:t> of valid input must be</a:t>
            </a:r>
            <a:r>
              <a:rPr sz="1200" spc="-5" dirty="0">
                <a:latin typeface="Times New Roman"/>
                <a:cs typeface="Times New Roman"/>
              </a:rPr>
              <a:t> accepted.</a:t>
            </a:r>
            <a:endParaRPr sz="12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: </a:t>
            </a:r>
            <a:r>
              <a:rPr sz="1200" spc="-5" dirty="0">
                <a:latin typeface="Times New Roman"/>
                <a:cs typeface="Times New Roman"/>
              </a:rPr>
              <a:t>identified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classes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invalid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 be </a:t>
            </a:r>
            <a:r>
              <a:rPr sz="1200" spc="-5" dirty="0">
                <a:latin typeface="Times New Roman"/>
                <a:cs typeface="Times New Roman"/>
              </a:rPr>
              <a:t>rejected.</a:t>
            </a:r>
            <a:endParaRPr sz="12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: </a:t>
            </a:r>
            <a:r>
              <a:rPr sz="1200" spc="-5" dirty="0">
                <a:latin typeface="Times New Roman"/>
                <a:cs typeface="Times New Roman"/>
              </a:rPr>
              <a:t>identified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functions</a:t>
            </a:r>
            <a:r>
              <a:rPr sz="1200" dirty="0">
                <a:latin typeface="Times New Roman"/>
                <a:cs typeface="Times New Roman"/>
              </a:rPr>
              <a:t> must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exercised.</a:t>
            </a:r>
            <a:endParaRPr sz="1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: </a:t>
            </a:r>
            <a:r>
              <a:rPr sz="1200" spc="-5" dirty="0">
                <a:latin typeface="Times New Roman"/>
                <a:cs typeface="Times New Roman"/>
              </a:rPr>
              <a:t>identified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classes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application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 must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exercised.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300" y="2514352"/>
            <a:ext cx="7728697" cy="479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Systems/Procedures: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interfacing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procedures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invoked.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355600" lvl="2" indent="-342900">
              <a:lnSpc>
                <a:spcPct val="100000"/>
              </a:lnSpc>
              <a:buAutoNum type="arabicPeriod" startAt="3"/>
              <a:tabLst>
                <a:tab pos="3556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System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  <a:p>
            <a:pPr marL="12700" marR="9525" indent="456565">
              <a:lnSpc>
                <a:spcPts val="2060"/>
              </a:lnSpc>
              <a:spcBef>
                <a:spcPts val="165"/>
              </a:spcBef>
            </a:pP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ensures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entire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software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meets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requirements.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tests</a:t>
            </a:r>
            <a:r>
              <a:rPr sz="1200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configuration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predictable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example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12700" marR="12065">
              <a:lnSpc>
                <a:spcPts val="2060"/>
              </a:lnSpc>
              <a:spcBef>
                <a:spcPts val="20"/>
              </a:spcBef>
            </a:pPr>
            <a:r>
              <a:rPr sz="1200" spc="-5" dirty="0">
                <a:latin typeface="Times New Roman"/>
                <a:cs typeface="Times New Roman"/>
              </a:rPr>
              <a:t>configuration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integration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test.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descriptions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flows,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emphasizing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pre-driven</a:t>
            </a:r>
            <a:r>
              <a:rPr sz="1200" dirty="0">
                <a:latin typeface="Times New Roman"/>
                <a:cs typeface="Times New Roman"/>
              </a:rPr>
              <a:t> process links and </a:t>
            </a:r>
            <a:r>
              <a:rPr sz="1200" spc="-5" dirty="0">
                <a:latin typeface="Times New Roman"/>
                <a:cs typeface="Times New Roman"/>
              </a:rPr>
              <a:t>integration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355600" lvl="2" indent="-342900">
              <a:lnSpc>
                <a:spcPct val="100000"/>
              </a:lnSpc>
              <a:spcBef>
                <a:spcPts val="1060"/>
              </a:spcBef>
              <a:buAutoNum type="arabicPeriod" startAt="4"/>
              <a:tabLst>
                <a:tab pos="3556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Performance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  <a:p>
            <a:pPr marL="12700" marR="5080" indent="456565">
              <a:lnSpc>
                <a:spcPts val="206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Performance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ensures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produced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limits,and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taken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compiling,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giving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response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users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request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system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retrieve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5" dirty="0">
                <a:latin typeface="Times New Roman"/>
                <a:cs typeface="Times New Roman"/>
              </a:rPr>
              <a:t> results.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355600" lvl="2" indent="-342900" algn="just">
              <a:lnSpc>
                <a:spcPct val="100000"/>
              </a:lnSpc>
              <a:buAutoNum type="arabicPeriod" startAt="5"/>
              <a:tabLst>
                <a:tab pos="3556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Integration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 marL="12700" indent="456565" algn="just">
              <a:lnSpc>
                <a:spcPct val="100000"/>
              </a:lnSpc>
              <a:spcBef>
                <a:spcPts val="600"/>
              </a:spcBef>
            </a:pPr>
            <a:r>
              <a:rPr sz="1200" spc="-5" dirty="0">
                <a:latin typeface="Times New Roman"/>
                <a:cs typeface="Times New Roman"/>
              </a:rPr>
              <a:t>Software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integration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incremental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integration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two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3500"/>
              </a:lnSpc>
              <a:spcBef>
                <a:spcPts val="10"/>
              </a:spcBef>
            </a:pPr>
            <a:r>
              <a:rPr sz="1200" spc="-5" dirty="0">
                <a:latin typeface="Times New Roman"/>
                <a:cs typeface="Times New Roman"/>
              </a:rPr>
              <a:t>integrated software </a:t>
            </a:r>
            <a:r>
              <a:rPr sz="1200" dirty="0">
                <a:latin typeface="Times New Roman"/>
                <a:cs typeface="Times New Roman"/>
              </a:rPr>
              <a:t>components on a </a:t>
            </a:r>
            <a:r>
              <a:rPr sz="1200" spc="-5" dirty="0">
                <a:latin typeface="Times New Roman"/>
                <a:cs typeface="Times New Roman"/>
              </a:rPr>
              <a:t>single platform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produce failures caused </a:t>
            </a:r>
            <a:r>
              <a:rPr sz="1200" spc="5" dirty="0">
                <a:latin typeface="Times New Roman"/>
                <a:cs typeface="Times New Roman"/>
              </a:rPr>
              <a:t>by </a:t>
            </a:r>
            <a:r>
              <a:rPr sz="1200" spc="-5" dirty="0">
                <a:latin typeface="Times New Roman"/>
                <a:cs typeface="Times New Roman"/>
              </a:rPr>
              <a:t>interface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defects.</a:t>
            </a:r>
            <a:endParaRPr sz="1200">
              <a:latin typeface="Times New Roman"/>
              <a:cs typeface="Times New Roman"/>
            </a:endParaRPr>
          </a:p>
          <a:p>
            <a:pPr marL="12700" marR="6350" indent="456565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 task of the </a:t>
            </a:r>
            <a:r>
              <a:rPr sz="1200" spc="-5" dirty="0">
                <a:latin typeface="Times New Roman"/>
                <a:cs typeface="Times New Roman"/>
              </a:rPr>
              <a:t>integration </a:t>
            </a:r>
            <a:r>
              <a:rPr sz="1200" dirty="0">
                <a:latin typeface="Times New Roman"/>
                <a:cs typeface="Times New Roman"/>
              </a:rPr>
              <a:t>test </a:t>
            </a:r>
            <a:r>
              <a:rPr sz="1200" spc="-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check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components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5" dirty="0">
                <a:latin typeface="Times New Roman"/>
                <a:cs typeface="Times New Roman"/>
              </a:rPr>
              <a:t>software applications, e.g.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components </a:t>
            </a:r>
            <a:r>
              <a:rPr sz="1200" dirty="0">
                <a:latin typeface="Times New Roman"/>
                <a:cs typeface="Times New Roman"/>
              </a:rPr>
              <a:t>in a </a:t>
            </a:r>
            <a:r>
              <a:rPr sz="1200" spc="-5" dirty="0">
                <a:latin typeface="Times New Roman"/>
                <a:cs typeface="Times New Roman"/>
              </a:rPr>
              <a:t>software system </a:t>
            </a:r>
            <a:r>
              <a:rPr sz="1200" dirty="0">
                <a:latin typeface="Times New Roman"/>
                <a:cs typeface="Times New Roman"/>
              </a:rPr>
              <a:t>or – one step up – </a:t>
            </a:r>
            <a:r>
              <a:rPr sz="1200" spc="-5" dirty="0">
                <a:latin typeface="Times New Roman"/>
                <a:cs typeface="Times New Roman"/>
              </a:rPr>
              <a:t>software applications at </a:t>
            </a:r>
            <a:r>
              <a:rPr sz="1200" dirty="0">
                <a:latin typeface="Times New Roman"/>
                <a:cs typeface="Times New Roman"/>
              </a:rPr>
              <a:t>the company </a:t>
            </a:r>
            <a:r>
              <a:rPr sz="1200" spc="-5" dirty="0">
                <a:latin typeface="Times New Roman"/>
                <a:cs typeface="Times New Roman"/>
              </a:rPr>
              <a:t>level </a:t>
            </a:r>
            <a:r>
              <a:rPr sz="1200" dirty="0">
                <a:latin typeface="Times New Roman"/>
                <a:cs typeface="Times New Roman"/>
              </a:rPr>
              <a:t>–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interact </a:t>
            </a:r>
            <a:r>
              <a:rPr sz="1200" dirty="0">
                <a:latin typeface="Times New Roman"/>
                <a:cs typeface="Times New Roman"/>
              </a:rPr>
              <a:t>without </a:t>
            </a:r>
            <a:r>
              <a:rPr sz="1200" spc="-5" dirty="0">
                <a:latin typeface="Times New Roman"/>
                <a:cs typeface="Times New Roman"/>
              </a:rPr>
              <a:t>error.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29446"/>
            <a:ext cx="7726232" cy="37446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lvl="2" indent="-342900">
              <a:lnSpc>
                <a:spcPct val="100000"/>
              </a:lnSpc>
              <a:spcBef>
                <a:spcPts val="700"/>
              </a:spcBef>
              <a:buAutoNum type="arabicPeriod" startAt="6"/>
              <a:tabLst>
                <a:tab pos="355600" algn="l"/>
              </a:tabLst>
            </a:pPr>
            <a:r>
              <a:rPr sz="1200" b="1" spc="-5" dirty="0">
                <a:latin typeface="Times New Roman"/>
                <a:cs typeface="Times New Roman"/>
              </a:rPr>
              <a:t>Acceptance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  <a:p>
            <a:pPr marL="12700" marR="10160" indent="456565" algn="just">
              <a:lnSpc>
                <a:spcPts val="2080"/>
              </a:lnSpc>
              <a:spcBef>
                <a:spcPts val="140"/>
              </a:spcBef>
            </a:pPr>
            <a:r>
              <a:rPr sz="1200" spc="-5" dirty="0">
                <a:latin typeface="Times New Roman"/>
                <a:cs typeface="Times New Roman"/>
              </a:rPr>
              <a:t>User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Acceptance</a:t>
            </a:r>
            <a:r>
              <a:rPr sz="1200" dirty="0">
                <a:latin typeface="Times New Roman"/>
                <a:cs typeface="Times New Roman"/>
              </a:rPr>
              <a:t> Testing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critical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phase</a:t>
            </a:r>
            <a:r>
              <a:rPr sz="1200" dirty="0">
                <a:latin typeface="Times New Roman"/>
                <a:cs typeface="Times New Roman"/>
              </a:rPr>
              <a:t> 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project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requires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significant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participation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end</a:t>
            </a:r>
            <a:r>
              <a:rPr sz="1200" dirty="0">
                <a:latin typeface="Times New Roman"/>
                <a:cs typeface="Times New Roman"/>
              </a:rPr>
              <a:t> user.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 </a:t>
            </a:r>
            <a:r>
              <a:rPr sz="1200" spc="-5" dirty="0">
                <a:latin typeface="Times New Roman"/>
                <a:cs typeface="Times New Roman"/>
              </a:rPr>
              <a:t>ensures</a:t>
            </a:r>
            <a:r>
              <a:rPr sz="1200" dirty="0">
                <a:latin typeface="Times New Roman"/>
                <a:cs typeface="Times New Roman"/>
              </a:rPr>
              <a:t> 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meets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200" b="1" spc="-5" dirty="0">
                <a:latin typeface="Times New Roman"/>
                <a:cs typeface="Times New Roman"/>
              </a:rPr>
              <a:t>Acceptance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testing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Data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Synchronization:</a:t>
            </a:r>
            <a:endParaRPr sz="1200">
              <a:latin typeface="Times New Roman"/>
              <a:cs typeface="Times New Roman"/>
            </a:endParaRPr>
          </a:p>
          <a:p>
            <a:pPr marL="469265" marR="8890" lvl="3" indent="-228600">
              <a:lnSpc>
                <a:spcPts val="2080"/>
              </a:lnSpc>
              <a:spcBef>
                <a:spcPts val="13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Acknowledgements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will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received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by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Sender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after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Packets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received </a:t>
            </a:r>
            <a:r>
              <a:rPr sz="1200" spc="1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Destination Node</a:t>
            </a:r>
            <a:endParaRPr sz="1200">
              <a:latin typeface="Times New Roman"/>
              <a:cs typeface="Times New Roman"/>
            </a:endParaRPr>
          </a:p>
          <a:p>
            <a:pPr marL="469265" lvl="3" indent="-228600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 </a:t>
            </a:r>
            <a:r>
              <a:rPr sz="1200" spc="-5" dirty="0">
                <a:latin typeface="Times New Roman"/>
                <a:cs typeface="Times New Roman"/>
              </a:rPr>
              <a:t>add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operation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done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when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there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Route </a:t>
            </a:r>
            <a:r>
              <a:rPr sz="1200" spc="-5" dirty="0">
                <a:latin typeface="Times New Roman"/>
                <a:cs typeface="Times New Roman"/>
              </a:rPr>
              <a:t>request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need</a:t>
            </a:r>
            <a:endParaRPr sz="1200">
              <a:latin typeface="Times New Roman"/>
              <a:cs typeface="Times New Roman"/>
            </a:endParaRPr>
          </a:p>
          <a:p>
            <a:pPr marL="469265" lvl="3" indent="-228600">
              <a:lnSpc>
                <a:spcPct val="100000"/>
              </a:lnSpc>
              <a:spcBef>
                <a:spcPts val="635"/>
              </a:spcBef>
              <a:buFont typeface="Wingdings"/>
              <a:buChar char="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Status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</a:t>
            </a:r>
            <a:r>
              <a:rPr sz="1200" spc="-5" dirty="0">
                <a:latin typeface="Times New Roman"/>
                <a:cs typeface="Times New Roman"/>
              </a:rPr>
              <a:t>Nodes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-5" dirty="0">
                <a:latin typeface="Times New Roman"/>
                <a:cs typeface="Times New Roman"/>
              </a:rPr>
              <a:t> automatically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the Cache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8.2.7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Build </a:t>
            </a:r>
            <a:r>
              <a:rPr sz="1200" b="1" spc="-10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test plan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600"/>
              </a:lnSpc>
            </a:pP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project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dirty="0">
                <a:latin typeface="Times New Roman"/>
                <a:cs typeface="Times New Roman"/>
              </a:rPr>
              <a:t> 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divided</a:t>
            </a:r>
            <a:r>
              <a:rPr sz="1200" dirty="0">
                <a:latin typeface="Times New Roman"/>
                <a:cs typeface="Times New Roman"/>
              </a:rPr>
              <a:t> into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further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performed</a:t>
            </a:r>
            <a:r>
              <a:rPr sz="1200" dirty="0">
                <a:latin typeface="Times New Roman"/>
                <a:cs typeface="Times New Roman"/>
              </a:rPr>
              <a:t> for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detailed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processing. Then </a:t>
            </a:r>
            <a:r>
              <a:rPr sz="1200" dirty="0">
                <a:latin typeface="Times New Roman"/>
                <a:cs typeface="Times New Roman"/>
              </a:rPr>
              <a:t>a testing strategy for </a:t>
            </a:r>
            <a:r>
              <a:rPr sz="1200" spc="-5" dirty="0">
                <a:latin typeface="Times New Roman"/>
                <a:cs typeface="Times New Roman"/>
              </a:rPr>
              <a:t>each </a:t>
            </a:r>
            <a:r>
              <a:rPr sz="1200" dirty="0">
                <a:latin typeface="Times New Roman"/>
                <a:cs typeface="Times New Roman"/>
              </a:rPr>
              <a:t>of this unit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 carried out. Unit testing </a:t>
            </a:r>
            <a:r>
              <a:rPr sz="1200" spc="-5" dirty="0">
                <a:latin typeface="Times New Roman"/>
                <a:cs typeface="Times New Roman"/>
              </a:rPr>
              <a:t>helps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identity the possible bugs in the </a:t>
            </a:r>
            <a:r>
              <a:rPr sz="1200" spc="-5" dirty="0">
                <a:latin typeface="Times New Roman"/>
                <a:cs typeface="Times New Roman"/>
              </a:rPr>
              <a:t>individual component, so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component </a:t>
            </a:r>
            <a:r>
              <a:rPr sz="1200" dirty="0">
                <a:latin typeface="Times New Roman"/>
                <a:cs typeface="Times New Roman"/>
              </a:rPr>
              <a:t>that </a:t>
            </a:r>
            <a:r>
              <a:rPr sz="1200" spc="-5" dirty="0">
                <a:latin typeface="Times New Roman"/>
                <a:cs typeface="Times New Roman"/>
              </a:rPr>
              <a:t>has bugs can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identified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and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be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rectified</a:t>
            </a:r>
            <a:r>
              <a:rPr sz="1200" spc="-5" dirty="0">
                <a:latin typeface="Times New Roman"/>
                <a:cs typeface="Times New Roman"/>
              </a:rPr>
              <a:t> from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365"/>
            <a:ext cx="7722945" cy="16133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Times New Roman"/>
                <a:cs typeface="Times New Roman"/>
              </a:rPr>
              <a:t>FUTURE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ENHANCEMENT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90"/>
              </a:spcBef>
            </a:pP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future,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real-time system with </a:t>
            </a:r>
            <a:r>
              <a:rPr sz="1200" spc="-5" dirty="0">
                <a:latin typeface="Times New Roman"/>
                <a:cs typeface="Times New Roman"/>
              </a:rPr>
              <a:t>hardware </a:t>
            </a:r>
            <a:r>
              <a:rPr sz="1200" dirty="0">
                <a:latin typeface="Times New Roman"/>
                <a:cs typeface="Times New Roman"/>
              </a:rPr>
              <a:t>implementation </a:t>
            </a:r>
            <a:r>
              <a:rPr sz="1200" spc="-5" dirty="0">
                <a:latin typeface="Times New Roman"/>
                <a:cs typeface="Times New Roman"/>
              </a:rPr>
              <a:t>will </a:t>
            </a:r>
            <a:r>
              <a:rPr sz="1200" dirty="0">
                <a:latin typeface="Times New Roman"/>
                <a:cs typeface="Times New Roman"/>
              </a:rPr>
              <a:t>be developed that </a:t>
            </a:r>
            <a:r>
              <a:rPr sz="1200" spc="-5" dirty="0">
                <a:latin typeface="Times New Roman"/>
                <a:cs typeface="Times New Roman"/>
              </a:rPr>
              <a:t>will capture </a:t>
            </a:r>
            <a:r>
              <a:rPr sz="1200" dirty="0">
                <a:latin typeface="Times New Roman"/>
                <a:cs typeface="Times New Roman"/>
              </a:rPr>
              <a:t> the </a:t>
            </a:r>
            <a:r>
              <a:rPr sz="1200" spc="-5" dirty="0">
                <a:latin typeface="Times New Roman"/>
                <a:cs typeface="Times New Roman"/>
              </a:rPr>
              <a:t>images </a:t>
            </a:r>
            <a:r>
              <a:rPr sz="1200" dirty="0">
                <a:latin typeface="Times New Roman"/>
                <a:cs typeface="Times New Roman"/>
              </a:rPr>
              <a:t>from the real-time </a:t>
            </a:r>
            <a:r>
              <a:rPr sz="1200" spc="-5" dirty="0">
                <a:latin typeface="Times New Roman"/>
                <a:cs typeface="Times New Roman"/>
              </a:rPr>
              <a:t>scenario and </a:t>
            </a:r>
            <a:r>
              <a:rPr sz="1200" dirty="0">
                <a:latin typeface="Times New Roman"/>
                <a:cs typeface="Times New Roman"/>
              </a:rPr>
              <a:t>detect the </a:t>
            </a:r>
            <a:r>
              <a:rPr sz="1200" spc="-5" dirty="0">
                <a:latin typeface="Times New Roman"/>
                <a:cs typeface="Times New Roman"/>
              </a:rPr>
              <a:t>lanes </a:t>
            </a:r>
            <a:r>
              <a:rPr sz="1200" dirty="0">
                <a:latin typeface="Times New Roman"/>
                <a:cs typeface="Times New Roman"/>
              </a:rPr>
              <a:t>based on the </a:t>
            </a:r>
            <a:r>
              <a:rPr sz="1200" spc="-5" dirty="0">
                <a:latin typeface="Times New Roman"/>
                <a:cs typeface="Times New Roman"/>
              </a:rPr>
              <a:t>proposed </a:t>
            </a:r>
            <a:r>
              <a:rPr sz="1200" dirty="0">
                <a:latin typeface="Times New Roman"/>
                <a:cs typeface="Times New Roman"/>
              </a:rPr>
              <a:t>technique </a:t>
            </a:r>
            <a:r>
              <a:rPr sz="1200" spc="-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well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generate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warning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concerned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persons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(drivers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impaired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people.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86366"/>
            <a:ext cx="7724588" cy="392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CHAPTER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Times New Roman"/>
                <a:cs typeface="Times New Roman"/>
              </a:rPr>
              <a:t>CONCLUSION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REFERENCE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10.1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105"/>
              </a:spcBef>
            </a:pPr>
            <a:r>
              <a:rPr sz="1200" dirty="0">
                <a:latin typeface="Times New Roman"/>
                <a:cs typeface="Times New Roman"/>
              </a:rPr>
              <a:t>The paper </a:t>
            </a:r>
            <a:r>
              <a:rPr sz="1200" spc="-5" dirty="0">
                <a:latin typeface="Times New Roman"/>
                <a:cs typeface="Times New Roman"/>
              </a:rPr>
              <a:t>presents </a:t>
            </a:r>
            <a:r>
              <a:rPr sz="1200" dirty="0">
                <a:latin typeface="Times New Roman"/>
                <a:cs typeface="Times New Roman"/>
              </a:rPr>
              <a:t>a lane </a:t>
            </a:r>
            <a:r>
              <a:rPr sz="1200" spc="-5" dirty="0">
                <a:latin typeface="Times New Roman"/>
                <a:cs typeface="Times New Roman"/>
              </a:rPr>
              <a:t>detection system </a:t>
            </a:r>
            <a:r>
              <a:rPr sz="1200" dirty="0">
                <a:latin typeface="Times New Roman"/>
                <a:cs typeface="Times New Roman"/>
              </a:rPr>
              <a:t>using </a:t>
            </a:r>
            <a:r>
              <a:rPr sz="1200" spc="-5" dirty="0">
                <a:latin typeface="Times New Roman"/>
                <a:cs typeface="Times New Roman"/>
              </a:rPr>
              <a:t>computer </a:t>
            </a:r>
            <a:r>
              <a:rPr sz="1200" dirty="0">
                <a:latin typeface="Times New Roman"/>
                <a:cs typeface="Times New Roman"/>
              </a:rPr>
              <a:t>vision-based </a:t>
            </a:r>
            <a:r>
              <a:rPr sz="1200" spc="-5" dirty="0">
                <a:latin typeface="Times New Roman"/>
                <a:cs typeface="Times New Roman"/>
              </a:rPr>
              <a:t>technologies </a:t>
            </a:r>
            <a:r>
              <a:rPr sz="1200" dirty="0">
                <a:latin typeface="Times New Roman"/>
                <a:cs typeface="Times New Roman"/>
              </a:rPr>
              <a:t>that can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lanes </a:t>
            </a:r>
            <a:r>
              <a:rPr sz="1200" dirty="0">
                <a:latin typeface="Times New Roman"/>
                <a:cs typeface="Times New Roman"/>
              </a:rPr>
              <a:t>on the </a:t>
            </a:r>
            <a:r>
              <a:rPr sz="1200" spc="-5" dirty="0">
                <a:latin typeface="Times New Roman"/>
                <a:cs typeface="Times New Roman"/>
              </a:rPr>
              <a:t>road. Different techniques </a:t>
            </a:r>
            <a:r>
              <a:rPr sz="1200" dirty="0">
                <a:latin typeface="Times New Roman"/>
                <a:cs typeface="Times New Roman"/>
              </a:rPr>
              <a:t>like </a:t>
            </a:r>
            <a:r>
              <a:rPr sz="1200" spc="-5" dirty="0">
                <a:latin typeface="Times New Roman"/>
                <a:cs typeface="Times New Roman"/>
              </a:rPr>
              <a:t>preprocessing, </a:t>
            </a:r>
            <a:r>
              <a:rPr sz="1200" dirty="0">
                <a:latin typeface="Times New Roman"/>
                <a:cs typeface="Times New Roman"/>
              </a:rPr>
              <a:t>thresholding,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perspective transform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 </a:t>
            </a:r>
            <a:r>
              <a:rPr sz="1200" spc="-5" dirty="0">
                <a:latin typeface="Times New Roman"/>
                <a:cs typeface="Times New Roman"/>
              </a:rPr>
              <a:t>fused together </a:t>
            </a:r>
            <a:r>
              <a:rPr sz="1200" dirty="0">
                <a:latin typeface="Times New Roman"/>
                <a:cs typeface="Times New Roman"/>
              </a:rPr>
              <a:t>in the </a:t>
            </a:r>
            <a:r>
              <a:rPr sz="1200" spc="-5" dirty="0">
                <a:latin typeface="Times New Roman"/>
                <a:cs typeface="Times New Roman"/>
              </a:rPr>
              <a:t>proposed </a:t>
            </a:r>
            <a:r>
              <a:rPr sz="1200" dirty="0">
                <a:latin typeface="Times New Roman"/>
                <a:cs typeface="Times New Roman"/>
              </a:rPr>
              <a:t>lane </a:t>
            </a:r>
            <a:r>
              <a:rPr sz="1200" spc="-5" dirty="0">
                <a:latin typeface="Times New Roman"/>
                <a:cs typeface="Times New Roman"/>
              </a:rPr>
              <a:t>detection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system. Gradient and 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HLS </a:t>
            </a:r>
            <a:r>
              <a:rPr sz="1200" dirty="0">
                <a:latin typeface="Times New Roman"/>
                <a:cs typeface="Times New Roman"/>
              </a:rPr>
              <a:t>thresholding </a:t>
            </a:r>
            <a:r>
              <a:rPr sz="1200" spc="-5" dirty="0">
                <a:latin typeface="Times New Roman"/>
                <a:cs typeface="Times New Roman"/>
              </a:rPr>
              <a:t>detect </a:t>
            </a:r>
            <a:r>
              <a:rPr sz="1200" dirty="0">
                <a:latin typeface="Times New Roman"/>
                <a:cs typeface="Times New Roman"/>
              </a:rPr>
              <a:t>the lane line in binary images </a:t>
            </a:r>
            <a:r>
              <a:rPr sz="1200" spc="-5" dirty="0">
                <a:latin typeface="Times New Roman"/>
                <a:cs typeface="Times New Roman"/>
              </a:rPr>
              <a:t>efficiently. </a:t>
            </a:r>
            <a:r>
              <a:rPr sz="1200" dirty="0">
                <a:latin typeface="Times New Roman"/>
                <a:cs typeface="Times New Roman"/>
              </a:rPr>
              <a:t>Sliding </a:t>
            </a:r>
            <a:r>
              <a:rPr sz="1200" spc="-5" dirty="0">
                <a:latin typeface="Times New Roman"/>
                <a:cs typeface="Times New Roman"/>
              </a:rPr>
              <a:t>window search is </a:t>
            </a:r>
            <a:r>
              <a:rPr sz="1200" dirty="0">
                <a:latin typeface="Times New Roman"/>
                <a:cs typeface="Times New Roman"/>
              </a:rPr>
              <a:t>used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recognize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right</a:t>
            </a:r>
            <a:r>
              <a:rPr sz="1200" dirty="0">
                <a:latin typeface="Times New Roman"/>
                <a:cs typeface="Times New Roman"/>
              </a:rPr>
              <a:t> lane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road.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cropping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worked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only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particular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region</a:t>
            </a:r>
            <a:r>
              <a:rPr sz="1200" dirty="0">
                <a:latin typeface="Times New Roman"/>
                <a:cs typeface="Times New Roman"/>
              </a:rPr>
              <a:t> that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lines.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From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experimental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results,</a:t>
            </a:r>
            <a:r>
              <a:rPr sz="1200" dirty="0">
                <a:latin typeface="Times New Roman"/>
                <a:cs typeface="Times New Roman"/>
              </a:rPr>
              <a:t> it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concluded </a:t>
            </a:r>
            <a:r>
              <a:rPr sz="1200" dirty="0">
                <a:latin typeface="Times New Roman"/>
                <a:cs typeface="Times New Roman"/>
              </a:rPr>
              <a:t>that the </a:t>
            </a:r>
            <a:r>
              <a:rPr sz="1200" spc="-5" dirty="0">
                <a:latin typeface="Times New Roman"/>
                <a:cs typeface="Times New Roman"/>
              </a:rPr>
              <a:t>system detects </a:t>
            </a:r>
            <a:r>
              <a:rPr sz="1200" dirty="0">
                <a:latin typeface="Times New Roman"/>
                <a:cs typeface="Times New Roman"/>
              </a:rPr>
              <a:t>the lanes efficiently with </a:t>
            </a:r>
            <a:r>
              <a:rPr sz="1200" spc="5" dirty="0">
                <a:latin typeface="Times New Roman"/>
                <a:cs typeface="Times New Roman"/>
              </a:rPr>
              <a:t>any </a:t>
            </a:r>
            <a:r>
              <a:rPr sz="1200" spc="-5" dirty="0">
                <a:latin typeface="Times New Roman"/>
                <a:cs typeface="Times New Roman"/>
              </a:rPr>
              <a:t>conditions </a:t>
            </a:r>
            <a:r>
              <a:rPr sz="1200" dirty="0">
                <a:latin typeface="Times New Roman"/>
                <a:cs typeface="Times New Roman"/>
              </a:rPr>
              <a:t>of the environment.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system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can</a:t>
            </a:r>
            <a:r>
              <a:rPr sz="1200" dirty="0">
                <a:latin typeface="Times New Roman"/>
                <a:cs typeface="Times New Roman"/>
              </a:rPr>
              <a:t> 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any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road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having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well-marked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lines</a:t>
            </a:r>
            <a:r>
              <a:rPr sz="1200" dirty="0">
                <a:latin typeface="Times New Roman"/>
                <a:cs typeface="Times New Roman"/>
              </a:rPr>
              <a:t> 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implemented</a:t>
            </a:r>
            <a:r>
              <a:rPr sz="1200" dirty="0">
                <a:latin typeface="Times New Roman"/>
                <a:cs typeface="Times New Roman"/>
              </a:rPr>
              <a:t> 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28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embedded system </a:t>
            </a:r>
            <a:r>
              <a:rPr sz="1200" dirty="0">
                <a:latin typeface="Times New Roman"/>
                <a:cs typeface="Times New Roman"/>
              </a:rPr>
              <a:t>for the </a:t>
            </a:r>
            <a:r>
              <a:rPr sz="1200" spc="-5" dirty="0">
                <a:latin typeface="Times New Roman"/>
                <a:cs typeface="Times New Roman"/>
              </a:rPr>
              <a:t>assistance </a:t>
            </a:r>
            <a:r>
              <a:rPr sz="1200" dirty="0">
                <a:latin typeface="Times New Roman"/>
                <a:cs typeface="Times New Roman"/>
              </a:rPr>
              <a:t>of Advanced </a:t>
            </a:r>
            <a:r>
              <a:rPr sz="1200" spc="-5" dirty="0">
                <a:latin typeface="Times New Roman"/>
                <a:cs typeface="Times New Roman"/>
              </a:rPr>
              <a:t>Driver Assistance Systems and </a:t>
            </a:r>
            <a:r>
              <a:rPr sz="1200" dirty="0">
                <a:latin typeface="Times New Roman"/>
                <a:cs typeface="Times New Roman"/>
              </a:rPr>
              <a:t>the visually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impaired people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5" dirty="0">
                <a:latin typeface="Times New Roman"/>
                <a:cs typeface="Times New Roman"/>
              </a:rPr>
              <a:t>navigation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keep </a:t>
            </a:r>
            <a:r>
              <a:rPr sz="1200" dirty="0">
                <a:latin typeface="Times New Roman"/>
                <a:cs typeface="Times New Roman"/>
              </a:rPr>
              <a:t>them in proper </a:t>
            </a:r>
            <a:r>
              <a:rPr sz="1200" spc="-5" dirty="0">
                <a:latin typeface="Times New Roman"/>
                <a:cs typeface="Times New Roman"/>
              </a:rPr>
              <a:t>track. </a:t>
            </a:r>
            <a:r>
              <a:rPr sz="1200" spc="-1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future, </a:t>
            </a:r>
            <a:r>
              <a:rPr sz="1200" dirty="0">
                <a:latin typeface="Times New Roman"/>
                <a:cs typeface="Times New Roman"/>
              </a:rPr>
              <a:t>a real-time </a:t>
            </a:r>
            <a:r>
              <a:rPr sz="1200" spc="-5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hardware </a:t>
            </a:r>
            <a:r>
              <a:rPr sz="1200" dirty="0">
                <a:latin typeface="Times New Roman"/>
                <a:cs typeface="Times New Roman"/>
              </a:rPr>
              <a:t>implementation will be developed that </a:t>
            </a:r>
            <a:r>
              <a:rPr sz="1200" spc="-5" dirty="0">
                <a:latin typeface="Times New Roman"/>
                <a:cs typeface="Times New Roman"/>
              </a:rPr>
              <a:t>will capture </a:t>
            </a:r>
            <a:r>
              <a:rPr sz="1200" dirty="0">
                <a:latin typeface="Times New Roman"/>
                <a:cs typeface="Times New Roman"/>
              </a:rPr>
              <a:t>the images </a:t>
            </a:r>
            <a:r>
              <a:rPr sz="1200" spc="-5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the real-time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scenario and detect </a:t>
            </a:r>
            <a:r>
              <a:rPr sz="1200" dirty="0">
                <a:latin typeface="Times New Roman"/>
                <a:cs typeface="Times New Roman"/>
              </a:rPr>
              <a:t>the lanes based on the proposed </a:t>
            </a:r>
            <a:r>
              <a:rPr sz="1200" spc="-5" dirty="0">
                <a:latin typeface="Times New Roman"/>
                <a:cs typeface="Times New Roman"/>
              </a:rPr>
              <a:t>technique as well as generate </a:t>
            </a:r>
            <a:r>
              <a:rPr sz="1200" dirty="0">
                <a:latin typeface="Times New Roman"/>
                <a:cs typeface="Times New Roman"/>
              </a:rPr>
              <a:t>a warning for 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5" dirty="0">
                <a:latin typeface="Times New Roman"/>
                <a:cs typeface="Times New Roman"/>
              </a:rPr>
              <a:t>concerned</a:t>
            </a:r>
            <a:r>
              <a:rPr sz="1200" dirty="0">
                <a:latin typeface="Times New Roman"/>
                <a:cs typeface="Times New Roman"/>
              </a:rPr>
              <a:t> persons </a:t>
            </a:r>
            <a:r>
              <a:rPr sz="1200" spc="-5" dirty="0">
                <a:latin typeface="Times New Roman"/>
                <a:cs typeface="Times New Roman"/>
              </a:rPr>
              <a:t>(drivers</a:t>
            </a:r>
            <a:r>
              <a:rPr sz="1200" dirty="0">
                <a:latin typeface="Times New Roman"/>
                <a:cs typeface="Times New Roman"/>
              </a:rPr>
              <a:t> 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impaired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people).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85188"/>
            <a:ext cx="182349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R</a:t>
            </a:r>
            <a:r>
              <a:rPr sz="1600" b="1" spc="-5" dirty="0">
                <a:latin typeface="Times New Roman"/>
                <a:cs typeface="Times New Roman"/>
              </a:rPr>
              <a:t>EFERENCES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299" y="1033062"/>
            <a:ext cx="7729519" cy="6401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19075" indent="-207010" algn="just">
              <a:lnSpc>
                <a:spcPct val="100000"/>
              </a:lnSpc>
              <a:spcBef>
                <a:spcPts val="675"/>
              </a:spcBef>
              <a:buAutoNum type="arabicPlain"/>
              <a:tabLst>
                <a:tab pos="219710" algn="l"/>
              </a:tabLst>
            </a:pPr>
            <a:r>
              <a:rPr sz="1100" spc="-5" dirty="0">
                <a:latin typeface="Times New Roman"/>
                <a:cs typeface="Times New Roman"/>
              </a:rPr>
              <a:t>“Reported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road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casualties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Great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Britain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2009,”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Stationery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Office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Dept.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Transp.,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London,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U.K.,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2010.</a:t>
            </a:r>
            <a:endParaRPr sz="11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600"/>
              </a:lnSpc>
              <a:buAutoNum type="arabicPlain"/>
              <a:tabLst>
                <a:tab pos="227965" algn="l"/>
              </a:tabLst>
            </a:pPr>
            <a:r>
              <a:rPr sz="1100" spc="5" dirty="0">
                <a:latin typeface="Times New Roman"/>
                <a:cs typeface="Times New Roman"/>
              </a:rPr>
              <a:t>J.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M.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Clanton,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D.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M.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Bevly,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A.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Hodel,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"A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LowCost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Solution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for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Integrated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Multisensor </a:t>
            </a:r>
            <a:r>
              <a:rPr sz="1100" spc="-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Lane </a:t>
            </a:r>
            <a:r>
              <a:rPr sz="1100" spc="-5" dirty="0">
                <a:latin typeface="Times New Roman"/>
                <a:cs typeface="Times New Roman"/>
              </a:rPr>
              <a:t>Departure Warning System,"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Transactions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Intelligent Transportation Systems, vol. </a:t>
            </a:r>
            <a:r>
              <a:rPr sz="1100" dirty="0">
                <a:latin typeface="Times New Roman"/>
                <a:cs typeface="Times New Roman"/>
              </a:rPr>
              <a:t>10,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1, pp. </a:t>
            </a:r>
            <a:r>
              <a:rPr sz="1100" spc="-5" dirty="0">
                <a:latin typeface="Times New Roman"/>
                <a:cs typeface="Times New Roman"/>
              </a:rPr>
              <a:t>47-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59, Mar. </a:t>
            </a:r>
            <a:r>
              <a:rPr sz="1100" spc="-5" dirty="0">
                <a:latin typeface="Times New Roman"/>
                <a:cs typeface="Times New Roman"/>
              </a:rPr>
              <a:t>2009.</a:t>
            </a: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010"/>
              </a:spcBef>
              <a:buAutoNum type="arabicPlain"/>
              <a:tabLst>
                <a:tab pos="242570" algn="l"/>
              </a:tabLst>
            </a:pPr>
            <a:r>
              <a:rPr sz="1100" spc="-5" dirty="0">
                <a:latin typeface="Times New Roman"/>
                <a:cs typeface="Times New Roman"/>
              </a:rPr>
              <a:t>Q. </a:t>
            </a:r>
            <a:r>
              <a:rPr sz="1100" dirty="0">
                <a:latin typeface="Times New Roman"/>
                <a:cs typeface="Times New Roman"/>
              </a:rPr>
              <a:t>Li, L. </a:t>
            </a:r>
            <a:r>
              <a:rPr sz="1100" spc="-5" dirty="0">
                <a:latin typeface="Times New Roman"/>
                <a:cs typeface="Times New Roman"/>
              </a:rPr>
              <a:t>Chen, </a:t>
            </a:r>
            <a:r>
              <a:rPr sz="1100" dirty="0">
                <a:latin typeface="Times New Roman"/>
                <a:cs typeface="Times New Roman"/>
              </a:rPr>
              <a:t>M. </a:t>
            </a:r>
            <a:r>
              <a:rPr sz="1100" spc="-5" dirty="0">
                <a:latin typeface="Times New Roman"/>
                <a:cs typeface="Times New Roman"/>
              </a:rPr>
              <a:t>Li, </a:t>
            </a:r>
            <a:r>
              <a:rPr sz="1100" dirty="0">
                <a:latin typeface="Times New Roman"/>
                <a:cs typeface="Times New Roman"/>
              </a:rPr>
              <a:t>S. </a:t>
            </a:r>
            <a:r>
              <a:rPr sz="1100" spc="-5" dirty="0">
                <a:latin typeface="Times New Roman"/>
                <a:cs typeface="Times New Roman"/>
              </a:rPr>
              <a:t>Shaw and A. Nüchter, </a:t>
            </a:r>
            <a:r>
              <a:rPr sz="1100" dirty="0">
                <a:latin typeface="Times New Roman"/>
                <a:cs typeface="Times New Roman"/>
              </a:rPr>
              <a:t>"A Sensor-Fusion </a:t>
            </a:r>
            <a:r>
              <a:rPr sz="1100" spc="-5" dirty="0">
                <a:latin typeface="Times New Roman"/>
                <a:cs typeface="Times New Roman"/>
              </a:rPr>
              <a:t>Drivable-Region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Lane-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Detection</a:t>
            </a:r>
            <a:r>
              <a:rPr sz="1100" dirty="0">
                <a:latin typeface="Times New Roman"/>
                <a:cs typeface="Times New Roman"/>
              </a:rPr>
              <a:t> System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Autonomous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Vehicle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Navigation</a:t>
            </a:r>
            <a:r>
              <a:rPr sz="1100" dirty="0">
                <a:latin typeface="Times New Roman"/>
                <a:cs typeface="Times New Roman"/>
              </a:rPr>
              <a:t> 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Challenging</a:t>
            </a:r>
            <a:r>
              <a:rPr sz="1100" dirty="0">
                <a:latin typeface="Times New Roman"/>
                <a:cs typeface="Times New Roman"/>
              </a:rPr>
              <a:t> Road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Scenarios,"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15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Vehicular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Technology,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vol.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63, no. </a:t>
            </a:r>
            <a:r>
              <a:rPr sz="1100" spc="-10" dirty="0">
                <a:latin typeface="Times New Roman"/>
                <a:cs typeface="Times New Roman"/>
              </a:rPr>
              <a:t>2,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540-555, Feb. 2014.</a:t>
            </a:r>
            <a:endParaRPr sz="11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3600"/>
              </a:lnSpc>
              <a:spcBef>
                <a:spcPts val="1010"/>
              </a:spcBef>
              <a:buAutoNum type="arabicPlain"/>
              <a:tabLst>
                <a:tab pos="230504" algn="l"/>
              </a:tabLst>
            </a:pPr>
            <a:r>
              <a:rPr sz="1100" dirty="0">
                <a:latin typeface="Times New Roman"/>
                <a:cs typeface="Times New Roman"/>
              </a:rPr>
              <a:t>M. </a:t>
            </a:r>
            <a:r>
              <a:rPr sz="1100" spc="-5" dirty="0">
                <a:latin typeface="Times New Roman"/>
                <a:cs typeface="Times New Roman"/>
              </a:rPr>
              <a:t>Aly, "Real-time detection </a:t>
            </a:r>
            <a:r>
              <a:rPr sz="1100" dirty="0">
                <a:latin typeface="Times New Roman"/>
                <a:cs typeface="Times New Roman"/>
              </a:rPr>
              <a:t>of </a:t>
            </a:r>
            <a:r>
              <a:rPr sz="1100" spc="-5" dirty="0">
                <a:latin typeface="Times New Roman"/>
                <a:cs typeface="Times New Roman"/>
              </a:rPr>
              <a:t>lane markers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urban streets,"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Proc. IEEE Intelligent Vehicles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Symposium, </a:t>
            </a:r>
            <a:r>
              <a:rPr sz="1100" dirty="0">
                <a:latin typeface="Times New Roman"/>
                <a:cs typeface="Times New Roman"/>
              </a:rPr>
              <a:t>Eindhoven, pp. </a:t>
            </a:r>
            <a:r>
              <a:rPr sz="1100" spc="-5" dirty="0">
                <a:latin typeface="Times New Roman"/>
                <a:cs typeface="Times New Roman"/>
              </a:rPr>
              <a:t>7-12,</a:t>
            </a:r>
            <a:r>
              <a:rPr sz="1100" dirty="0">
                <a:latin typeface="Times New Roman"/>
                <a:cs typeface="Times New Roman"/>
              </a:rPr>
              <a:t> 2008.</a:t>
            </a:r>
            <a:endParaRPr sz="11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600"/>
              </a:lnSpc>
              <a:spcBef>
                <a:spcPts val="994"/>
              </a:spcBef>
              <a:buAutoNum type="arabicPlain"/>
              <a:tabLst>
                <a:tab pos="257810" algn="l"/>
              </a:tabLst>
            </a:pPr>
            <a:r>
              <a:rPr sz="1100" spc="-5" dirty="0">
                <a:latin typeface="Times New Roman"/>
                <a:cs typeface="Times New Roman"/>
              </a:rPr>
              <a:t>H.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Yoo,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U.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Yang,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and</a:t>
            </a:r>
            <a:r>
              <a:rPr sz="1100" dirty="0">
                <a:latin typeface="Times New Roman"/>
                <a:cs typeface="Times New Roman"/>
              </a:rPr>
              <a:t> K.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Sohn,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“Gradient-enhancing</a:t>
            </a:r>
            <a:r>
              <a:rPr sz="1100" dirty="0">
                <a:latin typeface="Times New Roman"/>
                <a:cs typeface="Times New Roman"/>
              </a:rPr>
              <a:t> conversion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for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illumination-robust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lane </a:t>
            </a:r>
            <a:r>
              <a:rPr sz="1100" dirty="0">
                <a:latin typeface="Times New Roman"/>
                <a:cs typeface="Times New Roman"/>
              </a:rPr>
              <a:t> detection,” in </a:t>
            </a:r>
            <a:r>
              <a:rPr sz="1100" spc="-10" dirty="0">
                <a:latin typeface="Times New Roman"/>
                <a:cs typeface="Times New Roman"/>
              </a:rPr>
              <a:t>IEEE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Transactions on </a:t>
            </a:r>
            <a:r>
              <a:rPr sz="1100" spc="-5" dirty="0">
                <a:latin typeface="Times New Roman"/>
                <a:cs typeface="Times New Roman"/>
              </a:rPr>
              <a:t>Intelligent Transportation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Systems,</a:t>
            </a:r>
            <a:r>
              <a:rPr sz="1100" spc="-5" dirty="0">
                <a:latin typeface="Times New Roman"/>
                <a:cs typeface="Times New Roman"/>
              </a:rPr>
              <a:t> vol.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14, no. 3, pp. 1083–1094,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Sep.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2013.</a:t>
            </a:r>
            <a:endParaRPr sz="1100">
              <a:latin typeface="Times New Roman"/>
              <a:cs typeface="Times New Roman"/>
            </a:endParaRPr>
          </a:p>
          <a:p>
            <a:pPr marL="12700" marR="7620" indent="34925" algn="just">
              <a:lnSpc>
                <a:spcPct val="143600"/>
              </a:lnSpc>
              <a:spcBef>
                <a:spcPts val="1010"/>
              </a:spcBef>
              <a:buAutoNum type="arabicPlain"/>
              <a:tabLst>
                <a:tab pos="247650" algn="l"/>
              </a:tabLst>
            </a:pPr>
            <a:r>
              <a:rPr sz="1100" spc="5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Deng, J. </a:t>
            </a:r>
            <a:r>
              <a:rPr sz="1100" spc="-10" dirty="0">
                <a:latin typeface="Times New Roman"/>
                <a:cs typeface="Times New Roman"/>
              </a:rPr>
              <a:t>Kim, </a:t>
            </a:r>
            <a:r>
              <a:rPr sz="1100" spc="-5" dirty="0">
                <a:latin typeface="Times New Roman"/>
                <a:cs typeface="Times New Roman"/>
              </a:rPr>
              <a:t>H. </a:t>
            </a:r>
            <a:r>
              <a:rPr sz="1100" dirty="0">
                <a:latin typeface="Times New Roman"/>
                <a:cs typeface="Times New Roman"/>
              </a:rPr>
              <a:t>Sin, and </a:t>
            </a:r>
            <a:r>
              <a:rPr sz="1100" spc="-5" dirty="0">
                <a:latin typeface="Times New Roman"/>
                <a:cs typeface="Times New Roman"/>
              </a:rPr>
              <a:t>Y. Han, </a:t>
            </a:r>
            <a:r>
              <a:rPr sz="1100" dirty="0">
                <a:latin typeface="Times New Roman"/>
                <a:cs typeface="Times New Roman"/>
              </a:rPr>
              <a:t>“Fast </a:t>
            </a:r>
            <a:r>
              <a:rPr sz="1100" spc="-5" dirty="0">
                <a:latin typeface="Times New Roman"/>
                <a:cs typeface="Times New Roman"/>
              </a:rPr>
              <a:t>lane detection </a:t>
            </a:r>
            <a:r>
              <a:rPr sz="1100" dirty="0">
                <a:latin typeface="Times New Roman"/>
                <a:cs typeface="Times New Roman"/>
              </a:rPr>
              <a:t>based on the </a:t>
            </a:r>
            <a:r>
              <a:rPr sz="1100" spc="-5" dirty="0">
                <a:latin typeface="Times New Roman"/>
                <a:cs typeface="Times New Roman"/>
              </a:rPr>
              <a:t>B-Spline fitting,” International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Journal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of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Research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Engineering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Technology,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2, </a:t>
            </a:r>
            <a:r>
              <a:rPr sz="1100" spc="-5" dirty="0">
                <a:latin typeface="Times New Roman"/>
                <a:cs typeface="Times New Roman"/>
              </a:rPr>
              <a:t>no.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4, pp.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134–137, </a:t>
            </a:r>
            <a:r>
              <a:rPr sz="1100" spc="-5" dirty="0">
                <a:latin typeface="Times New Roman"/>
                <a:cs typeface="Times New Roman"/>
              </a:rPr>
              <a:t>2013.</a:t>
            </a:r>
            <a:endParaRPr sz="11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600"/>
              </a:lnSpc>
              <a:spcBef>
                <a:spcPts val="1000"/>
              </a:spcBef>
              <a:buAutoNum type="arabicPlain"/>
              <a:tabLst>
                <a:tab pos="215265" algn="l"/>
              </a:tabLst>
            </a:pPr>
            <a:r>
              <a:rPr sz="1100" spc="-5" dirty="0">
                <a:latin typeface="Times New Roman"/>
                <a:cs typeface="Times New Roman"/>
              </a:rPr>
              <a:t>Tsung-Ying </a:t>
            </a:r>
            <a:r>
              <a:rPr sz="1100" dirty="0">
                <a:latin typeface="Times New Roman"/>
                <a:cs typeface="Times New Roman"/>
              </a:rPr>
              <a:t>Sun, </a:t>
            </a:r>
            <a:r>
              <a:rPr sz="1100" spc="-5" dirty="0">
                <a:latin typeface="Times New Roman"/>
                <a:cs typeface="Times New Roman"/>
              </a:rPr>
              <a:t>Shang-Jeng </a:t>
            </a:r>
            <a:r>
              <a:rPr sz="1100" dirty="0">
                <a:latin typeface="Times New Roman"/>
                <a:cs typeface="Times New Roman"/>
              </a:rPr>
              <a:t>Tsai, </a:t>
            </a:r>
            <a:r>
              <a:rPr sz="1100" spc="-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V. </a:t>
            </a:r>
            <a:r>
              <a:rPr sz="1100" spc="-5" dirty="0">
                <a:latin typeface="Times New Roman"/>
                <a:cs typeface="Times New Roman"/>
              </a:rPr>
              <a:t>Chan, "HSI </a:t>
            </a:r>
            <a:r>
              <a:rPr sz="1100" dirty="0">
                <a:latin typeface="Times New Roman"/>
                <a:cs typeface="Times New Roman"/>
              </a:rPr>
              <a:t>color </a:t>
            </a:r>
            <a:r>
              <a:rPr sz="1100" spc="-5" dirty="0">
                <a:latin typeface="Times New Roman"/>
                <a:cs typeface="Times New Roman"/>
              </a:rPr>
              <a:t>model based </a:t>
            </a:r>
            <a:r>
              <a:rPr sz="1100" dirty="0">
                <a:latin typeface="Times New Roman"/>
                <a:cs typeface="Times New Roman"/>
              </a:rPr>
              <a:t>lane-marking </a:t>
            </a:r>
            <a:r>
              <a:rPr sz="1100" spc="-5" dirty="0">
                <a:latin typeface="Times New Roman"/>
                <a:cs typeface="Times New Roman"/>
              </a:rPr>
              <a:t>detection,"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Intelligent Transportation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Conference, Toronto,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Ont.,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1168-1172,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2006.</a:t>
            </a:r>
            <a:endParaRPr sz="1100">
              <a:latin typeface="Times New Roman"/>
              <a:cs typeface="Times New Roman"/>
            </a:endParaRPr>
          </a:p>
          <a:p>
            <a:pPr marL="12700" marR="11430" indent="34925" algn="just">
              <a:lnSpc>
                <a:spcPct val="143600"/>
              </a:lnSpc>
              <a:spcBef>
                <a:spcPts val="1005"/>
              </a:spcBef>
              <a:buAutoNum type="arabicPlain"/>
              <a:tabLst>
                <a:tab pos="248920" algn="l"/>
              </a:tabLst>
            </a:pPr>
            <a:r>
              <a:rPr sz="1100" spc="-5" dirty="0">
                <a:latin typeface="Times New Roman"/>
                <a:cs typeface="Times New Roman"/>
              </a:rPr>
              <a:t>R. </a:t>
            </a:r>
            <a:r>
              <a:rPr sz="1100" dirty="0">
                <a:latin typeface="Times New Roman"/>
                <a:cs typeface="Times New Roman"/>
              </a:rPr>
              <a:t>Ke, </a:t>
            </a:r>
            <a:r>
              <a:rPr sz="1100" spc="-10" dirty="0">
                <a:latin typeface="Times New Roman"/>
                <a:cs typeface="Times New Roman"/>
              </a:rPr>
              <a:t>Z. </a:t>
            </a:r>
            <a:r>
              <a:rPr sz="1100" dirty="0">
                <a:latin typeface="Times New Roman"/>
                <a:cs typeface="Times New Roman"/>
              </a:rPr>
              <a:t>Li, J. </a:t>
            </a:r>
            <a:r>
              <a:rPr sz="1100" spc="-5" dirty="0">
                <a:latin typeface="Times New Roman"/>
                <a:cs typeface="Times New Roman"/>
              </a:rPr>
              <a:t>Tang, </a:t>
            </a:r>
            <a:r>
              <a:rPr sz="1100" spc="-10" dirty="0">
                <a:latin typeface="Times New Roman"/>
                <a:cs typeface="Times New Roman"/>
              </a:rPr>
              <a:t>Z. </a:t>
            </a:r>
            <a:r>
              <a:rPr sz="1100" dirty="0">
                <a:latin typeface="Times New Roman"/>
                <a:cs typeface="Times New Roman"/>
              </a:rPr>
              <a:t>Pan and </a:t>
            </a:r>
            <a:r>
              <a:rPr sz="1100" spc="-5" dirty="0">
                <a:latin typeface="Times New Roman"/>
                <a:cs typeface="Times New Roman"/>
              </a:rPr>
              <a:t>Y. Wang, "Real-Time Traffic </a:t>
            </a:r>
            <a:r>
              <a:rPr sz="1100" dirty="0">
                <a:latin typeface="Times New Roman"/>
                <a:cs typeface="Times New Roman"/>
              </a:rPr>
              <a:t>Flow </a:t>
            </a:r>
            <a:r>
              <a:rPr sz="1100" spc="-5" dirty="0">
                <a:latin typeface="Times New Roman"/>
                <a:cs typeface="Times New Roman"/>
              </a:rPr>
              <a:t>Parameter stimation From UAV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Video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Based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Ensemble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Classifier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and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Optical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Flow,"</a:t>
            </a:r>
            <a:r>
              <a:rPr sz="1100" dirty="0">
                <a:latin typeface="Times New Roman"/>
                <a:cs typeface="Times New Roman"/>
              </a:rPr>
              <a:t> 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Intelligent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Transportation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Systems.</a:t>
            </a:r>
            <a:r>
              <a:rPr sz="1100" dirty="0">
                <a:latin typeface="Times New Roman"/>
                <a:cs typeface="Times New Roman"/>
              </a:rPr>
              <a:t> no.99, pp. </a:t>
            </a:r>
            <a:r>
              <a:rPr sz="1100" spc="-5" dirty="0">
                <a:latin typeface="Times New Roman"/>
                <a:cs typeface="Times New Roman"/>
              </a:rPr>
              <a:t>1-11,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Mar.</a:t>
            </a:r>
            <a:r>
              <a:rPr sz="1100" dirty="0">
                <a:latin typeface="Times New Roman"/>
                <a:cs typeface="Times New Roman"/>
              </a:rPr>
              <a:t> 2018.</a:t>
            </a:r>
            <a:endParaRPr sz="1100">
              <a:latin typeface="Times New Roman"/>
              <a:cs typeface="Times New Roman"/>
            </a:endParaRPr>
          </a:p>
          <a:p>
            <a:pPr marL="12700" marR="13970" algn="just">
              <a:lnSpc>
                <a:spcPct val="143600"/>
              </a:lnSpc>
              <a:spcBef>
                <a:spcPts val="1010"/>
              </a:spcBef>
              <a:buAutoNum type="arabicPlain"/>
              <a:tabLst>
                <a:tab pos="247650" algn="l"/>
              </a:tabLst>
            </a:pPr>
            <a:r>
              <a:rPr sz="1100" spc="-5" dirty="0">
                <a:latin typeface="Times New Roman"/>
                <a:cs typeface="Times New Roman"/>
              </a:rPr>
              <a:t>H.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Kong,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J.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Audibert</a:t>
            </a:r>
            <a:r>
              <a:rPr sz="1100" dirty="0">
                <a:latin typeface="Times New Roman"/>
                <a:cs typeface="Times New Roman"/>
              </a:rPr>
              <a:t> and</a:t>
            </a:r>
            <a:r>
              <a:rPr sz="1100" spc="5" dirty="0">
                <a:latin typeface="Times New Roman"/>
                <a:cs typeface="Times New Roman"/>
              </a:rPr>
              <a:t> J.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Ponce,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"General</a:t>
            </a:r>
            <a:r>
              <a:rPr sz="1100" dirty="0">
                <a:latin typeface="Times New Roman"/>
                <a:cs typeface="Times New Roman"/>
              </a:rPr>
              <a:t> Road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Detection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From</a:t>
            </a:r>
            <a:r>
              <a:rPr sz="1100" dirty="0">
                <a:latin typeface="Times New Roman"/>
                <a:cs typeface="Times New Roman"/>
              </a:rPr>
              <a:t> 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Image,"</a:t>
            </a:r>
            <a:r>
              <a:rPr sz="1100" dirty="0">
                <a:latin typeface="Times New Roman"/>
                <a:cs typeface="Times New Roman"/>
              </a:rPr>
              <a:t> 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 </a:t>
            </a:r>
            <a:r>
              <a:rPr sz="1100" spc="-10" dirty="0">
                <a:latin typeface="Times New Roman"/>
                <a:cs typeface="Times New Roman"/>
              </a:rPr>
              <a:t>Image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Processing,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vol.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19, no. </a:t>
            </a:r>
            <a:r>
              <a:rPr sz="1100" spc="-10" dirty="0">
                <a:latin typeface="Times New Roman"/>
                <a:cs typeface="Times New Roman"/>
              </a:rPr>
              <a:t>8,</a:t>
            </a:r>
            <a:r>
              <a:rPr sz="1100" dirty="0">
                <a:latin typeface="Times New Roman"/>
                <a:cs typeface="Times New Roman"/>
              </a:rPr>
              <a:t> pp.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2211-2220, </a:t>
            </a:r>
            <a:r>
              <a:rPr sz="1100" spc="-5" dirty="0">
                <a:latin typeface="Times New Roman"/>
                <a:cs typeface="Times New Roman"/>
              </a:rPr>
              <a:t>Aug.</a:t>
            </a:r>
            <a:r>
              <a:rPr sz="1100" dirty="0">
                <a:latin typeface="Times New Roman"/>
                <a:cs typeface="Times New Roman"/>
              </a:rPr>
              <a:t> 2010.</a:t>
            </a:r>
            <a:endParaRPr sz="1100">
              <a:latin typeface="Times New Roman"/>
              <a:cs typeface="Times New Roman"/>
            </a:endParaRPr>
          </a:p>
          <a:p>
            <a:pPr marL="12700" marR="6350" indent="34925" algn="just">
              <a:lnSpc>
                <a:spcPct val="143600"/>
              </a:lnSpc>
              <a:spcBef>
                <a:spcPts val="1000"/>
              </a:spcBef>
              <a:buAutoNum type="arabicPlain"/>
              <a:tabLst>
                <a:tab pos="317500" algn="l"/>
              </a:tabLst>
            </a:pPr>
            <a:r>
              <a:rPr sz="1100" dirty="0">
                <a:latin typeface="Times New Roman"/>
                <a:cs typeface="Times New Roman"/>
              </a:rPr>
              <a:t>P. </a:t>
            </a:r>
            <a:r>
              <a:rPr sz="1100" spc="-5" dirty="0">
                <a:latin typeface="Times New Roman"/>
                <a:cs typeface="Times New Roman"/>
              </a:rPr>
              <a:t>Moghadam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5" dirty="0">
                <a:latin typeface="Times New Roman"/>
                <a:cs typeface="Times New Roman"/>
              </a:rPr>
              <a:t>J. </a:t>
            </a:r>
            <a:r>
              <a:rPr sz="1100" dirty="0">
                <a:latin typeface="Times New Roman"/>
                <a:cs typeface="Times New Roman"/>
              </a:rPr>
              <a:t>F. </a:t>
            </a:r>
            <a:r>
              <a:rPr sz="1100" spc="-5" dirty="0">
                <a:latin typeface="Times New Roman"/>
                <a:cs typeface="Times New Roman"/>
              </a:rPr>
              <a:t>Dong, </a:t>
            </a:r>
            <a:r>
              <a:rPr sz="1100" dirty="0">
                <a:latin typeface="Times New Roman"/>
                <a:cs typeface="Times New Roman"/>
              </a:rPr>
              <a:t>"Road </a:t>
            </a:r>
            <a:r>
              <a:rPr sz="1100" spc="-5" dirty="0">
                <a:latin typeface="Times New Roman"/>
                <a:cs typeface="Times New Roman"/>
              </a:rPr>
              <a:t>direction detection based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vanishing-point tracking,"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Proc.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IEEE/RSJ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International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Conference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Intelligent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Robots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Vilamoura,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1553-1560,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2012.</a:t>
            </a:r>
            <a:endParaRPr sz="11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600"/>
              </a:lnSpc>
              <a:buAutoNum type="arabicPlain"/>
              <a:tabLst>
                <a:tab pos="285750" algn="l"/>
              </a:tabLst>
            </a:pPr>
            <a:r>
              <a:rPr sz="1100" spc="-5" dirty="0">
                <a:latin typeface="Times New Roman"/>
                <a:cs typeface="Times New Roman"/>
              </a:rPr>
              <a:t>C. </a:t>
            </a:r>
            <a:r>
              <a:rPr sz="1100" dirty="0">
                <a:latin typeface="Times New Roman"/>
                <a:cs typeface="Times New Roman"/>
              </a:rPr>
              <a:t>Lee and </a:t>
            </a:r>
            <a:r>
              <a:rPr sz="1100" spc="5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H. </a:t>
            </a:r>
            <a:r>
              <a:rPr sz="1100" dirty="0">
                <a:latin typeface="Times New Roman"/>
                <a:cs typeface="Times New Roman"/>
              </a:rPr>
              <a:t>Moon, </a:t>
            </a:r>
            <a:r>
              <a:rPr sz="1100" spc="-5" dirty="0">
                <a:latin typeface="Times New Roman"/>
                <a:cs typeface="Times New Roman"/>
              </a:rPr>
              <a:t>"Robust </a:t>
            </a:r>
            <a:r>
              <a:rPr sz="1100" dirty="0">
                <a:latin typeface="Times New Roman"/>
                <a:cs typeface="Times New Roman"/>
              </a:rPr>
              <a:t>Lane </a:t>
            </a:r>
            <a:r>
              <a:rPr sz="1100" spc="-5" dirty="0">
                <a:latin typeface="Times New Roman"/>
                <a:cs typeface="Times New Roman"/>
              </a:rPr>
              <a:t>Detection </a:t>
            </a:r>
            <a:r>
              <a:rPr sz="1100" dirty="0">
                <a:latin typeface="Times New Roman"/>
                <a:cs typeface="Times New Roman"/>
              </a:rPr>
              <a:t>and Tracking for Real-Time </a:t>
            </a:r>
            <a:r>
              <a:rPr sz="1100" spc="-5" dirty="0">
                <a:latin typeface="Times New Roman"/>
                <a:cs typeface="Times New Roman"/>
              </a:rPr>
              <a:t>Applications,"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 </a:t>
            </a:r>
            <a:r>
              <a:rPr sz="1100" spc="-5" dirty="0">
                <a:latin typeface="Times New Roman"/>
                <a:cs typeface="Times New Roman"/>
              </a:rPr>
              <a:t>Intelligent Transportation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Systems,</a:t>
            </a:r>
            <a:r>
              <a:rPr sz="1100" dirty="0">
                <a:latin typeface="Times New Roman"/>
                <a:cs typeface="Times New Roman"/>
              </a:rPr>
              <a:t> vol.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no.99,</a:t>
            </a:r>
            <a:r>
              <a:rPr sz="1100" dirty="0">
                <a:latin typeface="Times New Roman"/>
                <a:cs typeface="Times New Roman"/>
              </a:rPr>
              <a:t> pp.1-6,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Feb. 2018.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299" y="629918"/>
            <a:ext cx="7729519" cy="6530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 algn="just">
              <a:lnSpc>
                <a:spcPct val="143700"/>
              </a:lnSpc>
              <a:spcBef>
                <a:spcPts val="100"/>
              </a:spcBef>
              <a:buAutoNum type="arabicPlain" startAt="12"/>
              <a:tabLst>
                <a:tab pos="334010" algn="l"/>
              </a:tabLst>
            </a:pPr>
            <a:r>
              <a:rPr sz="1100" dirty="0">
                <a:latin typeface="Times New Roman"/>
                <a:cs typeface="Times New Roman"/>
              </a:rPr>
              <a:t>W. </a:t>
            </a:r>
            <a:r>
              <a:rPr sz="1100" spc="-5" dirty="0">
                <a:latin typeface="Times New Roman"/>
                <a:cs typeface="Times New Roman"/>
              </a:rPr>
              <a:t>Song, Y. Yang, </a:t>
            </a:r>
            <a:r>
              <a:rPr sz="1100" dirty="0">
                <a:latin typeface="Times New Roman"/>
                <a:cs typeface="Times New Roman"/>
              </a:rPr>
              <a:t>M. Fu, </a:t>
            </a:r>
            <a:r>
              <a:rPr sz="1100" spc="-5" dirty="0">
                <a:latin typeface="Times New Roman"/>
                <a:cs typeface="Times New Roman"/>
              </a:rPr>
              <a:t>Y. </a:t>
            </a:r>
            <a:r>
              <a:rPr sz="1100" dirty="0">
                <a:latin typeface="Times New Roman"/>
                <a:cs typeface="Times New Roman"/>
              </a:rPr>
              <a:t>Li and M. </a:t>
            </a:r>
            <a:r>
              <a:rPr sz="1100" spc="-10" dirty="0">
                <a:latin typeface="Times New Roman"/>
                <a:cs typeface="Times New Roman"/>
              </a:rPr>
              <a:t>Wang, </a:t>
            </a:r>
            <a:r>
              <a:rPr sz="1100" dirty="0">
                <a:latin typeface="Times New Roman"/>
                <a:cs typeface="Times New Roman"/>
              </a:rPr>
              <a:t>"Lane </a:t>
            </a:r>
            <a:r>
              <a:rPr sz="1100" spc="-5" dirty="0">
                <a:latin typeface="Times New Roman"/>
                <a:cs typeface="Times New Roman"/>
              </a:rPr>
              <a:t>Detection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Classification for Forward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Collision </a:t>
            </a:r>
            <a:r>
              <a:rPr sz="1100" dirty="0">
                <a:latin typeface="Times New Roman"/>
                <a:cs typeface="Times New Roman"/>
              </a:rPr>
              <a:t>Warning System Based </a:t>
            </a:r>
            <a:r>
              <a:rPr sz="1100" spc="-1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Stereo Vision," 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dirty="0">
                <a:latin typeface="Times New Roman"/>
                <a:cs typeface="Times New Roman"/>
              </a:rPr>
              <a:t>Sensors </a:t>
            </a:r>
            <a:r>
              <a:rPr sz="1100" spc="-5" dirty="0">
                <a:latin typeface="Times New Roman"/>
                <a:cs typeface="Times New Roman"/>
              </a:rPr>
              <a:t>Journal, vol. 18, </a:t>
            </a:r>
            <a:r>
              <a:rPr sz="1100" dirty="0">
                <a:latin typeface="Times New Roman"/>
                <a:cs typeface="Times New Roman"/>
              </a:rPr>
              <a:t>no. 12, pp. 5151-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5163,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Jun. 2018.</a:t>
            </a:r>
            <a:endParaRPr sz="11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600"/>
              </a:lnSpc>
              <a:spcBef>
                <a:spcPts val="1005"/>
              </a:spcBef>
              <a:buAutoNum type="arabicPlain" startAt="12"/>
              <a:tabLst>
                <a:tab pos="292735" algn="l"/>
              </a:tabLst>
            </a:pPr>
            <a:r>
              <a:rPr sz="1100" spc="-5" dirty="0">
                <a:latin typeface="Times New Roman"/>
                <a:cs typeface="Times New Roman"/>
              </a:rPr>
              <a:t>C. </a:t>
            </a:r>
            <a:r>
              <a:rPr sz="1100" dirty="0">
                <a:latin typeface="Times New Roman"/>
                <a:cs typeface="Times New Roman"/>
              </a:rPr>
              <a:t>Wu, L. </a:t>
            </a:r>
            <a:r>
              <a:rPr sz="1100" spc="-5" dirty="0">
                <a:latin typeface="Times New Roman"/>
                <a:cs typeface="Times New Roman"/>
              </a:rPr>
              <a:t>Wang </a:t>
            </a:r>
            <a:r>
              <a:rPr sz="1100" dirty="0">
                <a:latin typeface="Times New Roman"/>
                <a:cs typeface="Times New Roman"/>
              </a:rPr>
              <a:t>and K. </a:t>
            </a:r>
            <a:r>
              <a:rPr sz="1100" spc="-5" dirty="0">
                <a:latin typeface="Times New Roman"/>
                <a:cs typeface="Times New Roman"/>
              </a:rPr>
              <a:t>Wang, "Ultra-low </a:t>
            </a:r>
            <a:r>
              <a:rPr sz="1100" dirty="0">
                <a:latin typeface="Times New Roman"/>
                <a:cs typeface="Times New Roman"/>
              </a:rPr>
              <a:t>Complexity </a:t>
            </a:r>
            <a:r>
              <a:rPr sz="1100" spc="-5" dirty="0">
                <a:latin typeface="Times New Roman"/>
                <a:cs typeface="Times New Roman"/>
              </a:rPr>
              <a:t>Block-based </a:t>
            </a:r>
            <a:r>
              <a:rPr sz="1100" dirty="0">
                <a:latin typeface="Times New Roman"/>
                <a:cs typeface="Times New Roman"/>
              </a:rPr>
              <a:t>Lane </a:t>
            </a:r>
            <a:r>
              <a:rPr sz="1100" spc="-5" dirty="0">
                <a:latin typeface="Times New Roman"/>
                <a:cs typeface="Times New Roman"/>
              </a:rPr>
              <a:t>Detection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Departure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Warning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System,"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Transactions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Circuits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Video Technology,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Feb.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2018.</a:t>
            </a:r>
            <a:endParaRPr sz="11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3600"/>
              </a:lnSpc>
              <a:spcBef>
                <a:spcPts val="1000"/>
              </a:spcBef>
              <a:buAutoNum type="arabicPlain" startAt="12"/>
              <a:tabLst>
                <a:tab pos="291465" algn="l"/>
              </a:tabLst>
            </a:pPr>
            <a:r>
              <a:rPr sz="1100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H. Yoo, </a:t>
            </a:r>
            <a:r>
              <a:rPr sz="1100" dirty="0">
                <a:latin typeface="Times New Roman"/>
                <a:cs typeface="Times New Roman"/>
              </a:rPr>
              <a:t>S. </a:t>
            </a:r>
            <a:r>
              <a:rPr sz="1100" spc="-5" dirty="0">
                <a:latin typeface="Times New Roman"/>
                <a:cs typeface="Times New Roman"/>
              </a:rPr>
              <a:t>Lee, </a:t>
            </a:r>
            <a:r>
              <a:rPr sz="1100" dirty="0">
                <a:latin typeface="Times New Roman"/>
                <a:cs typeface="Times New Roman"/>
              </a:rPr>
              <a:t>S. Park and </a:t>
            </a:r>
            <a:r>
              <a:rPr sz="1100" spc="-5" dirty="0">
                <a:latin typeface="Times New Roman"/>
                <a:cs typeface="Times New Roman"/>
              </a:rPr>
              <a:t>D. H. </a:t>
            </a:r>
            <a:r>
              <a:rPr sz="1100" spc="-10" dirty="0">
                <a:latin typeface="Times New Roman"/>
                <a:cs typeface="Times New Roman"/>
              </a:rPr>
              <a:t>Kim, </a:t>
            </a:r>
            <a:r>
              <a:rPr sz="1100" dirty="0">
                <a:latin typeface="Times New Roman"/>
                <a:cs typeface="Times New Roman"/>
              </a:rPr>
              <a:t>"A Robust Lane </a:t>
            </a:r>
            <a:r>
              <a:rPr sz="1100" spc="-5" dirty="0">
                <a:latin typeface="Times New Roman"/>
                <a:cs typeface="Times New Roman"/>
              </a:rPr>
              <a:t>Detection Method Based </a:t>
            </a:r>
            <a:r>
              <a:rPr sz="1100" dirty="0">
                <a:latin typeface="Times New Roman"/>
                <a:cs typeface="Times New Roman"/>
              </a:rPr>
              <a:t>on Vanishing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Estimation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Using</a:t>
            </a:r>
            <a:r>
              <a:rPr sz="1100" dirty="0">
                <a:latin typeface="Times New Roman"/>
                <a:cs typeface="Times New Roman"/>
              </a:rPr>
              <a:t> 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Relevance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Line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Segments,"</a:t>
            </a:r>
            <a:r>
              <a:rPr sz="1100" dirty="0">
                <a:latin typeface="Times New Roman"/>
                <a:cs typeface="Times New Roman"/>
              </a:rPr>
              <a:t> 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IEEE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Intelligent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Transportation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Systems,</a:t>
            </a:r>
            <a:r>
              <a:rPr sz="1100" dirty="0">
                <a:latin typeface="Times New Roman"/>
                <a:cs typeface="Times New Roman"/>
              </a:rPr>
              <a:t> vol. 18, </a:t>
            </a:r>
            <a:r>
              <a:rPr sz="1100" spc="-5" dirty="0">
                <a:latin typeface="Times New Roman"/>
                <a:cs typeface="Times New Roman"/>
              </a:rPr>
              <a:t>no.</a:t>
            </a:r>
            <a:r>
              <a:rPr sz="1100" dirty="0">
                <a:latin typeface="Times New Roman"/>
                <a:cs typeface="Times New Roman"/>
              </a:rPr>
              <a:t> 12, </a:t>
            </a:r>
            <a:r>
              <a:rPr sz="1100" spc="-5" dirty="0">
                <a:latin typeface="Times New Roman"/>
                <a:cs typeface="Times New Roman"/>
              </a:rPr>
              <a:t>pp.</a:t>
            </a:r>
            <a:r>
              <a:rPr sz="1100" dirty="0">
                <a:latin typeface="Times New Roman"/>
                <a:cs typeface="Times New Roman"/>
              </a:rPr>
              <a:t> 3254-3266, </a:t>
            </a:r>
            <a:r>
              <a:rPr sz="1100" spc="-5" dirty="0">
                <a:latin typeface="Times New Roman"/>
                <a:cs typeface="Times New Roman"/>
              </a:rPr>
              <a:t>Dec.</a:t>
            </a:r>
            <a:r>
              <a:rPr sz="1100" dirty="0">
                <a:latin typeface="Times New Roman"/>
                <a:cs typeface="Times New Roman"/>
              </a:rPr>
              <a:t> 2017.</a:t>
            </a:r>
            <a:endParaRPr sz="11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43600"/>
              </a:lnSpc>
              <a:spcBef>
                <a:spcPts val="1010"/>
              </a:spcBef>
              <a:buAutoNum type="arabicPlain" startAt="12"/>
              <a:tabLst>
                <a:tab pos="290195" algn="l"/>
              </a:tabLst>
            </a:pPr>
            <a:r>
              <a:rPr sz="1100" spc="-5" dirty="0">
                <a:latin typeface="Times New Roman"/>
                <a:cs typeface="Times New Roman"/>
              </a:rPr>
              <a:t>U. Ozgunalp, R. Fan, </a:t>
            </a:r>
            <a:r>
              <a:rPr sz="1100" dirty="0">
                <a:latin typeface="Times New Roman"/>
                <a:cs typeface="Times New Roman"/>
              </a:rPr>
              <a:t>X. </a:t>
            </a:r>
            <a:r>
              <a:rPr sz="1100" spc="-10" dirty="0">
                <a:latin typeface="Times New Roman"/>
                <a:cs typeface="Times New Roman"/>
              </a:rPr>
              <a:t>Ai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N. Dahnoun, "Multiple </a:t>
            </a:r>
            <a:r>
              <a:rPr sz="1100" dirty="0">
                <a:latin typeface="Times New Roman"/>
                <a:cs typeface="Times New Roman"/>
              </a:rPr>
              <a:t>Lane </a:t>
            </a:r>
            <a:r>
              <a:rPr sz="1100" spc="-5" dirty="0">
                <a:latin typeface="Times New Roman"/>
                <a:cs typeface="Times New Roman"/>
              </a:rPr>
              <a:t>Detection Algorithm </a:t>
            </a:r>
            <a:r>
              <a:rPr sz="1100" dirty="0">
                <a:latin typeface="Times New Roman"/>
                <a:cs typeface="Times New Roman"/>
              </a:rPr>
              <a:t>Based on </a:t>
            </a:r>
            <a:r>
              <a:rPr sz="1100" spc="-10" dirty="0">
                <a:latin typeface="Times New Roman"/>
                <a:cs typeface="Times New Roman"/>
              </a:rPr>
              <a:t>Novel </a:t>
            </a:r>
            <a:r>
              <a:rPr sz="1100" spc="-5" dirty="0">
                <a:latin typeface="Times New Roman"/>
                <a:cs typeface="Times New Roman"/>
              </a:rPr>
              <a:t> Dense </a:t>
            </a:r>
            <a:r>
              <a:rPr sz="1100" dirty="0">
                <a:latin typeface="Times New Roman"/>
                <a:cs typeface="Times New Roman"/>
              </a:rPr>
              <a:t>Vanishing Point </a:t>
            </a:r>
            <a:r>
              <a:rPr sz="1100" spc="-5" dirty="0">
                <a:latin typeface="Times New Roman"/>
                <a:cs typeface="Times New Roman"/>
              </a:rPr>
              <a:t>Estimation," 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Transactions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Intelligent Transportation Systems, vol. </a:t>
            </a:r>
            <a:r>
              <a:rPr sz="1100" dirty="0">
                <a:latin typeface="Times New Roman"/>
                <a:cs typeface="Times New Roman"/>
              </a:rPr>
              <a:t>18,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3, pp. </a:t>
            </a:r>
            <a:r>
              <a:rPr sz="1100" spc="-5" dirty="0">
                <a:latin typeface="Times New Roman"/>
                <a:cs typeface="Times New Roman"/>
              </a:rPr>
              <a:t>621-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632, March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2017.</a:t>
            </a:r>
            <a:endParaRPr sz="11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600"/>
              </a:lnSpc>
              <a:spcBef>
                <a:spcPts val="1010"/>
              </a:spcBef>
              <a:buAutoNum type="arabicPlain" startAt="12"/>
              <a:tabLst>
                <a:tab pos="285750" algn="l"/>
              </a:tabLst>
            </a:pPr>
            <a:r>
              <a:rPr sz="1100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Piao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H. Shin, </a:t>
            </a:r>
            <a:r>
              <a:rPr sz="1100" dirty="0">
                <a:latin typeface="Times New Roman"/>
                <a:cs typeface="Times New Roman"/>
              </a:rPr>
              <a:t>"Robust </a:t>
            </a:r>
            <a:r>
              <a:rPr sz="1100" spc="-5" dirty="0">
                <a:latin typeface="Times New Roman"/>
                <a:cs typeface="Times New Roman"/>
              </a:rPr>
              <a:t>hypothesis generation method using </a:t>
            </a:r>
            <a:r>
              <a:rPr sz="1100" dirty="0">
                <a:latin typeface="Times New Roman"/>
                <a:cs typeface="Times New Roman"/>
              </a:rPr>
              <a:t>binary </a:t>
            </a:r>
            <a:r>
              <a:rPr sz="1100" spc="-5" dirty="0">
                <a:latin typeface="Times New Roman"/>
                <a:cs typeface="Times New Roman"/>
              </a:rPr>
              <a:t>blob analysis </a:t>
            </a:r>
            <a:r>
              <a:rPr sz="1100" dirty="0">
                <a:latin typeface="Times New Roman"/>
                <a:cs typeface="Times New Roman"/>
              </a:rPr>
              <a:t>for </a:t>
            </a:r>
            <a:r>
              <a:rPr sz="1100" spc="-5" dirty="0">
                <a:latin typeface="Times New Roman"/>
                <a:cs typeface="Times New Roman"/>
              </a:rPr>
              <a:t>multi-lane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detection,"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Image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Processing,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vol.</a:t>
            </a:r>
            <a:r>
              <a:rPr sz="1100" dirty="0">
                <a:latin typeface="Times New Roman"/>
                <a:cs typeface="Times New Roman"/>
              </a:rPr>
              <a:t> 11, no.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12, </a:t>
            </a:r>
            <a:r>
              <a:rPr sz="1100" spc="-5" dirty="0">
                <a:latin typeface="Times New Roman"/>
                <a:cs typeface="Times New Roman"/>
              </a:rPr>
              <a:t>pp.</a:t>
            </a:r>
            <a:r>
              <a:rPr sz="1100" dirty="0">
                <a:latin typeface="Times New Roman"/>
                <a:cs typeface="Times New Roman"/>
              </a:rPr>
              <a:t> 1210-1218,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Dec.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2017.</a:t>
            </a:r>
            <a:endParaRPr sz="1100">
              <a:latin typeface="Times New Roman"/>
              <a:cs typeface="Times New Roman"/>
            </a:endParaRPr>
          </a:p>
          <a:p>
            <a:pPr marL="12700" marR="8890" indent="34925" algn="just">
              <a:lnSpc>
                <a:spcPct val="143600"/>
              </a:lnSpc>
              <a:spcBef>
                <a:spcPts val="994"/>
              </a:spcBef>
              <a:buAutoNum type="arabicPlain" startAt="12"/>
              <a:tabLst>
                <a:tab pos="321945" algn="l"/>
              </a:tabLst>
            </a:pPr>
            <a:r>
              <a:rPr sz="1100" dirty="0">
                <a:latin typeface="Times New Roman"/>
                <a:cs typeface="Times New Roman"/>
              </a:rPr>
              <a:t>S. </a:t>
            </a:r>
            <a:r>
              <a:rPr sz="1100" spc="-5" dirty="0">
                <a:latin typeface="Times New Roman"/>
                <a:cs typeface="Times New Roman"/>
              </a:rPr>
              <a:t>Jung, </a:t>
            </a:r>
            <a:r>
              <a:rPr sz="1100" spc="5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Youn, </a:t>
            </a:r>
            <a:r>
              <a:rPr sz="1100" dirty="0">
                <a:latin typeface="Times New Roman"/>
                <a:cs typeface="Times New Roman"/>
              </a:rPr>
              <a:t>and S. </a:t>
            </a:r>
            <a:r>
              <a:rPr sz="1100" spc="-5" dirty="0">
                <a:latin typeface="Times New Roman"/>
                <a:cs typeface="Times New Roman"/>
              </a:rPr>
              <a:t>Sull, "Efficient Lane Detection Based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Spatiotemporal Images,"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 Transactions</a:t>
            </a:r>
            <a:r>
              <a:rPr sz="1100" dirty="0">
                <a:latin typeface="Times New Roman"/>
                <a:cs typeface="Times New Roman"/>
              </a:rPr>
              <a:t> 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Intelligent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Transportation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Systems,</a:t>
            </a:r>
            <a:r>
              <a:rPr sz="1100" dirty="0">
                <a:latin typeface="Times New Roman"/>
                <a:cs typeface="Times New Roman"/>
              </a:rPr>
              <a:t> vol.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17, </a:t>
            </a:r>
            <a:r>
              <a:rPr sz="1100" spc="-5" dirty="0">
                <a:latin typeface="Times New Roman"/>
                <a:cs typeface="Times New Roman"/>
              </a:rPr>
              <a:t>no.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1, pp.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289-295, </a:t>
            </a:r>
            <a:r>
              <a:rPr sz="1100" spc="-5" dirty="0">
                <a:latin typeface="Times New Roman"/>
                <a:cs typeface="Times New Roman"/>
              </a:rPr>
              <a:t>Jan.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2016.</a:t>
            </a:r>
            <a:endParaRPr sz="1100">
              <a:latin typeface="Times New Roman"/>
              <a:cs typeface="Times New Roman"/>
            </a:endParaRPr>
          </a:p>
          <a:p>
            <a:pPr marL="12700" marR="6350" indent="34925" algn="just">
              <a:lnSpc>
                <a:spcPct val="143600"/>
              </a:lnSpc>
              <a:spcBef>
                <a:spcPts val="1010"/>
              </a:spcBef>
              <a:buAutoNum type="arabicPlain" startAt="12"/>
              <a:tabLst>
                <a:tab pos="325120" algn="l"/>
              </a:tabLst>
            </a:pPr>
            <a:r>
              <a:rPr sz="1100" spc="-5" dirty="0">
                <a:latin typeface="Times New Roman"/>
                <a:cs typeface="Times New Roman"/>
              </a:rPr>
              <a:t>A. Borkar, M. Hayes,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M. </a:t>
            </a:r>
            <a:r>
              <a:rPr sz="1100" dirty="0">
                <a:latin typeface="Times New Roman"/>
                <a:cs typeface="Times New Roman"/>
              </a:rPr>
              <a:t>T. </a:t>
            </a:r>
            <a:r>
              <a:rPr sz="1100" spc="-5" dirty="0">
                <a:latin typeface="Times New Roman"/>
                <a:cs typeface="Times New Roman"/>
              </a:rPr>
              <a:t>Smith, </a:t>
            </a:r>
            <a:r>
              <a:rPr sz="1100" dirty="0">
                <a:latin typeface="Times New Roman"/>
                <a:cs typeface="Times New Roman"/>
              </a:rPr>
              <a:t>“A </a:t>
            </a:r>
            <a:r>
              <a:rPr sz="1100" spc="-5" dirty="0">
                <a:latin typeface="Times New Roman"/>
                <a:cs typeface="Times New Roman"/>
              </a:rPr>
              <a:t>novel lane detection system with efficient ground truth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generation,”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dirty="0">
                <a:latin typeface="Times New Roman"/>
                <a:cs typeface="Times New Roman"/>
              </a:rPr>
              <a:t>Transactions on </a:t>
            </a:r>
            <a:r>
              <a:rPr sz="1100" spc="-5" dirty="0">
                <a:latin typeface="Times New Roman"/>
                <a:cs typeface="Times New Roman"/>
              </a:rPr>
              <a:t>Intelligent </a:t>
            </a:r>
            <a:r>
              <a:rPr sz="1100" dirty="0">
                <a:latin typeface="Times New Roman"/>
                <a:cs typeface="Times New Roman"/>
              </a:rPr>
              <a:t>Transportation </a:t>
            </a:r>
            <a:r>
              <a:rPr sz="1100" spc="-5" dirty="0">
                <a:latin typeface="Times New Roman"/>
                <a:cs typeface="Times New Roman"/>
              </a:rPr>
              <a:t>Systems vol. </a:t>
            </a:r>
            <a:r>
              <a:rPr sz="1100" dirty="0">
                <a:latin typeface="Times New Roman"/>
                <a:cs typeface="Times New Roman"/>
              </a:rPr>
              <a:t>13, no. 1, pp. 365–374, </a:t>
            </a:r>
            <a:r>
              <a:rPr sz="1100" spc="-5" dirty="0">
                <a:latin typeface="Times New Roman"/>
                <a:cs typeface="Times New Roman"/>
              </a:rPr>
              <a:t>Mar. </a:t>
            </a:r>
            <a:r>
              <a:rPr sz="1100" spc="-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2012.</a:t>
            </a: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900"/>
              </a:lnSpc>
              <a:spcBef>
                <a:spcPts val="995"/>
              </a:spcBef>
              <a:buAutoNum type="arabicPlain" startAt="12"/>
              <a:tabLst>
                <a:tab pos="320675" algn="l"/>
              </a:tabLst>
            </a:pPr>
            <a:r>
              <a:rPr sz="1100" spc="-10" dirty="0">
                <a:latin typeface="Times New Roman"/>
                <a:cs typeface="Times New Roman"/>
              </a:rPr>
              <a:t>S.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Kang,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Lee,</a:t>
            </a:r>
            <a:r>
              <a:rPr sz="1100" spc="5" dirty="0">
                <a:latin typeface="Times New Roman"/>
                <a:cs typeface="Times New Roman"/>
              </a:rPr>
              <a:t> J.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Hur</a:t>
            </a:r>
            <a:r>
              <a:rPr sz="1100" dirty="0">
                <a:latin typeface="Times New Roman"/>
                <a:cs typeface="Times New Roman"/>
              </a:rPr>
              <a:t> 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Seo,</a:t>
            </a:r>
            <a:r>
              <a:rPr sz="1100" dirty="0">
                <a:latin typeface="Times New Roman"/>
                <a:cs typeface="Times New Roman"/>
              </a:rPr>
              <a:t> "Multi-lane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detection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based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accurate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geometric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lane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estimation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highway </a:t>
            </a:r>
            <a:r>
              <a:rPr sz="1100" dirty="0">
                <a:latin typeface="Times New Roman"/>
                <a:cs typeface="Times New Roman"/>
              </a:rPr>
              <a:t>scenarios," in </a:t>
            </a:r>
            <a:r>
              <a:rPr sz="1100" spc="-5" dirty="0">
                <a:latin typeface="Times New Roman"/>
                <a:cs typeface="Times New Roman"/>
              </a:rPr>
              <a:t>Proc.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Intelligent Vehicles Symposium, Dearborn, MI, </a:t>
            </a:r>
            <a:r>
              <a:rPr sz="1100" dirty="0">
                <a:latin typeface="Times New Roman"/>
                <a:cs typeface="Times New Roman"/>
              </a:rPr>
              <a:t>pp. </a:t>
            </a:r>
            <a:r>
              <a:rPr sz="1100" spc="10" dirty="0">
                <a:latin typeface="Times New Roman"/>
                <a:cs typeface="Times New Roman"/>
              </a:rPr>
              <a:t>221- 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226,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2014.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[20]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J.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Fritsch,</a:t>
            </a:r>
            <a:r>
              <a:rPr sz="1100" dirty="0">
                <a:latin typeface="Times New Roman"/>
                <a:cs typeface="Times New Roman"/>
              </a:rPr>
              <a:t> T.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Kühnl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Geiger,</a:t>
            </a:r>
            <a:r>
              <a:rPr sz="1100" dirty="0">
                <a:latin typeface="Times New Roman"/>
                <a:cs typeface="Times New Roman"/>
              </a:rPr>
              <a:t> "A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new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performance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measure</a:t>
            </a:r>
            <a:r>
              <a:rPr sz="1100" dirty="0">
                <a:latin typeface="Times New Roman"/>
                <a:cs typeface="Times New Roman"/>
              </a:rPr>
              <a:t> 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evaluation </a:t>
            </a:r>
            <a:r>
              <a:rPr sz="1100" dirty="0">
                <a:latin typeface="Times New Roman"/>
                <a:cs typeface="Times New Roman"/>
              </a:rPr>
              <a:t> benchmark for </a:t>
            </a:r>
            <a:r>
              <a:rPr sz="1100" spc="-5" dirty="0">
                <a:latin typeface="Times New Roman"/>
                <a:cs typeface="Times New Roman"/>
              </a:rPr>
              <a:t>road detection algorithms," </a:t>
            </a:r>
            <a:r>
              <a:rPr sz="1100" dirty="0">
                <a:latin typeface="Times New Roman"/>
                <a:cs typeface="Times New Roman"/>
              </a:rPr>
              <a:t>in </a:t>
            </a:r>
            <a:r>
              <a:rPr sz="1100" spc="-5" dirty="0">
                <a:latin typeface="Times New Roman"/>
                <a:cs typeface="Times New Roman"/>
              </a:rPr>
              <a:t>Proc. </a:t>
            </a:r>
            <a:r>
              <a:rPr sz="1100" dirty="0">
                <a:latin typeface="Times New Roman"/>
                <a:cs typeface="Times New Roman"/>
              </a:rPr>
              <a:t>16th </a:t>
            </a:r>
            <a:r>
              <a:rPr sz="1100" spc="-5" dirty="0">
                <a:latin typeface="Times New Roman"/>
                <a:cs typeface="Times New Roman"/>
              </a:rPr>
              <a:t>International </a:t>
            </a:r>
            <a:r>
              <a:rPr sz="1100" spc="-10" dirty="0">
                <a:latin typeface="Times New Roman"/>
                <a:cs typeface="Times New Roman"/>
              </a:rPr>
              <a:t>IEEE </a:t>
            </a:r>
            <a:r>
              <a:rPr sz="1100" spc="-5" dirty="0">
                <a:latin typeface="Times New Roman"/>
                <a:cs typeface="Times New Roman"/>
              </a:rPr>
              <a:t>Conference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Intelligent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Transportation Systems,</a:t>
            </a:r>
            <a:r>
              <a:rPr sz="1100" dirty="0">
                <a:latin typeface="Times New Roman"/>
                <a:cs typeface="Times New Roman"/>
              </a:rPr>
              <a:t> pp. 1693-1700, 2013.</a:t>
            </a:r>
            <a:endParaRPr sz="1100">
              <a:latin typeface="Times New Roman"/>
              <a:cs typeface="Times New Roman"/>
            </a:endParaRPr>
          </a:p>
          <a:p>
            <a:pPr marL="12700" marR="9525" indent="34925" algn="just">
              <a:lnSpc>
                <a:spcPct val="143600"/>
              </a:lnSpc>
              <a:spcBef>
                <a:spcPts val="1000"/>
              </a:spcBef>
              <a:buAutoNum type="arabicPlain" startAt="21"/>
              <a:tabLst>
                <a:tab pos="320675" algn="l"/>
              </a:tabLst>
            </a:pPr>
            <a:r>
              <a:rPr sz="1100" dirty="0">
                <a:latin typeface="Times New Roman"/>
                <a:cs typeface="Times New Roman"/>
              </a:rPr>
              <a:t>M. </a:t>
            </a:r>
            <a:r>
              <a:rPr sz="1100" spc="-5" dirty="0">
                <a:latin typeface="Times New Roman"/>
                <a:cs typeface="Times New Roman"/>
              </a:rPr>
              <a:t>Sezgin,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B. Sankur, “Survey over image thresholding techniques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quantative performance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evaluation,”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Journal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Electronic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Imaging,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vol.13,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no.1,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pp.146–165, </a:t>
            </a:r>
            <a:r>
              <a:rPr sz="1100" spc="-5" dirty="0">
                <a:latin typeface="Times New Roman"/>
                <a:cs typeface="Times New Roman"/>
              </a:rPr>
              <a:t>2004.</a:t>
            </a:r>
            <a:endParaRPr sz="1100">
              <a:latin typeface="Times New Roman"/>
              <a:cs typeface="Times New Roman"/>
            </a:endParaRPr>
          </a:p>
          <a:p>
            <a:pPr marL="12700" marR="11430" indent="34925" algn="just">
              <a:lnSpc>
                <a:spcPct val="143600"/>
              </a:lnSpc>
              <a:spcBef>
                <a:spcPts val="1005"/>
              </a:spcBef>
              <a:buAutoNum type="arabicPlain" startAt="21"/>
              <a:tabLst>
                <a:tab pos="332740" algn="l"/>
              </a:tabLst>
            </a:pPr>
            <a:r>
              <a:rPr sz="1100" spc="-5" dirty="0">
                <a:latin typeface="Times New Roman"/>
                <a:cs typeface="Times New Roman"/>
              </a:rPr>
              <a:t>G. </a:t>
            </a:r>
            <a:r>
              <a:rPr sz="1100" dirty="0">
                <a:latin typeface="Times New Roman"/>
                <a:cs typeface="Times New Roman"/>
              </a:rPr>
              <a:t>P. </a:t>
            </a:r>
            <a:r>
              <a:rPr sz="1100" spc="-5" dirty="0">
                <a:latin typeface="Times New Roman"/>
                <a:cs typeface="Times New Roman"/>
              </a:rPr>
              <a:t>Balasubramanian, </a:t>
            </a:r>
            <a:r>
              <a:rPr sz="1100" dirty="0">
                <a:latin typeface="Times New Roman"/>
                <a:cs typeface="Times New Roman"/>
              </a:rPr>
              <a:t>E. </a:t>
            </a:r>
            <a:r>
              <a:rPr sz="1100" spc="-5" dirty="0">
                <a:latin typeface="Times New Roman"/>
                <a:cs typeface="Times New Roman"/>
              </a:rPr>
              <a:t>Saber, </a:t>
            </a:r>
            <a:r>
              <a:rPr sz="1100" dirty="0">
                <a:latin typeface="Times New Roman"/>
                <a:cs typeface="Times New Roman"/>
              </a:rPr>
              <a:t>V. Misic, E. Peskin, </a:t>
            </a:r>
            <a:r>
              <a:rPr sz="1100" spc="-5" dirty="0">
                <a:latin typeface="Times New Roman"/>
                <a:cs typeface="Times New Roman"/>
              </a:rPr>
              <a:t>and M. Shaw, “Unsupervised color image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segmentation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using</a:t>
            </a:r>
            <a:r>
              <a:rPr sz="1100" dirty="0">
                <a:latin typeface="Times New Roman"/>
                <a:cs typeface="Times New Roman"/>
              </a:rPr>
              <a:t> 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dynamic</a:t>
            </a:r>
            <a:r>
              <a:rPr sz="1100" spc="-5" dirty="0">
                <a:latin typeface="Times New Roman"/>
                <a:cs typeface="Times New Roman"/>
              </a:rPr>
              <a:t> color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gradient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thresholding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algorithm,”</a:t>
            </a:r>
            <a:r>
              <a:rPr sz="1100" dirty="0">
                <a:latin typeface="Times New Roman"/>
                <a:cs typeface="Times New Roman"/>
              </a:rPr>
              <a:t> 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Proc.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SPIE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Human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Vis.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Electron.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Imag.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XIII,</a:t>
            </a:r>
            <a:r>
              <a:rPr sz="1100" dirty="0">
                <a:latin typeface="Times New Roman"/>
                <a:cs typeface="Times New Roman"/>
              </a:rPr>
              <a:t> pp. 680 </a:t>
            </a:r>
            <a:r>
              <a:rPr sz="1100" spc="-5" dirty="0">
                <a:latin typeface="Times New Roman"/>
                <a:cs typeface="Times New Roman"/>
              </a:rPr>
              <a:t>61H-1–680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61H-9,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Feb. 2008.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300" y="629918"/>
            <a:ext cx="7727054" cy="1116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43700"/>
              </a:lnSpc>
              <a:spcBef>
                <a:spcPts val="100"/>
              </a:spcBef>
              <a:buAutoNum type="arabicPlain" startAt="23"/>
              <a:tabLst>
                <a:tab pos="282575" algn="l"/>
              </a:tabLst>
            </a:pPr>
            <a:r>
              <a:rPr sz="1100" spc="5" dirty="0">
                <a:latin typeface="Times New Roman"/>
                <a:cs typeface="Times New Roman"/>
              </a:rPr>
              <a:t>J. </a:t>
            </a:r>
            <a:r>
              <a:rPr sz="1100" spc="-5" dirty="0">
                <a:latin typeface="Times New Roman"/>
                <a:cs typeface="Times New Roman"/>
              </a:rPr>
              <a:t>H. Yoo, D. Hwang, </a:t>
            </a:r>
            <a:r>
              <a:rPr sz="1100" dirty="0">
                <a:latin typeface="Times New Roman"/>
                <a:cs typeface="Times New Roman"/>
              </a:rPr>
              <a:t>and K. </a:t>
            </a:r>
            <a:r>
              <a:rPr sz="1100" spc="-5" dirty="0">
                <a:latin typeface="Times New Roman"/>
                <a:cs typeface="Times New Roman"/>
              </a:rPr>
              <a:t>Y. </a:t>
            </a:r>
            <a:r>
              <a:rPr sz="1100" dirty="0">
                <a:latin typeface="Times New Roman"/>
                <a:cs typeface="Times New Roman"/>
              </a:rPr>
              <a:t>Moon, </a:t>
            </a:r>
            <a:r>
              <a:rPr sz="1100" spc="-5" dirty="0">
                <a:latin typeface="Times New Roman"/>
                <a:cs typeface="Times New Roman"/>
              </a:rPr>
              <a:t>"Human </a:t>
            </a:r>
            <a:r>
              <a:rPr sz="1100" dirty="0">
                <a:latin typeface="Times New Roman"/>
                <a:cs typeface="Times New Roman"/>
              </a:rPr>
              <a:t>body segmentation </a:t>
            </a:r>
            <a:r>
              <a:rPr sz="1100" spc="-5" dirty="0">
                <a:latin typeface="Times New Roman"/>
                <a:cs typeface="Times New Roman"/>
              </a:rPr>
              <a:t>based </a:t>
            </a:r>
            <a:r>
              <a:rPr sz="1100" spc="-1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background estimation </a:t>
            </a:r>
            <a:r>
              <a:rPr sz="1100" dirty="0">
                <a:latin typeface="Times New Roman"/>
                <a:cs typeface="Times New Roman"/>
              </a:rPr>
              <a:t> in </a:t>
            </a:r>
            <a:r>
              <a:rPr sz="1100" spc="-5" dirty="0">
                <a:latin typeface="Times New Roman"/>
                <a:cs typeface="Times New Roman"/>
              </a:rPr>
              <a:t>modified HLS color </a:t>
            </a:r>
            <a:r>
              <a:rPr sz="1100" dirty="0">
                <a:latin typeface="Times New Roman"/>
                <a:cs typeface="Times New Roman"/>
              </a:rPr>
              <a:t>space," in </a:t>
            </a:r>
            <a:r>
              <a:rPr sz="1100" spc="-5" dirty="0">
                <a:latin typeface="Times New Roman"/>
                <a:cs typeface="Times New Roman"/>
              </a:rPr>
              <a:t>Proc. </a:t>
            </a:r>
            <a:r>
              <a:rPr sz="1100" dirty="0">
                <a:latin typeface="Times New Roman"/>
                <a:cs typeface="Times New Roman"/>
              </a:rPr>
              <a:t>9th WSEAS </a:t>
            </a:r>
            <a:r>
              <a:rPr sz="1100" spc="-5" dirty="0">
                <a:latin typeface="Times New Roman"/>
                <a:cs typeface="Times New Roman"/>
              </a:rPr>
              <a:t>international conference </a:t>
            </a:r>
            <a:r>
              <a:rPr sz="1100" dirty="0">
                <a:latin typeface="Times New Roman"/>
                <a:cs typeface="Times New Roman"/>
              </a:rPr>
              <a:t>on signal, speech and </a:t>
            </a:r>
            <a:r>
              <a:rPr sz="1100" spc="-5" dirty="0">
                <a:latin typeface="Times New Roman"/>
                <a:cs typeface="Times New Roman"/>
              </a:rPr>
              <a:t>image 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processing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(SSIP'09),</a:t>
            </a:r>
            <a:r>
              <a:rPr sz="1100" dirty="0">
                <a:latin typeface="Times New Roman"/>
                <a:cs typeface="Times New Roman"/>
              </a:rPr>
              <a:t> pp. </a:t>
            </a:r>
            <a:r>
              <a:rPr sz="1100" spc="-5" dirty="0">
                <a:latin typeface="Times New Roman"/>
                <a:cs typeface="Times New Roman"/>
              </a:rPr>
              <a:t>152-155,</a:t>
            </a:r>
            <a:r>
              <a:rPr sz="1100" dirty="0">
                <a:latin typeface="Times New Roman"/>
                <a:cs typeface="Times New Roman"/>
              </a:rPr>
              <a:t> 2009.</a:t>
            </a: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005"/>
              </a:spcBef>
              <a:buAutoNum type="arabicPlain" startAt="23"/>
              <a:tabLst>
                <a:tab pos="316230" algn="l"/>
              </a:tabLst>
            </a:pPr>
            <a:r>
              <a:rPr sz="1100" spc="-10" dirty="0">
                <a:latin typeface="Times New Roman"/>
                <a:cs typeface="Times New Roman"/>
              </a:rPr>
              <a:t>Z.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Liu,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S.</a:t>
            </a:r>
            <a:r>
              <a:rPr sz="1100" spc="-5" dirty="0">
                <a:latin typeface="Times New Roman"/>
                <a:cs typeface="Times New Roman"/>
              </a:rPr>
              <a:t> Wang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and</a:t>
            </a:r>
            <a:r>
              <a:rPr sz="1100" dirty="0">
                <a:latin typeface="Times New Roman"/>
                <a:cs typeface="Times New Roman"/>
              </a:rPr>
              <a:t> X.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Ding,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"ROI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perspective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transform</a:t>
            </a:r>
            <a:r>
              <a:rPr sz="1100" dirty="0">
                <a:latin typeface="Times New Roman"/>
                <a:cs typeface="Times New Roman"/>
              </a:rPr>
              <a:t> based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road</a:t>
            </a:r>
            <a:r>
              <a:rPr sz="1100" dirty="0">
                <a:latin typeface="Times New Roman"/>
                <a:cs typeface="Times New Roman"/>
              </a:rPr>
              <a:t> marking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and </a:t>
            </a:r>
            <a:r>
              <a:rPr sz="1100" spc="-260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recognition," in </a:t>
            </a:r>
            <a:r>
              <a:rPr sz="1100" dirty="0">
                <a:latin typeface="Times New Roman"/>
                <a:cs typeface="Times New Roman"/>
              </a:rPr>
              <a:t>Proc. </a:t>
            </a:r>
            <a:r>
              <a:rPr sz="1100" spc="-5" dirty="0">
                <a:latin typeface="Times New Roman"/>
                <a:cs typeface="Times New Roman"/>
              </a:rPr>
              <a:t>International Conference </a:t>
            </a:r>
            <a:r>
              <a:rPr sz="1100" dirty="0">
                <a:latin typeface="Times New Roman"/>
                <a:cs typeface="Times New Roman"/>
              </a:rPr>
              <a:t>on </a:t>
            </a:r>
            <a:r>
              <a:rPr sz="1100" spc="-5" dirty="0">
                <a:latin typeface="Times New Roman"/>
                <a:cs typeface="Times New Roman"/>
              </a:rPr>
              <a:t>Audio, Language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5" dirty="0">
                <a:latin typeface="Times New Roman"/>
                <a:cs typeface="Times New Roman"/>
              </a:rPr>
              <a:t>Image Processing, </a:t>
            </a:r>
            <a:r>
              <a:rPr sz="1100" dirty="0">
                <a:latin typeface="Times New Roman"/>
                <a:cs typeface="Times New Roman"/>
              </a:rPr>
              <a:t>Shanghai, pp. 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841-846, </a:t>
            </a:r>
            <a:r>
              <a:rPr sz="1100" dirty="0">
                <a:latin typeface="Times New Roman"/>
                <a:cs typeface="Times New Roman"/>
              </a:rPr>
              <a:t>2012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460</TotalTime>
  <Words>8177</Words>
  <Application>Microsoft Office PowerPoint</Application>
  <PresentationFormat>Custom</PresentationFormat>
  <Paragraphs>608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vertilink</dc:creator>
  <cp:lastModifiedBy>DELL</cp:lastModifiedBy>
  <cp:revision>24</cp:revision>
  <dcterms:created xsi:type="dcterms:W3CDTF">2022-09-17T09:56:15Z</dcterms:created>
  <dcterms:modified xsi:type="dcterms:W3CDTF">2024-06-21T13:21:24Z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2022-09-17T00:00:00Z</vt:filetime>
  </property>
  <property fmtid="{D5CDD505-2E9C-101B-9397-08002B2CF9AE}" pid="3" name="Creator">
    <vt:lpwstr>Microsoft® Office Word 2007</vt:lpwstr>
  </property>
  <property fmtid="{D5CDD505-2E9C-101B-9397-08002B2CF9AE}" pid="4" name="LastSaved">
    <vt:filetime>2022-09-17T00:00:00Z</vt:filetime>
  </property>
</Properties>
</file>